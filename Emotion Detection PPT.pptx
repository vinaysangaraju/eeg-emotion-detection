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1479" r:id="rId2"/>
    <p:sldId id="1330" r:id="rId3"/>
    <p:sldId id="1331" r:id="rId4"/>
    <p:sldId id="1448" r:id="rId5"/>
    <p:sldId id="1482" r:id="rId6"/>
    <p:sldId id="1453" r:id="rId7"/>
    <p:sldId id="1454" r:id="rId8"/>
    <p:sldId id="1480" r:id="rId9"/>
    <p:sldId id="1485" r:id="rId10"/>
    <p:sldId id="1510" r:id="rId11"/>
    <p:sldId id="1481" r:id="rId12"/>
    <p:sldId id="1455" r:id="rId13"/>
    <p:sldId id="1483" r:id="rId14"/>
    <p:sldId id="265" r:id="rId15"/>
    <p:sldId id="1484" r:id="rId16"/>
    <p:sldId id="1487" r:id="rId17"/>
    <p:sldId id="1456" r:id="rId18"/>
    <p:sldId id="1486" r:id="rId19"/>
    <p:sldId id="1491" r:id="rId20"/>
    <p:sldId id="1509" r:id="rId21"/>
    <p:sldId id="1489" r:id="rId22"/>
    <p:sldId id="1496" r:id="rId23"/>
    <p:sldId id="1502" r:id="rId24"/>
    <p:sldId id="1503" r:id="rId25"/>
    <p:sldId id="1504" r:id="rId26"/>
    <p:sldId id="1497" r:id="rId27"/>
    <p:sldId id="1498" r:id="rId28"/>
    <p:sldId id="1499" r:id="rId29"/>
    <p:sldId id="1500" r:id="rId30"/>
    <p:sldId id="1501" r:id="rId31"/>
    <p:sldId id="1505" r:id="rId32"/>
    <p:sldId id="1506" r:id="rId33"/>
    <p:sldId id="1507" r:id="rId34"/>
    <p:sldId id="1508" r:id="rId35"/>
    <p:sldId id="1469" r:id="rId36"/>
    <p:sldId id="1433" r:id="rId37"/>
  </p:sldIdLst>
  <p:sldSz cx="9144000" cy="6858000" type="screen4x3"/>
  <p:notesSz cx="9144000" cy="6858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521415D9-36F7-43E2-AB2F-B90AF26B5E84}">
      <p14:sectionLst xmlns:p14="http://schemas.microsoft.com/office/powerpoint/2010/main">
        <p14:section name="Default Section" id="{4B9A94C6-D8BE-4444-9A92-2563BEFC04EE}">
          <p14:sldIdLst>
            <p14:sldId id="1479"/>
            <p14:sldId id="1330"/>
            <p14:sldId id="1331"/>
            <p14:sldId id="1448"/>
          </p14:sldIdLst>
        </p14:section>
        <p14:section name="Untitled Section" id="{ED35CBD4-BF69-4CB9-B303-2E7945FAD3FF}">
          <p14:sldIdLst>
            <p14:sldId id="1482"/>
            <p14:sldId id="1453"/>
            <p14:sldId id="1454"/>
            <p14:sldId id="1480"/>
            <p14:sldId id="1485"/>
            <p14:sldId id="1510"/>
            <p14:sldId id="1481"/>
            <p14:sldId id="1455"/>
            <p14:sldId id="1483"/>
            <p14:sldId id="265"/>
            <p14:sldId id="1484"/>
            <p14:sldId id="1487"/>
            <p14:sldId id="1456"/>
            <p14:sldId id="1486"/>
            <p14:sldId id="1491"/>
            <p14:sldId id="1509"/>
            <p14:sldId id="1489"/>
            <p14:sldId id="1496"/>
            <p14:sldId id="1502"/>
            <p14:sldId id="1503"/>
            <p14:sldId id="1504"/>
            <p14:sldId id="1497"/>
            <p14:sldId id="1498"/>
            <p14:sldId id="1499"/>
            <p14:sldId id="1500"/>
            <p14:sldId id="1501"/>
            <p14:sldId id="1505"/>
            <p14:sldId id="1506"/>
            <p14:sldId id="1507"/>
            <p14:sldId id="1508"/>
            <p14:sldId id="1469"/>
            <p14:sldId id="143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463B"/>
    <a:srgbClr val="E3473B"/>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684BF8-82A5-4FFD-8A8D-8D172BE8FA4E}" v="23" dt="2026-03-31T03:47:16.3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91" autoAdjust="0"/>
    <p:restoredTop sz="94598" autoAdjust="0"/>
  </p:normalViewPr>
  <p:slideViewPr>
    <p:cSldViewPr snapToGrid="0">
      <p:cViewPr varScale="1">
        <p:scale>
          <a:sx n="82" d="100"/>
          <a:sy n="82" d="100"/>
        </p:scale>
        <p:origin x="806" y="72"/>
      </p:cViewPr>
      <p:guideLst>
        <p:guide orient="horz" pos="2160"/>
        <p:guide pos="2880"/>
      </p:guideLst>
    </p:cSldViewPr>
  </p:slideViewPr>
  <p:notesTextViewPr>
    <p:cViewPr>
      <p:scale>
        <a:sx n="1" d="1"/>
        <a:sy n="1" d="1"/>
      </p:scale>
      <p:origin x="0" y="0"/>
    </p:cViewPr>
  </p:notesTextViewPr>
  <p:sorterViewPr>
    <p:cViewPr>
      <p:scale>
        <a:sx n="100" d="100"/>
        <a:sy n="100" d="100"/>
      </p:scale>
      <p:origin x="0" y="-835"/>
    </p:cViewPr>
  </p:sorterViewPr>
  <p:notesViewPr>
    <p:cSldViewPr snapToGrid="0">
      <p:cViewPr varScale="1">
        <p:scale>
          <a:sx n="63" d="100"/>
          <a:sy n="63" d="100"/>
        </p:scale>
        <p:origin x="3134"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6124D8-3061-AA32-CF71-F3F12BCCEB3C}"/>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FB50869C-B5D5-DF3C-D5A1-9AEE02E6CC86}"/>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7A0270D2-462A-448D-8939-3809E96543F6}" type="datetimeFigureOut">
              <a:rPr lang="en-IN"/>
              <a:pPr>
                <a:defRPr/>
              </a:pPr>
              <a:t>31-03-2026</a:t>
            </a:fld>
            <a:endParaRPr lang="en-IN"/>
          </a:p>
        </p:txBody>
      </p:sp>
      <p:sp>
        <p:nvSpPr>
          <p:cNvPr id="4" name="Footer Placeholder 3">
            <a:extLst>
              <a:ext uri="{FF2B5EF4-FFF2-40B4-BE49-F238E27FC236}">
                <a16:creationId xmlns:a16="http://schemas.microsoft.com/office/drawing/2014/main" id="{22CEB267-1CB8-AB53-ECBC-32ADBE469BF4}"/>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5" name="Slide Number Placeholder 4">
            <a:extLst>
              <a:ext uri="{FF2B5EF4-FFF2-40B4-BE49-F238E27FC236}">
                <a16:creationId xmlns:a16="http://schemas.microsoft.com/office/drawing/2014/main" id="{B8B5043A-B98B-479B-2ADA-BF7E76A4C20C}"/>
              </a:ext>
            </a:extLst>
          </p:cNvPr>
          <p:cNvSpPr>
            <a:spLocks noGrp="1"/>
          </p:cNvSpPr>
          <p:nvPr>
            <p:ph type="sldNum" sz="quarter" idx="3"/>
          </p:nvPr>
        </p:nvSpPr>
        <p:spPr>
          <a:xfrm>
            <a:off x="5180013" y="6513513"/>
            <a:ext cx="3962400" cy="3444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24CEE1F-F4BE-4F61-8595-D36493B3EEEA}" type="slidenum">
              <a:rPr lang="en-IN" altLang="en-US"/>
              <a:pPr>
                <a:defRPr/>
              </a:pPr>
              <a:t>‹#›</a:t>
            </a:fld>
            <a:endParaRPr lang="en-I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5146BC-6A01-309F-EA0A-D14A82C8ECB6}"/>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8041DBB1-3548-93F7-1A33-EAE6655A024E}"/>
              </a:ext>
            </a:extLst>
          </p:cNvPr>
          <p:cNvSpPr>
            <a:spLocks noGrp="1"/>
          </p:cNvSpPr>
          <p:nvPr>
            <p:ph type="dt" idx="1"/>
          </p:nvPr>
        </p:nvSpPr>
        <p:spPr>
          <a:xfrm>
            <a:off x="5180013" y="0"/>
            <a:ext cx="3962400" cy="3444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E1523946-8A5F-45CD-AC1D-8CF9251BF7B3}" type="datetimeFigureOut">
              <a:rPr lang="en-US"/>
              <a:pPr>
                <a:defRPr/>
              </a:pPr>
              <a:t>3/31/2026</a:t>
            </a:fld>
            <a:endParaRPr lang="en-US"/>
          </a:p>
        </p:txBody>
      </p:sp>
      <p:sp>
        <p:nvSpPr>
          <p:cNvPr id="4" name="Slide Image Placeholder 3">
            <a:extLst>
              <a:ext uri="{FF2B5EF4-FFF2-40B4-BE49-F238E27FC236}">
                <a16:creationId xmlns:a16="http://schemas.microsoft.com/office/drawing/2014/main" id="{E9188CC5-5AC3-719E-8A81-5168A8A32636}"/>
              </a:ext>
            </a:extLst>
          </p:cNvPr>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EC87F7A-8BFD-CDB2-C93A-42FD1A04C4CB}"/>
              </a:ext>
            </a:extLst>
          </p:cNvPr>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6BB8767-BE8F-95FB-A2EB-3CB28FFF67EF}"/>
              </a:ext>
            </a:extLst>
          </p:cNvPr>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83B2C22D-4490-64B7-CBBD-C4C6C9922F86}"/>
              </a:ext>
            </a:extLst>
          </p:cNvPr>
          <p:cNvSpPr>
            <a:spLocks noGrp="1"/>
          </p:cNvSpPr>
          <p:nvPr>
            <p:ph type="sldNum" sz="quarter" idx="5"/>
          </p:nvPr>
        </p:nvSpPr>
        <p:spPr>
          <a:xfrm>
            <a:off x="5180013" y="6513513"/>
            <a:ext cx="3962400" cy="3444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FBD04ED-78AF-49F6-B104-A6EF75B2344A}" type="slidenum">
              <a:rPr lang="en-US" altLang="en-US"/>
              <a:pPr>
                <a:defRPr/>
              </a:pPr>
              <a:t>‹#›</a:t>
            </a:fld>
            <a:endParaRPr lang="en-US" altLang="en-US"/>
          </a:p>
        </p:txBody>
      </p:sp>
    </p:spTree>
    <p:extLst>
      <p:ext uri="{BB962C8B-B14F-4D97-AF65-F5344CB8AC3E}">
        <p14:creationId xmlns:p14="http://schemas.microsoft.com/office/powerpoint/2010/main" val="3613779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5E46AEEB-3BB0-316B-62FB-14C4E2D2951C}"/>
              </a:ext>
            </a:extLst>
          </p:cNvPr>
          <p:cNvSpPr/>
          <p:nvPr userDrawn="1"/>
        </p:nvSpPr>
        <p:spPr>
          <a:xfrm rot="10800000">
            <a:off x="1916113" y="0"/>
            <a:ext cx="7227887"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L-Shape 2">
            <a:extLst>
              <a:ext uri="{FF2B5EF4-FFF2-40B4-BE49-F238E27FC236}">
                <a16:creationId xmlns:a16="http://schemas.microsoft.com/office/drawing/2014/main" id="{438CAABD-528C-2275-21EE-FAFF1663E2E5}"/>
              </a:ext>
            </a:extLst>
          </p:cNvPr>
          <p:cNvSpPr/>
          <p:nvPr userDrawn="1"/>
        </p:nvSpPr>
        <p:spPr>
          <a:xfrm>
            <a:off x="0" y="1682750"/>
            <a:ext cx="7227888"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TextBox 16">
            <a:extLst>
              <a:ext uri="{FF2B5EF4-FFF2-40B4-BE49-F238E27FC236}">
                <a16:creationId xmlns:a16="http://schemas.microsoft.com/office/drawing/2014/main" id="{F3783C06-C29E-B35F-F29C-1A11C53ED523}"/>
              </a:ext>
            </a:extLst>
          </p:cNvPr>
          <p:cNvSpPr txBox="1">
            <a:spLocks noChangeArrowheads="1"/>
          </p:cNvSpPr>
          <p:nvPr userDrawn="1"/>
        </p:nvSpPr>
        <p:spPr bwMode="auto">
          <a:xfrm>
            <a:off x="7359650" y="6607175"/>
            <a:ext cx="1617663" cy="250825"/>
          </a:xfrm>
          <a:prstGeom prst="rect">
            <a:avLst/>
          </a:prstGeom>
          <a:no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ts val="600"/>
              </a:spcAft>
              <a:defRPr/>
            </a:pPr>
            <a:r>
              <a:rPr lang="en-US" altLang="en-US" sz="900" b="1">
                <a:solidFill>
                  <a:srgbClr val="7F7F7F"/>
                </a:solidFill>
                <a:latin typeface="Century Gothic" panose="020B0502020202020204" pitchFamily="34" charset="0"/>
                <a:cs typeface="Segoe UI" panose="020B0502040204020203" pitchFamily="34" charset="0"/>
              </a:rPr>
              <a:t>       Pg. </a:t>
            </a:r>
            <a:fld id="{203E30B6-66B3-4A0D-808E-20339BBF80C9}" type="slidenum">
              <a:rPr lang="en-US" altLang="en-US" sz="900" b="1" smtClean="0">
                <a:solidFill>
                  <a:srgbClr val="7F7F7F"/>
                </a:solidFill>
                <a:latin typeface="Century Gothic" panose="020B0502020202020204" pitchFamily="34" charset="0"/>
                <a:cs typeface="Segoe UI" panose="020B0502040204020203" pitchFamily="34" charset="0"/>
              </a:rPr>
              <a:pPr eaLnBrk="1" hangingPunct="1">
                <a:spcAft>
                  <a:spcPts val="600"/>
                </a:spcAft>
                <a:defRPr/>
              </a:pPr>
              <a:t>‹#›</a:t>
            </a:fld>
            <a:endParaRPr lang="en-US" altLang="en-US" sz="900" b="1">
              <a:solidFill>
                <a:srgbClr val="7F7F7F"/>
              </a:solidFill>
              <a:latin typeface="Century Gothic" panose="020B0502020202020204" pitchFamily="34" charset="0"/>
              <a:cs typeface="Segoe UI" panose="020B0502040204020203" pitchFamily="34" charset="0"/>
            </a:endParaRPr>
          </a:p>
        </p:txBody>
      </p:sp>
      <p:pic>
        <p:nvPicPr>
          <p:cNvPr id="5" name="Picture 17">
            <a:extLst>
              <a:ext uri="{FF2B5EF4-FFF2-40B4-BE49-F238E27FC236}">
                <a16:creationId xmlns:a16="http://schemas.microsoft.com/office/drawing/2014/main" id="{EB17D9AB-1940-8969-F5DF-FA563AF0A3B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713538" y="177800"/>
            <a:ext cx="227647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253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43586F-9D6B-69F1-4029-F0BD23778798}"/>
              </a:ext>
            </a:extLst>
          </p:cNvPr>
          <p:cNvSpPr/>
          <p:nvPr userDrawn="1"/>
        </p:nvSpPr>
        <p:spPr>
          <a:xfrm>
            <a:off x="190500" y="263525"/>
            <a:ext cx="8763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 name="Rectangle 2">
            <a:extLst>
              <a:ext uri="{FF2B5EF4-FFF2-40B4-BE49-F238E27FC236}">
                <a16:creationId xmlns:a16="http://schemas.microsoft.com/office/drawing/2014/main" id="{CF68D8D2-D0D4-0FF8-8133-E612140EC63B}"/>
              </a:ext>
            </a:extLst>
          </p:cNvPr>
          <p:cNvSpPr/>
          <p:nvPr userDrawn="1"/>
        </p:nvSpPr>
        <p:spPr bwMode="blackWhite">
          <a:xfrm>
            <a:off x="190500" y="263525"/>
            <a:ext cx="8763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4" name="L-Shape 3">
            <a:extLst>
              <a:ext uri="{FF2B5EF4-FFF2-40B4-BE49-F238E27FC236}">
                <a16:creationId xmlns:a16="http://schemas.microsoft.com/office/drawing/2014/main" id="{7D184CA4-73F5-CEE2-4609-CBCE0DF310B8}"/>
              </a:ext>
            </a:extLst>
          </p:cNvPr>
          <p:cNvSpPr/>
          <p:nvPr userDrawn="1"/>
        </p:nvSpPr>
        <p:spPr>
          <a:xfrm rot="10800000">
            <a:off x="1916113" y="0"/>
            <a:ext cx="7227887"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L-Shape 4">
            <a:extLst>
              <a:ext uri="{FF2B5EF4-FFF2-40B4-BE49-F238E27FC236}">
                <a16:creationId xmlns:a16="http://schemas.microsoft.com/office/drawing/2014/main" id="{85E24E15-D0B1-82FA-FA27-94F3D6C1F47E}"/>
              </a:ext>
            </a:extLst>
          </p:cNvPr>
          <p:cNvSpPr/>
          <p:nvPr userDrawn="1"/>
        </p:nvSpPr>
        <p:spPr>
          <a:xfrm>
            <a:off x="0" y="1682750"/>
            <a:ext cx="7227888"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TextBox 18">
            <a:extLst>
              <a:ext uri="{FF2B5EF4-FFF2-40B4-BE49-F238E27FC236}">
                <a16:creationId xmlns:a16="http://schemas.microsoft.com/office/drawing/2014/main" id="{0254C02F-CE5B-21F4-1890-37B3C9B9A6E5}"/>
              </a:ext>
            </a:extLst>
          </p:cNvPr>
          <p:cNvSpPr txBox="1">
            <a:spLocks noChangeArrowheads="1"/>
          </p:cNvSpPr>
          <p:nvPr userDrawn="1"/>
        </p:nvSpPr>
        <p:spPr bwMode="auto">
          <a:xfrm>
            <a:off x="7804150" y="6542088"/>
            <a:ext cx="781050" cy="230187"/>
          </a:xfrm>
          <a:prstGeom prst="rect">
            <a:avLst/>
          </a:prstGeom>
          <a:no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ts val="600"/>
              </a:spcAft>
              <a:defRPr/>
            </a:pPr>
            <a:r>
              <a:rPr lang="en-US" altLang="en-US" sz="900">
                <a:solidFill>
                  <a:srgbClr val="7F7F7F"/>
                </a:solidFill>
                <a:latin typeface="Century Gothic" panose="020B0502020202020204" pitchFamily="34" charset="0"/>
                <a:cs typeface="Segoe UI" panose="020B0502040204020203" pitchFamily="34" charset="0"/>
              </a:rPr>
              <a:t>Pg. </a:t>
            </a:r>
            <a:fld id="{736B9796-870B-415A-A2E9-685977666126}" type="slidenum">
              <a:rPr lang="en-US" altLang="en-US" sz="900" smtClean="0">
                <a:solidFill>
                  <a:srgbClr val="7F7F7F"/>
                </a:solidFill>
                <a:latin typeface="Century Gothic" panose="020B0502020202020204" pitchFamily="34" charset="0"/>
                <a:cs typeface="Segoe UI" panose="020B0502040204020203" pitchFamily="34" charset="0"/>
              </a:rPr>
              <a:pPr eaLnBrk="1" hangingPunct="1">
                <a:spcAft>
                  <a:spcPts val="600"/>
                </a:spcAft>
                <a:defRPr/>
              </a:pPr>
              <a:t>‹#›</a:t>
            </a:fld>
            <a:endParaRPr lang="en-US" altLang="en-US" sz="900">
              <a:solidFill>
                <a:srgbClr val="7F7F7F"/>
              </a:solidFill>
              <a:latin typeface="Century Gothic" panose="020B0502020202020204" pitchFamily="34" charset="0"/>
              <a:cs typeface="Segoe UI" panose="020B0502040204020203" pitchFamily="34" charset="0"/>
            </a:endParaRPr>
          </a:p>
        </p:txBody>
      </p:sp>
      <p:sp>
        <p:nvSpPr>
          <p:cNvPr id="7" name="Content Placeholder 6"/>
          <p:cNvSpPr>
            <a:spLocks noGrp="1"/>
          </p:cNvSpPr>
          <p:nvPr>
            <p:ph sz="quarter" idx="13"/>
          </p:nvPr>
        </p:nvSpPr>
        <p:spPr>
          <a:xfrm>
            <a:off x="404622" y="2560320"/>
            <a:ext cx="7084314" cy="3977640"/>
          </a:xfrm>
        </p:spPr>
        <p:txBody>
          <a:bodyPr rtlCol="0">
            <a:normAutofit/>
          </a:bodyPr>
          <a:lstStyle>
            <a:lvl1pPr>
              <a:defRPr lang="en-US" sz="1800" b="1" smtClean="0">
                <a:solidFill>
                  <a:schemeClr val="tx1">
                    <a:lumMod val="75000"/>
                    <a:lumOff val="25000"/>
                  </a:schemeClr>
                </a:solidFill>
                <a:latin typeface="+mj-lt"/>
              </a:defRPr>
            </a:lvl1pPr>
            <a:lvl2pPr>
              <a:defRPr lang="en-US" sz="14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100" dirty="0" smtClean="0">
                <a:solidFill>
                  <a:schemeClr val="tx1">
                    <a:lumMod val="75000"/>
                    <a:lumOff val="25000"/>
                  </a:schemeClr>
                </a:solidFill>
              </a:defRPr>
            </a:lvl4pPr>
            <a:lvl5pPr>
              <a:defRPr lang="en-US" sz="1000" dirty="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5515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3">
            <a:extLst>
              <a:ext uri="{FF2B5EF4-FFF2-40B4-BE49-F238E27FC236}">
                <a16:creationId xmlns:a16="http://schemas.microsoft.com/office/drawing/2014/main" id="{00A1A631-D3D8-9A93-BFB3-474339157036}"/>
              </a:ext>
            </a:extLst>
          </p:cNvPr>
          <p:cNvSpPr txBox="1">
            <a:spLocks noChangeArrowheads="1"/>
          </p:cNvSpPr>
          <p:nvPr userDrawn="1"/>
        </p:nvSpPr>
        <p:spPr bwMode="auto">
          <a:xfrm>
            <a:off x="6542088" y="6505575"/>
            <a:ext cx="0" cy="0"/>
          </a:xfrm>
          <a:prstGeom prst="rect">
            <a:avLst/>
          </a:prstGeom>
          <a:noFill/>
          <a:ln>
            <a:noFill/>
          </a:ln>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ts val="1800"/>
              </a:lnSpc>
              <a:spcAft>
                <a:spcPts val="600"/>
              </a:spcAft>
              <a:defRPr/>
            </a:pPr>
            <a:endParaRPr lang="en-US" altLang="en-US" sz="1200">
              <a:solidFill>
                <a:srgbClr val="404040"/>
              </a:solidFill>
              <a:latin typeface="Segoe UI" panose="020B0502040204020203" pitchFamily="34" charset="0"/>
              <a:cs typeface="Segoe UI" panose="020B0502040204020203" pitchFamily="34" charset="0"/>
            </a:endParaRPr>
          </a:p>
        </p:txBody>
      </p:sp>
      <p:sp>
        <p:nvSpPr>
          <p:cNvPr id="4" name="TextBox 15">
            <a:extLst>
              <a:ext uri="{FF2B5EF4-FFF2-40B4-BE49-F238E27FC236}">
                <a16:creationId xmlns:a16="http://schemas.microsoft.com/office/drawing/2014/main" id="{6B3AC5DB-642E-1976-87A3-4C8F020DAC2B}"/>
              </a:ext>
            </a:extLst>
          </p:cNvPr>
          <p:cNvSpPr txBox="1">
            <a:spLocks noChangeArrowheads="1"/>
          </p:cNvSpPr>
          <p:nvPr userDrawn="1"/>
        </p:nvSpPr>
        <p:spPr bwMode="auto">
          <a:xfrm>
            <a:off x="8312150" y="433388"/>
            <a:ext cx="0" cy="0"/>
          </a:xfrm>
          <a:prstGeom prst="rect">
            <a:avLst/>
          </a:prstGeom>
          <a:noFill/>
          <a:ln>
            <a:noFill/>
          </a:ln>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ts val="1800"/>
              </a:lnSpc>
              <a:spcAft>
                <a:spcPts val="600"/>
              </a:spcAft>
              <a:defRPr/>
            </a:pPr>
            <a:endParaRPr lang="en-US" altLang="en-US" sz="1200">
              <a:solidFill>
                <a:srgbClr val="404040"/>
              </a:solidFill>
              <a:latin typeface="Segoe UI" panose="020B0502040204020203" pitchFamily="34" charset="0"/>
              <a:cs typeface="Segoe UI" panose="020B0502040204020203" pitchFamily="34" charset="0"/>
            </a:endParaRPr>
          </a:p>
        </p:txBody>
      </p:sp>
      <p:sp>
        <p:nvSpPr>
          <p:cNvPr id="3" name="Content Placeholder 2"/>
          <p:cNvSpPr>
            <a:spLocks noGrp="1"/>
          </p:cNvSpPr>
          <p:nvPr>
            <p:ph idx="1"/>
          </p:nvPr>
        </p:nvSpPr>
        <p:spPr>
          <a:xfrm>
            <a:off x="453325" y="1604211"/>
            <a:ext cx="8237348" cy="4572752"/>
          </a:xfrm>
        </p:spPr>
        <p:txBody>
          <a:bodyPr>
            <a:normAutofit/>
          </a:bodyPr>
          <a:lstStyle>
            <a:lvl1pPr marL="0" indent="0">
              <a:spcAft>
                <a:spcPts val="900"/>
              </a:spcAft>
              <a:buSzPct val="25000"/>
              <a:buFont typeface="Segoe UI" panose="020B0502040204020203" pitchFamily="34" charset="0"/>
              <a:buChar char=" "/>
              <a:defRPr sz="1800"/>
            </a:lvl1pPr>
            <a:lvl2pPr marL="300990" indent="5715">
              <a:spcBef>
                <a:spcPts val="450"/>
              </a:spcBef>
              <a:spcAft>
                <a:spcPts val="900"/>
              </a:spcAft>
              <a:buFont typeface="Segoe UI" panose="020B0502040204020203" pitchFamily="34" charset="0"/>
              <a:buChar char=" "/>
              <a:defRPr sz="16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dirty="0"/>
              <a:t>Click to edit Master text styles</a:t>
            </a:r>
          </a:p>
          <a:p>
            <a:pPr lvl="1"/>
            <a:r>
              <a:rPr lang="en-US" dirty="0"/>
              <a:t>Second level</a:t>
            </a:r>
          </a:p>
        </p:txBody>
      </p:sp>
      <p:sp>
        <p:nvSpPr>
          <p:cNvPr id="6"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3679278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3325" y="1604211"/>
            <a:ext cx="8237348" cy="4572752"/>
          </a:xfrm>
        </p:spPr>
        <p:txBody>
          <a:bodyPr/>
          <a:lstStyle>
            <a:lvl1pPr marL="0" indent="0">
              <a:spcAft>
                <a:spcPts val="900"/>
              </a:spcAft>
              <a:buSzPct val="25000"/>
              <a:buFont typeface="Segoe UI" panose="020B0502040204020203" pitchFamily="34" charset="0"/>
              <a:buChar char=" "/>
              <a:defRPr sz="1800"/>
            </a:lvl1pPr>
            <a:lvl2pPr marL="300990" indent="5715">
              <a:spcBef>
                <a:spcPts val="450"/>
              </a:spcBef>
              <a:spcAft>
                <a:spcPts val="900"/>
              </a:spcAft>
              <a:buFont typeface="Segoe UI" panose="020B0502040204020203" pitchFamily="34" charset="0"/>
              <a:buChar char=" "/>
              <a:defRPr sz="14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dirty="0"/>
              <a:t>Click to edit Master text styles</a:t>
            </a:r>
          </a:p>
          <a:p>
            <a:pPr lvl="1"/>
            <a:r>
              <a:rPr lang="en-US" dirty="0"/>
              <a:t>Second level</a:t>
            </a:r>
          </a:p>
        </p:txBody>
      </p:sp>
      <p:sp>
        <p:nvSpPr>
          <p:cNvPr id="5"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3807193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2"/>
          <p:cNvSpPr>
            <a:spLocks noGrp="1"/>
          </p:cNvSpPr>
          <p:nvPr>
            <p:ph idx="1"/>
          </p:nvPr>
        </p:nvSpPr>
        <p:spPr>
          <a:xfrm>
            <a:off x="818146" y="1507068"/>
            <a:ext cx="3541418" cy="4669896"/>
          </a:xfrm>
        </p:spPr>
        <p:txBody>
          <a:bodyPr anchor="ctr">
            <a:normAutofit/>
          </a:bodyPr>
          <a:lstStyle>
            <a:lvl1pPr marL="0" indent="0" algn="l">
              <a:lnSpc>
                <a:spcPct val="150000"/>
              </a:lnSpc>
              <a:spcAft>
                <a:spcPts val="900"/>
              </a:spcAft>
              <a:buSzPct val="25000"/>
              <a:buFont typeface="Segoe UI" panose="020B0502040204020203" pitchFamily="34" charset="0"/>
              <a:buChar char=" "/>
              <a:defRPr sz="1200"/>
            </a:lvl1pPr>
            <a:lvl2pPr marL="300990" indent="5715" algn="l">
              <a:spcBef>
                <a:spcPts val="450"/>
              </a:spcBef>
              <a:spcAft>
                <a:spcPts val="900"/>
              </a:spcAft>
              <a:buFont typeface="Segoe UI" panose="020B0502040204020203" pitchFamily="34" charset="0"/>
              <a:buChar char=" "/>
              <a:defRPr sz="12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p:cNvSpPr>
            <a:spLocks noGrp="1"/>
          </p:cNvSpPr>
          <p:nvPr>
            <p:ph idx="13"/>
          </p:nvPr>
        </p:nvSpPr>
        <p:spPr>
          <a:xfrm>
            <a:off x="4987636" y="1507068"/>
            <a:ext cx="3666946" cy="4669896"/>
          </a:xfrm>
        </p:spPr>
        <p:txBody>
          <a:bodyPr anchor="ctr">
            <a:normAutofit/>
          </a:bodyPr>
          <a:lstStyle>
            <a:lvl1pPr marL="0" indent="0">
              <a:spcAft>
                <a:spcPts val="900"/>
              </a:spcAft>
              <a:buSzPct val="25000"/>
              <a:buFont typeface="Segoe UI" panose="020B0502040204020203" pitchFamily="34" charset="0"/>
              <a:buChar char=" "/>
              <a:defRPr sz="1200"/>
            </a:lvl1pPr>
            <a:lvl2pPr marL="300990" indent="5715">
              <a:spcBef>
                <a:spcPts val="450"/>
              </a:spcBef>
              <a:spcAft>
                <a:spcPts val="900"/>
              </a:spcAft>
              <a:buFont typeface="Segoe UI" panose="020B0502040204020203" pitchFamily="34" charset="0"/>
              <a:buChar char=" "/>
              <a:defRPr sz="12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5"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108076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1376995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542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71600"/>
            <a:ext cx="4152900" cy="5105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10100" y="1371600"/>
            <a:ext cx="4152900" cy="5105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3893928107"/>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9FD2F626-E68C-9672-EB00-FA90DC200879}"/>
              </a:ext>
            </a:extLst>
          </p:cNvPr>
          <p:cNvSpPr>
            <a:spLocks noGrp="1"/>
          </p:cNvSpPr>
          <p:nvPr>
            <p:ph type="dt" sz="half" idx="10"/>
          </p:nvPr>
        </p:nvSpPr>
        <p:spPr>
          <a:xfrm>
            <a:off x="0" y="0"/>
            <a:ext cx="0" cy="0"/>
          </a:xfrm>
        </p:spPr>
        <p:txBody>
          <a:bodyPr/>
          <a:lstStyle>
            <a:lvl1pPr>
              <a:defRPr/>
            </a:lvl1pPr>
          </a:lstStyle>
          <a:p>
            <a:pPr>
              <a:defRPr/>
            </a:pPr>
            <a:fld id="{057DF12E-4021-4118-B56C-961E0C073E99}" type="datetime1">
              <a:rPr lang="en-US"/>
              <a:pPr>
                <a:defRPr/>
              </a:pPr>
              <a:t>3/31/2026</a:t>
            </a:fld>
            <a:endParaRPr lang="en-US" dirty="0"/>
          </a:p>
        </p:txBody>
      </p:sp>
      <p:sp>
        <p:nvSpPr>
          <p:cNvPr id="5" name="Footer Placeholder 4">
            <a:extLst>
              <a:ext uri="{FF2B5EF4-FFF2-40B4-BE49-F238E27FC236}">
                <a16:creationId xmlns:a16="http://schemas.microsoft.com/office/drawing/2014/main" id="{54CE2937-4761-3B9F-9AEA-87BF87DAF5DA}"/>
              </a:ext>
            </a:extLst>
          </p:cNvPr>
          <p:cNvSpPr>
            <a:spLocks noGrp="1"/>
          </p:cNvSpPr>
          <p:nvPr>
            <p:ph type="ftr" sz="quarter" idx="11"/>
          </p:nvPr>
        </p:nvSpPr>
        <p:spPr>
          <a:xfrm>
            <a:off x="0" y="0"/>
            <a:ext cx="0" cy="0"/>
          </a:xfr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B25D5BA-AC76-F84D-610D-44A777E3860F}"/>
              </a:ext>
            </a:extLst>
          </p:cNvPr>
          <p:cNvSpPr>
            <a:spLocks noGrp="1"/>
          </p:cNvSpPr>
          <p:nvPr>
            <p:ph type="sldNum" sz="quarter" idx="12"/>
          </p:nvPr>
        </p:nvSpPr>
        <p:spPr>
          <a:xfrm>
            <a:off x="0" y="0"/>
            <a:ext cx="0" cy="0"/>
          </a:xfrm>
        </p:spPr>
        <p:txBody>
          <a:bodyPr/>
          <a:lstStyle>
            <a:lvl1pPr>
              <a:defRPr/>
            </a:lvl1pPr>
          </a:lstStyle>
          <a:p>
            <a:pPr>
              <a:defRPr/>
            </a:pPr>
            <a:fld id="{5449E4C7-A54F-4C32-ABB4-27AC7D83CA6A}" type="slidenum">
              <a:rPr lang="en-US"/>
              <a:pPr>
                <a:defRPr/>
              </a:pPr>
              <a:t>‹#›</a:t>
            </a:fld>
            <a:endParaRPr lang="en-US" dirty="0"/>
          </a:p>
        </p:txBody>
      </p:sp>
    </p:spTree>
    <p:extLst>
      <p:ext uri="{BB962C8B-B14F-4D97-AF65-F5344CB8AC3E}">
        <p14:creationId xmlns:p14="http://schemas.microsoft.com/office/powerpoint/2010/main" val="1230679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E3F4AB6-29B8-027E-22C2-E1667A4D03E3}"/>
              </a:ext>
            </a:extLst>
          </p:cNvPr>
          <p:cNvSpPr>
            <a:spLocks noGrp="1" noChangeArrowheads="1"/>
          </p:cNvSpPr>
          <p:nvPr>
            <p:ph type="title"/>
          </p:nvPr>
        </p:nvSpPr>
        <p:spPr bwMode="auto">
          <a:xfrm>
            <a:off x="628650" y="254000"/>
            <a:ext cx="6599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62EAF95-6254-033D-FB66-BA614C3EABFD}"/>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cxnSp>
        <p:nvCxnSpPr>
          <p:cNvPr id="8" name="Straight Connector 7">
            <a:extLst>
              <a:ext uri="{FF2B5EF4-FFF2-40B4-BE49-F238E27FC236}">
                <a16:creationId xmlns:a16="http://schemas.microsoft.com/office/drawing/2014/main" id="{A31EDCAF-393E-789F-A70C-54E47022B0CA}"/>
              </a:ext>
            </a:extLst>
          </p:cNvPr>
          <p:cNvCxnSpPr/>
          <p:nvPr/>
        </p:nvCxnSpPr>
        <p:spPr>
          <a:xfrm>
            <a:off x="49213" y="685800"/>
            <a:ext cx="7215187"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1029" name="TextBox 8">
            <a:extLst>
              <a:ext uri="{FF2B5EF4-FFF2-40B4-BE49-F238E27FC236}">
                <a16:creationId xmlns:a16="http://schemas.microsoft.com/office/drawing/2014/main" id="{859B9246-F080-CCE7-AE70-E846EC099EA0}"/>
              </a:ext>
            </a:extLst>
          </p:cNvPr>
          <p:cNvSpPr txBox="1">
            <a:spLocks noChangeArrowheads="1"/>
          </p:cNvSpPr>
          <p:nvPr/>
        </p:nvSpPr>
        <p:spPr bwMode="auto">
          <a:xfrm>
            <a:off x="9020175" y="1196975"/>
            <a:ext cx="685800" cy="914400"/>
          </a:xfrm>
          <a:prstGeom prst="rect">
            <a:avLst/>
          </a:prstGeom>
          <a:noFill/>
          <a:ln>
            <a:noFill/>
          </a:ln>
        </p:spPr>
        <p:txBody>
          <a:bodyPr wrap="none" lIns="68580" tIns="34290" rIns="68580" bIns="3429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ts val="1350"/>
              </a:lnSpc>
              <a:spcAft>
                <a:spcPts val="450"/>
              </a:spcAft>
              <a:defRPr/>
            </a:pPr>
            <a:endParaRPr lang="en-IN" altLang="en-US" sz="900">
              <a:solidFill>
                <a:srgbClr val="404040"/>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4149CBF6-18FD-0242-C371-7F498FEB9050}"/>
              </a:ext>
            </a:extLst>
          </p:cNvPr>
          <p:cNvSpPr txBox="1"/>
          <p:nvPr/>
        </p:nvSpPr>
        <p:spPr>
          <a:xfrm>
            <a:off x="8820150" y="449263"/>
            <a:ext cx="311150" cy="228600"/>
          </a:xfrm>
          <a:prstGeom prst="rect">
            <a:avLst/>
          </a:prstGeom>
        </p:spPr>
        <p:txBody>
          <a:bodyPr lIns="68580" tIns="34290" rIns="68580" bIns="34290"/>
          <a:lstStyle/>
          <a:p>
            <a:pPr eaLnBrk="1" fontAlgn="auto" hangingPunct="1">
              <a:lnSpc>
                <a:spcPts val="1350"/>
              </a:lnSpc>
              <a:spcBef>
                <a:spcPts val="0"/>
              </a:spcBef>
              <a:spcAft>
                <a:spcPts val="450"/>
              </a:spcAft>
              <a:defRPr/>
            </a:pPr>
            <a:endParaRPr lang="en-IN" sz="790" b="1"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L-Shape 3">
            <a:extLst>
              <a:ext uri="{FF2B5EF4-FFF2-40B4-BE49-F238E27FC236}">
                <a16:creationId xmlns:a16="http://schemas.microsoft.com/office/drawing/2014/main" id="{3DF464EA-78A1-9F6C-D412-736C25CCE5EA}"/>
              </a:ext>
            </a:extLst>
          </p:cNvPr>
          <p:cNvSpPr/>
          <p:nvPr/>
        </p:nvSpPr>
        <p:spPr>
          <a:xfrm rot="10800000">
            <a:off x="1916113" y="0"/>
            <a:ext cx="7227887"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L-Shape 11">
            <a:extLst>
              <a:ext uri="{FF2B5EF4-FFF2-40B4-BE49-F238E27FC236}">
                <a16:creationId xmlns:a16="http://schemas.microsoft.com/office/drawing/2014/main" id="{6FF1C8E7-47B4-6912-C99E-2BB31C292503}"/>
              </a:ext>
            </a:extLst>
          </p:cNvPr>
          <p:cNvSpPr/>
          <p:nvPr/>
        </p:nvSpPr>
        <p:spPr>
          <a:xfrm>
            <a:off x="0" y="1682750"/>
            <a:ext cx="7227888"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33" name="TextBox 12">
            <a:extLst>
              <a:ext uri="{FF2B5EF4-FFF2-40B4-BE49-F238E27FC236}">
                <a16:creationId xmlns:a16="http://schemas.microsoft.com/office/drawing/2014/main" id="{697A65ED-90C1-C298-08FD-58F0D413DC65}"/>
              </a:ext>
            </a:extLst>
          </p:cNvPr>
          <p:cNvSpPr txBox="1">
            <a:spLocks noChangeArrowheads="1"/>
          </p:cNvSpPr>
          <p:nvPr/>
        </p:nvSpPr>
        <p:spPr bwMode="auto">
          <a:xfrm>
            <a:off x="7500938" y="6491288"/>
            <a:ext cx="1462087" cy="177800"/>
          </a:xfrm>
          <a:prstGeom prst="rect">
            <a:avLst/>
          </a:prstGeom>
          <a:no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ts val="600"/>
              </a:spcAft>
              <a:defRPr/>
            </a:pPr>
            <a:r>
              <a:rPr lang="en-US" altLang="en-US" sz="900">
                <a:solidFill>
                  <a:srgbClr val="7F7F7F"/>
                </a:solidFill>
                <a:latin typeface="Century Gothic" panose="020B0502020202020204" pitchFamily="34" charset="0"/>
                <a:cs typeface="Segoe UI" panose="020B0502040204020203" pitchFamily="34" charset="0"/>
              </a:rPr>
              <a:t>    Pg. </a:t>
            </a:r>
            <a:fld id="{30882AE6-F65B-4F5A-9874-D95927DB8C71}" type="slidenum">
              <a:rPr lang="en-US" altLang="en-US" sz="900" smtClean="0">
                <a:solidFill>
                  <a:srgbClr val="7F7F7F"/>
                </a:solidFill>
                <a:latin typeface="Century Gothic" panose="020B0502020202020204" pitchFamily="34" charset="0"/>
                <a:cs typeface="Segoe UI" panose="020B0502040204020203" pitchFamily="34" charset="0"/>
              </a:rPr>
              <a:pPr eaLnBrk="1" hangingPunct="1">
                <a:spcAft>
                  <a:spcPts val="600"/>
                </a:spcAft>
                <a:defRPr/>
              </a:pPr>
              <a:t>‹#›</a:t>
            </a:fld>
            <a:endParaRPr lang="en-US" altLang="en-US" sz="900">
              <a:solidFill>
                <a:srgbClr val="7F7F7F"/>
              </a:solidFill>
              <a:latin typeface="Century Gothic" panose="020B0502020202020204" pitchFamily="34" charset="0"/>
              <a:cs typeface="Segoe UI" panose="020B0502040204020203" pitchFamily="34" charset="0"/>
            </a:endParaRPr>
          </a:p>
        </p:txBody>
      </p:sp>
      <p:pic>
        <p:nvPicPr>
          <p:cNvPr id="1034" name="Picture 14">
            <a:extLst>
              <a:ext uri="{FF2B5EF4-FFF2-40B4-BE49-F238E27FC236}">
                <a16:creationId xmlns:a16="http://schemas.microsoft.com/office/drawing/2014/main" id="{F9CC7FCF-7441-6118-F801-2B505CE9B45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229475" y="125413"/>
            <a:ext cx="177165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45" r:id="rId4"/>
    <p:sldLayoutId id="2147483746" r:id="rId5"/>
    <p:sldLayoutId id="2147483747" r:id="rId6"/>
    <p:sldLayoutId id="2147483748" r:id="rId7"/>
    <p:sldLayoutId id="2147483752" r:id="rId8"/>
    <p:sldLayoutId id="2147483753" r:id="rId9"/>
  </p:sldLayoutIdLst>
  <p:hf hdr="0"/>
  <p:txStyles>
    <p:titleStyle>
      <a:lvl1pPr algn="l" defTabSz="685800" rtl="0" eaLnBrk="0" fontAlgn="base" hangingPunct="0">
        <a:lnSpc>
          <a:spcPct val="90000"/>
        </a:lnSpc>
        <a:spcBef>
          <a:spcPct val="0"/>
        </a:spcBef>
        <a:spcAft>
          <a:spcPct val="0"/>
        </a:spcAft>
        <a:defRPr lang="en-US" sz="2100" b="1" kern="1200">
          <a:solidFill>
            <a:srgbClr val="C00000"/>
          </a:solidFill>
          <a:latin typeface="+mj-lt"/>
          <a:ea typeface="+mj-ea"/>
          <a:cs typeface="+mj-cs"/>
        </a:defRPr>
      </a:lvl1pPr>
      <a:lvl2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2pPr>
      <a:lvl3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3pPr>
      <a:lvl4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4pPr>
      <a:lvl5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5pPr>
      <a:lvl6pPr marL="457200" algn="l" defTabSz="685800" rtl="0" fontAlgn="base">
        <a:lnSpc>
          <a:spcPct val="90000"/>
        </a:lnSpc>
        <a:spcBef>
          <a:spcPct val="0"/>
        </a:spcBef>
        <a:spcAft>
          <a:spcPct val="0"/>
        </a:spcAft>
        <a:defRPr sz="2100" b="1">
          <a:solidFill>
            <a:srgbClr val="C00000"/>
          </a:solidFill>
          <a:latin typeface="Calibri" panose="020F0502020204030204" pitchFamily="34" charset="0"/>
        </a:defRPr>
      </a:lvl6pPr>
      <a:lvl7pPr marL="914400" algn="l" defTabSz="685800" rtl="0" fontAlgn="base">
        <a:lnSpc>
          <a:spcPct val="90000"/>
        </a:lnSpc>
        <a:spcBef>
          <a:spcPct val="0"/>
        </a:spcBef>
        <a:spcAft>
          <a:spcPct val="0"/>
        </a:spcAft>
        <a:defRPr sz="2100" b="1">
          <a:solidFill>
            <a:srgbClr val="C00000"/>
          </a:solidFill>
          <a:latin typeface="Calibri" panose="020F0502020204030204" pitchFamily="34" charset="0"/>
        </a:defRPr>
      </a:lvl7pPr>
      <a:lvl8pPr marL="1371600" algn="l" defTabSz="685800" rtl="0" fontAlgn="base">
        <a:lnSpc>
          <a:spcPct val="90000"/>
        </a:lnSpc>
        <a:spcBef>
          <a:spcPct val="0"/>
        </a:spcBef>
        <a:spcAft>
          <a:spcPct val="0"/>
        </a:spcAft>
        <a:defRPr sz="2100" b="1">
          <a:solidFill>
            <a:srgbClr val="C00000"/>
          </a:solidFill>
          <a:latin typeface="Calibri" panose="020F0502020204030204" pitchFamily="34" charset="0"/>
        </a:defRPr>
      </a:lvl8pPr>
      <a:lvl9pPr marL="1828800" algn="l" defTabSz="685800" rtl="0" fontAlgn="base">
        <a:lnSpc>
          <a:spcPct val="90000"/>
        </a:lnSpc>
        <a:spcBef>
          <a:spcPct val="0"/>
        </a:spcBef>
        <a:spcAft>
          <a:spcPct val="0"/>
        </a:spcAft>
        <a:defRPr sz="2100" b="1">
          <a:solidFill>
            <a:srgbClr val="C00000"/>
          </a:solidFill>
          <a:latin typeface="Calibri" panose="020F0502020204030204" pitchFamily="34" charset="0"/>
        </a:defRPr>
      </a:lvl9pPr>
    </p:titleStyle>
    <p:bodyStyle>
      <a:lvl1pPr marL="171450" indent="-171450" algn="l" defTabSz="685800" rtl="0" eaLnBrk="0" fontAlgn="base" hangingPunct="0">
        <a:lnSpc>
          <a:spcPct val="120000"/>
        </a:lnSpc>
        <a:spcBef>
          <a:spcPts val="750"/>
        </a:spcBef>
        <a:spcAft>
          <a:spcPct val="0"/>
        </a:spcAft>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0" fontAlgn="base" hangingPunct="0">
        <a:lnSpc>
          <a:spcPct val="120000"/>
        </a:lnSpc>
        <a:spcBef>
          <a:spcPts val="375"/>
        </a:spcBef>
        <a:spcAft>
          <a:spcPct val="0"/>
        </a:spcAft>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0" fontAlgn="base" hangingPunct="0">
        <a:lnSpc>
          <a:spcPct val="120000"/>
        </a:lnSpc>
        <a:spcBef>
          <a:spcPts val="375"/>
        </a:spcBef>
        <a:spcAft>
          <a:spcPct val="0"/>
        </a:spcAft>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0" fontAlgn="base" hangingPunct="0">
        <a:lnSpc>
          <a:spcPct val="120000"/>
        </a:lnSpc>
        <a:spcBef>
          <a:spcPts val="375"/>
        </a:spcBef>
        <a:spcAft>
          <a:spcPct val="0"/>
        </a:spcAft>
        <a:buFont typeface="Arial" panose="020B0604020202020204" pitchFamily="34" charset="0"/>
        <a:buChar char="•"/>
        <a:defRPr sz="1100" kern="1200">
          <a:solidFill>
            <a:schemeClr val="tx1"/>
          </a:solidFill>
          <a:latin typeface="+mn-lt"/>
          <a:ea typeface="+mn-ea"/>
          <a:cs typeface="+mn-cs"/>
        </a:defRPr>
      </a:lvl4pPr>
      <a:lvl5pPr marL="1543050" indent="-171450" algn="l" defTabSz="685800" rtl="0" eaLnBrk="0" fontAlgn="base" hangingPunct="0">
        <a:lnSpc>
          <a:spcPct val="120000"/>
        </a:lnSpc>
        <a:spcBef>
          <a:spcPts val="375"/>
        </a:spcBef>
        <a:spcAft>
          <a:spcPct val="0"/>
        </a:spcAft>
        <a:buFont typeface="Arial" panose="020B0604020202020204" pitchFamily="34" charset="0"/>
        <a:buChar char="•"/>
        <a:defRPr sz="1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00DE72D-954A-70B6-CD18-B95CE0157AAC}"/>
              </a:ext>
            </a:extLst>
          </p:cNvPr>
          <p:cNvSpPr txBox="1"/>
          <p:nvPr/>
        </p:nvSpPr>
        <p:spPr>
          <a:xfrm>
            <a:off x="293687" y="5045075"/>
            <a:ext cx="8556625" cy="1577975"/>
          </a:xfrm>
          <a:prstGeom prst="rect">
            <a:avLst/>
          </a:prstGeom>
        </p:spPr>
        <p:txBody>
          <a:bodyPr/>
          <a:lstStyle/>
          <a:p>
            <a:pPr algn="ctr" defTabSz="685800" eaLnBrk="1" fontAlgn="auto" hangingPunct="1">
              <a:lnSpc>
                <a:spcPct val="90000"/>
              </a:lnSpc>
              <a:spcAft>
                <a:spcPts val="0"/>
              </a:spcAft>
              <a:defRPr/>
            </a:pPr>
            <a:r>
              <a:rPr lang="en-US" altLang="en-US" b="1" dirty="0">
                <a:solidFill>
                  <a:srgbClr val="00B0F0"/>
                </a:solidFill>
                <a:latin typeface="Times New Roman" panose="02020603050405020304" pitchFamily="18" charset="0"/>
                <a:ea typeface="+mj-ea"/>
                <a:cs typeface="+mj-cs"/>
              </a:rPr>
              <a:t>Department of Computer Science And Engineering</a:t>
            </a:r>
            <a:br>
              <a:rPr lang="en-US" altLang="en-US" b="1" dirty="0">
                <a:solidFill>
                  <a:srgbClr val="00B0F0"/>
                </a:solidFill>
                <a:latin typeface="Times New Roman" panose="02020603050405020304" pitchFamily="18" charset="0"/>
                <a:ea typeface="+mj-ea"/>
                <a:cs typeface="+mj-cs"/>
              </a:rPr>
            </a:br>
            <a:r>
              <a:rPr lang="en-US" altLang="en-US" b="1" dirty="0">
                <a:solidFill>
                  <a:srgbClr val="00B0F0"/>
                </a:solidFill>
                <a:latin typeface="Times New Roman" panose="02020603050405020304" pitchFamily="18" charset="0"/>
                <a:ea typeface="+mj-ea"/>
                <a:cs typeface="+mj-cs"/>
              </a:rPr>
              <a:t> S V COLLEGE OF ENGINEERING</a:t>
            </a:r>
          </a:p>
          <a:p>
            <a:pPr algn="ctr" defTabSz="685800" eaLnBrk="1" fontAlgn="auto" hangingPunct="1">
              <a:lnSpc>
                <a:spcPct val="90000"/>
              </a:lnSpc>
              <a:spcAft>
                <a:spcPts val="0"/>
              </a:spcAft>
              <a:defRPr/>
            </a:pPr>
            <a:r>
              <a:rPr lang="en-US" altLang="en-US" b="1" dirty="0">
                <a:solidFill>
                  <a:srgbClr val="00B0F0"/>
                </a:solidFill>
                <a:latin typeface="Times New Roman" panose="02020603050405020304" pitchFamily="18" charset="0"/>
                <a:ea typeface="+mj-ea"/>
                <a:cs typeface="+mj-cs"/>
              </a:rPr>
              <a:t>(Autonomous)  </a:t>
            </a:r>
          </a:p>
          <a:p>
            <a:pPr algn="ctr" defTabSz="685800" eaLnBrk="1" fontAlgn="auto" hangingPunct="1">
              <a:lnSpc>
                <a:spcPct val="90000"/>
              </a:lnSpc>
              <a:spcAft>
                <a:spcPts val="0"/>
              </a:spcAft>
              <a:defRPr/>
            </a:pPr>
            <a:r>
              <a:rPr lang="en-US" altLang="en-US" b="1" dirty="0">
                <a:solidFill>
                  <a:srgbClr val="00B0F0"/>
                </a:solidFill>
                <a:latin typeface="Times New Roman" panose="02020603050405020304" pitchFamily="18" charset="0"/>
                <a:ea typeface="+mj-ea"/>
                <a:cs typeface="+mj-cs"/>
              </a:rPr>
              <a:t>Karakambadi Road, Opp. LIC Training Center</a:t>
            </a:r>
            <a:br>
              <a:rPr lang="en-US" altLang="en-US" b="1" dirty="0">
                <a:solidFill>
                  <a:srgbClr val="00B0F0"/>
                </a:solidFill>
                <a:latin typeface="Times New Roman" panose="02020603050405020304" pitchFamily="18" charset="0"/>
                <a:ea typeface="+mj-ea"/>
                <a:cs typeface="+mj-cs"/>
              </a:rPr>
            </a:br>
            <a:r>
              <a:rPr lang="en-US" altLang="en-US" b="1" dirty="0">
                <a:solidFill>
                  <a:srgbClr val="00B0F0"/>
                </a:solidFill>
                <a:latin typeface="Times New Roman" panose="02020603050405020304" pitchFamily="18" charset="0"/>
                <a:ea typeface="+mj-ea"/>
                <a:cs typeface="+mj-cs"/>
              </a:rPr>
              <a:t>Tirupati-517507</a:t>
            </a:r>
            <a:br>
              <a:rPr lang="en-US" altLang="en-US" b="1" dirty="0">
                <a:solidFill>
                  <a:srgbClr val="C00000"/>
                </a:solidFill>
                <a:latin typeface="Times New Roman" panose="02020603050405020304" pitchFamily="18" charset="0"/>
                <a:ea typeface="+mj-ea"/>
                <a:cs typeface="Times New Roman" panose="02020603050405020304" pitchFamily="18" charset="0"/>
              </a:rPr>
            </a:br>
            <a:endParaRPr lang="en-US" b="1" dirty="0">
              <a:solidFill>
                <a:srgbClr val="C00000"/>
              </a:solidFill>
              <a:latin typeface="Times New Roman" pitchFamily="18" charset="0"/>
              <a:ea typeface="+mj-ea"/>
              <a:cs typeface="+mj-cs"/>
            </a:endParaRPr>
          </a:p>
        </p:txBody>
      </p:sp>
      <p:sp>
        <p:nvSpPr>
          <p:cNvPr id="7171" name="TextBox 5">
            <a:extLst>
              <a:ext uri="{FF2B5EF4-FFF2-40B4-BE49-F238E27FC236}">
                <a16:creationId xmlns:a16="http://schemas.microsoft.com/office/drawing/2014/main" id="{9A01B6E0-39D2-F660-2552-546BD7A59B21}"/>
              </a:ext>
            </a:extLst>
          </p:cNvPr>
          <p:cNvSpPr txBox="1">
            <a:spLocks noChangeArrowheads="1"/>
          </p:cNvSpPr>
          <p:nvPr/>
        </p:nvSpPr>
        <p:spPr bwMode="auto">
          <a:xfrm>
            <a:off x="2362200" y="3898900"/>
            <a:ext cx="4419600" cy="118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defTabSz="685800">
              <a:defRPr>
                <a:solidFill>
                  <a:schemeClr val="tx1"/>
                </a:solidFill>
                <a:latin typeface="Calibri" panose="020F0502020204030204" pitchFamily="34" charset="0"/>
              </a:defRPr>
            </a:lvl1pPr>
            <a:lvl2pPr marL="742950" indent="-285750" defTabSz="685800">
              <a:defRPr>
                <a:solidFill>
                  <a:schemeClr val="tx1"/>
                </a:solidFill>
                <a:latin typeface="Calibri" panose="020F0502020204030204" pitchFamily="34" charset="0"/>
              </a:defRPr>
            </a:lvl2pPr>
            <a:lvl3pPr marL="1143000" indent="-228600" defTabSz="685800">
              <a:defRPr>
                <a:solidFill>
                  <a:schemeClr val="tx1"/>
                </a:solidFill>
                <a:latin typeface="Calibri" panose="020F0502020204030204" pitchFamily="34" charset="0"/>
              </a:defRPr>
            </a:lvl3pPr>
            <a:lvl4pPr marL="1600200" indent="-228600" defTabSz="685800">
              <a:defRPr>
                <a:solidFill>
                  <a:schemeClr val="tx1"/>
                </a:solidFill>
                <a:latin typeface="Calibri" panose="020F0502020204030204" pitchFamily="34" charset="0"/>
              </a:defRPr>
            </a:lvl4pPr>
            <a:lvl5pPr marL="2057400" indent="-228600" defTabSz="685800">
              <a:defRPr>
                <a:solidFill>
                  <a:schemeClr val="tx1"/>
                </a:solidFill>
                <a:latin typeface="Calibri" panose="020F0502020204030204" pitchFamily="34" charset="0"/>
              </a:defRPr>
            </a:lvl5pPr>
            <a:lvl6pPr marL="2514600" indent="-228600" defTabSz="685800" eaLnBrk="0" fontAlgn="base" hangingPunct="0">
              <a:spcBef>
                <a:spcPct val="0"/>
              </a:spcBef>
              <a:spcAft>
                <a:spcPct val="0"/>
              </a:spcAft>
              <a:defRPr>
                <a:solidFill>
                  <a:schemeClr val="tx1"/>
                </a:solidFill>
                <a:latin typeface="Calibri" panose="020F0502020204030204" pitchFamily="34" charset="0"/>
              </a:defRPr>
            </a:lvl6pPr>
            <a:lvl7pPr marL="2971800" indent="-228600" defTabSz="685800" eaLnBrk="0" fontAlgn="base" hangingPunct="0">
              <a:spcBef>
                <a:spcPct val="0"/>
              </a:spcBef>
              <a:spcAft>
                <a:spcPct val="0"/>
              </a:spcAft>
              <a:defRPr>
                <a:solidFill>
                  <a:schemeClr val="tx1"/>
                </a:solidFill>
                <a:latin typeface="Calibri" panose="020F0502020204030204" pitchFamily="34" charset="0"/>
              </a:defRPr>
            </a:lvl7pPr>
            <a:lvl8pPr marL="3429000" indent="-228600" defTabSz="685800" eaLnBrk="0" fontAlgn="base" hangingPunct="0">
              <a:spcBef>
                <a:spcPct val="0"/>
              </a:spcBef>
              <a:spcAft>
                <a:spcPct val="0"/>
              </a:spcAft>
              <a:defRPr>
                <a:solidFill>
                  <a:schemeClr val="tx1"/>
                </a:solidFill>
                <a:latin typeface="Calibri" panose="020F0502020204030204" pitchFamily="34" charset="0"/>
              </a:defRPr>
            </a:lvl8pPr>
            <a:lvl9pPr marL="3886200" indent="-228600" defTabSz="6858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0000"/>
              </a:lnSpc>
              <a:spcBef>
                <a:spcPts val="750"/>
              </a:spcBef>
            </a:pPr>
            <a:r>
              <a:rPr lang="en-US" altLang="en-US" b="1" dirty="0">
                <a:solidFill>
                  <a:srgbClr val="00B050"/>
                </a:solidFill>
                <a:latin typeface="Times New Roman" panose="02020603050405020304" pitchFamily="18" charset="0"/>
              </a:rPr>
              <a:t>Under The Guidance of </a:t>
            </a:r>
          </a:p>
          <a:p>
            <a:pPr algn="ctr" eaLnBrk="1" hangingPunct="1">
              <a:spcBef>
                <a:spcPts val="750"/>
              </a:spcBef>
            </a:pPr>
            <a:r>
              <a:rPr lang="en-US" altLang="en-US" b="1" dirty="0">
                <a:solidFill>
                  <a:srgbClr val="00B050"/>
                </a:solidFill>
                <a:latin typeface="Times New Roman" panose="02020603050405020304" pitchFamily="18" charset="0"/>
                <a:cs typeface="Times New Roman" panose="02020603050405020304" pitchFamily="18" charset="0"/>
              </a:rPr>
              <a:t>B. </a:t>
            </a:r>
            <a:r>
              <a:rPr lang="en-US" altLang="en-US" b="1" dirty="0" err="1">
                <a:solidFill>
                  <a:srgbClr val="00B050"/>
                </a:solidFill>
                <a:latin typeface="Times New Roman" panose="02020603050405020304" pitchFamily="18" charset="0"/>
                <a:cs typeface="Times New Roman" panose="02020603050405020304" pitchFamily="18" charset="0"/>
              </a:rPr>
              <a:t>Vijaya</a:t>
            </a:r>
            <a:r>
              <a:rPr lang="en-US" altLang="en-US" b="1" dirty="0">
                <a:solidFill>
                  <a:srgbClr val="00B050"/>
                </a:solidFill>
                <a:latin typeface="Times New Roman" panose="02020603050405020304" pitchFamily="18" charset="0"/>
                <a:cs typeface="Times New Roman" panose="02020603050405020304" pitchFamily="18" charset="0"/>
              </a:rPr>
              <a:t>,</a:t>
            </a:r>
          </a:p>
          <a:p>
            <a:pPr algn="ctr" eaLnBrk="1" hangingPunct="1">
              <a:spcBef>
                <a:spcPts val="750"/>
              </a:spcBef>
            </a:pPr>
            <a:r>
              <a:rPr lang="en-GB" altLang="en-US" b="1" dirty="0">
                <a:solidFill>
                  <a:srgbClr val="00B050"/>
                </a:solidFill>
                <a:latin typeface="Times New Roman" panose="02020603050405020304" pitchFamily="18" charset="0"/>
                <a:cs typeface="Times New Roman" panose="02020603050405020304" pitchFamily="18" charset="0"/>
              </a:rPr>
              <a:t> Assistant Professor</a:t>
            </a:r>
          </a:p>
        </p:txBody>
      </p:sp>
      <p:sp>
        <p:nvSpPr>
          <p:cNvPr id="8196" name="TextBox 5">
            <a:extLst>
              <a:ext uri="{FF2B5EF4-FFF2-40B4-BE49-F238E27FC236}">
                <a16:creationId xmlns:a16="http://schemas.microsoft.com/office/drawing/2014/main" id="{987FB06C-C8A1-07D2-9E65-0C718003691B}"/>
              </a:ext>
            </a:extLst>
          </p:cNvPr>
          <p:cNvSpPr txBox="1">
            <a:spLocks noChangeArrowheads="1"/>
          </p:cNvSpPr>
          <p:nvPr/>
        </p:nvSpPr>
        <p:spPr bwMode="auto">
          <a:xfrm>
            <a:off x="2187575" y="1708150"/>
            <a:ext cx="5330825" cy="2446824"/>
          </a:xfrm>
          <a:prstGeom prst="rect">
            <a:avLst/>
          </a:prstGeom>
          <a:noFill/>
          <a:ln w="9525">
            <a:noFill/>
            <a:miter lim="800000"/>
            <a:headEnd/>
            <a:tailEnd/>
          </a:ln>
        </p:spPr>
        <p:txBody>
          <a:bodyPr wrap="square">
            <a:spAutoFit/>
          </a:bodyPr>
          <a:lstStyle/>
          <a:p>
            <a:pPr algn="ctr" eaLnBrk="1" hangingPunct="1">
              <a:lnSpc>
                <a:spcPct val="150000"/>
              </a:lnSpc>
              <a:spcBef>
                <a:spcPct val="20000"/>
              </a:spcBef>
              <a:defRPr/>
            </a:pPr>
            <a:r>
              <a:rPr lang="en-IN" altLang="en-GB" dirty="0">
                <a:solidFill>
                  <a:srgbClr val="C00000"/>
                </a:solidFill>
                <a:latin typeface="Times New Roman" panose="02020603050405020304" pitchFamily="18" charset="0"/>
                <a:ea typeface="Calibri" pitchFamily="34" charset="0"/>
                <a:cs typeface="Times New Roman" panose="02020603050405020304" pitchFamily="18" charset="0"/>
              </a:rPr>
              <a:t>Presented By</a:t>
            </a:r>
          </a:p>
          <a:p>
            <a:pP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T. DEEPTHI REDDY</a:t>
            </a:r>
            <a:r>
              <a:rPr lang="en-US" dirty="0">
                <a:solidFill>
                  <a:srgbClr val="000000"/>
                </a:solidFill>
                <a:latin typeface="Times New Roman" panose="02020603050405020304" pitchFamily="18" charset="0"/>
                <a:cs typeface="Times New Roman" panose="02020603050405020304" pitchFamily="18" charset="0"/>
              </a:rPr>
              <a:t> </a:t>
            </a:r>
            <a:r>
              <a:rPr lang="en-US" b="1" dirty="0">
                <a:solidFill>
                  <a:schemeClr val="accent1">
                    <a:lumMod val="75000"/>
                  </a:schemeClr>
                </a:solidFill>
                <a:latin typeface="Times New Roman" panose="02020603050405020304" pitchFamily="18" charset="0"/>
                <a:cs typeface="Times New Roman" panose="02020603050405020304" pitchFamily="18" charset="0"/>
              </a:rPr>
              <a:t>                       (22BFA05395)        </a:t>
            </a:r>
          </a:p>
          <a:p>
            <a:pP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D. SIVA KARTHIK                            (22BFA05349) </a:t>
            </a:r>
          </a:p>
          <a:p>
            <a:pP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S. A. SADIYA THASNEEM              (22BFA05374) </a:t>
            </a:r>
          </a:p>
          <a:p>
            <a:pP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S. T. VINAY                                         (22BFA05378) </a:t>
            </a:r>
          </a:p>
          <a:p>
            <a:pPr>
              <a:defRPr/>
            </a:pPr>
            <a:r>
              <a:rPr lang="en-US" dirty="0">
                <a:solidFill>
                  <a:srgbClr val="000000"/>
                </a:solidFill>
                <a:latin typeface="Times New Roman" pitchFamily="18" charset="0"/>
              </a:rPr>
              <a:t> </a:t>
            </a:r>
            <a:endParaRPr lang="en-US" dirty="0">
              <a:latin typeface="Times New Roman" pitchFamily="18" charset="0"/>
            </a:endParaRPr>
          </a:p>
        </p:txBody>
      </p:sp>
      <p:sp>
        <p:nvSpPr>
          <p:cNvPr id="7173" name="Rectangle 8">
            <a:extLst>
              <a:ext uri="{FF2B5EF4-FFF2-40B4-BE49-F238E27FC236}">
                <a16:creationId xmlns:a16="http://schemas.microsoft.com/office/drawing/2014/main" id="{728D89F8-D3DC-64BD-B3AE-3E3B36896658}"/>
              </a:ext>
            </a:extLst>
          </p:cNvPr>
          <p:cNvSpPr>
            <a:spLocks noChangeArrowheads="1"/>
          </p:cNvSpPr>
          <p:nvPr/>
        </p:nvSpPr>
        <p:spPr bwMode="auto">
          <a:xfrm>
            <a:off x="528638" y="936625"/>
            <a:ext cx="8086725"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115000"/>
              </a:lnSpc>
            </a:pPr>
            <a:r>
              <a:rPr lang="en-US" sz="2000" b="1" dirty="0">
                <a:latin typeface="Times New Roman" panose="02020603050405020304" pitchFamily="18" charset="0"/>
                <a:ea typeface="Calibri" panose="020F0502020204030204" pitchFamily="34" charset="0"/>
                <a:cs typeface="Times New Roman" panose="02020603050405020304" pitchFamily="18" charset="0"/>
              </a:rPr>
              <a:t>EEG-Based Emotion Detection Using Roberts Similarity </a:t>
            </a:r>
          </a:p>
          <a:p>
            <a:pPr algn="ctr">
              <a:lnSpc>
                <a:spcPct val="115000"/>
              </a:lnSpc>
            </a:pPr>
            <a:r>
              <a:rPr lang="en-US" sz="2000" b="1" dirty="0">
                <a:latin typeface="Times New Roman" panose="02020603050405020304" pitchFamily="18" charset="0"/>
                <a:ea typeface="Calibri" panose="020F0502020204030204" pitchFamily="34" charset="0"/>
                <a:cs typeface="Times New Roman" panose="02020603050405020304" pitchFamily="18" charset="0"/>
              </a:rPr>
              <a:t>and PSO Feature Selection</a:t>
            </a:r>
          </a:p>
          <a:p>
            <a:pPr algn="ctr">
              <a:lnSpc>
                <a:spcPct val="115000"/>
              </a:lnSpc>
            </a:pPr>
            <a:endParaRPr lang="en-IN" altLang="en-US" sz="2000" dirty="0">
              <a:solidFill>
                <a:srgbClr val="00B0F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a:extLst>
              <a:ext uri="{FF2B5EF4-FFF2-40B4-BE49-F238E27FC236}">
                <a16:creationId xmlns:a16="http://schemas.microsoft.com/office/drawing/2014/main" id="{E3CB3FA5-ED8E-361E-E24E-CFFD9AD4DD78}"/>
              </a:ext>
            </a:extLst>
          </p:cNvPr>
          <p:cNvSpPr>
            <a:spLocks noGrp="1" noChangeArrowheads="1"/>
          </p:cNvSpPr>
          <p:nvPr>
            <p:ph type="title"/>
          </p:nvPr>
        </p:nvSpPr>
        <p:spPr>
          <a:xfrm>
            <a:off x="392113" y="254000"/>
            <a:ext cx="6732587" cy="479425"/>
          </a:xfrm>
        </p:spPr>
        <p:txBody>
          <a:bodyPr>
            <a:noAutofit/>
          </a:bodyPr>
          <a:lstStyle/>
          <a:p>
            <a:pPr eaLnBrk="1" hangingPunct="1">
              <a:defRPr/>
            </a:pPr>
            <a:r>
              <a:rPr lang="en-IN" altLang="en-US" sz="3200" dirty="0">
                <a:effectLst>
                  <a:outerShdw blurRad="38100" dist="38100" dir="2700000" algn="tl">
                    <a:srgbClr val="000000">
                      <a:alpha val="43137"/>
                    </a:srgbClr>
                  </a:outerShdw>
                </a:effectLst>
              </a:rPr>
              <a:t>OUTLINE</a:t>
            </a:r>
          </a:p>
        </p:txBody>
      </p:sp>
      <p:sp>
        <p:nvSpPr>
          <p:cNvPr id="2" name="Rectangle 1">
            <a:extLst>
              <a:ext uri="{FF2B5EF4-FFF2-40B4-BE49-F238E27FC236}">
                <a16:creationId xmlns:a16="http://schemas.microsoft.com/office/drawing/2014/main" id="{089CE280-EFFE-4638-ADB8-6CD79FF1FCF9}"/>
              </a:ext>
            </a:extLst>
          </p:cNvPr>
          <p:cNvSpPr/>
          <p:nvPr/>
        </p:nvSpPr>
        <p:spPr>
          <a:xfrm>
            <a:off x="158750" y="927100"/>
            <a:ext cx="8828088" cy="5668963"/>
          </a:xfrm>
          <a:prstGeom prst="rect">
            <a:avLst/>
          </a:prstGeom>
        </p:spPr>
        <p:txBody>
          <a:bodyPr lIns="91440" tIns="45720" rIns="91440" bIns="45720" anchor="t"/>
          <a:lstStyle/>
          <a:p>
            <a:pPr marL="456565" indent="-456565" algn="just">
              <a:lnSpc>
                <a:spcPct val="150000"/>
              </a:lnSpc>
              <a:buFont typeface="Wingdings" panose="05000000000000000000" pitchFamily="2" charset="2"/>
              <a:buChar char="v"/>
            </a:pPr>
            <a:r>
              <a:rPr lang="en-US" dirty="0">
                <a:latin typeface="+mj-lt"/>
                <a:cs typeface="Times New Roman" panose="02020603050405020304" pitchFamily="18" charset="0"/>
              </a:rPr>
              <a:t>Abstract</a:t>
            </a:r>
            <a:endParaRPr lang="en-US"/>
          </a:p>
          <a:p>
            <a:pPr marL="456565" indent="-456565" algn="just">
              <a:lnSpc>
                <a:spcPct val="150000"/>
              </a:lnSpc>
              <a:buFont typeface="Wingdings" panose="05000000000000000000" pitchFamily="2" charset="2"/>
              <a:buChar char="v"/>
            </a:pPr>
            <a:r>
              <a:rPr lang="en-US" dirty="0">
                <a:latin typeface="+mj-lt"/>
                <a:cs typeface="Times New Roman" panose="02020603050405020304" pitchFamily="18" charset="0"/>
              </a:rPr>
              <a:t>Keywords</a:t>
            </a:r>
            <a:endParaRPr lang="en-US" dirty="0">
              <a:latin typeface="+mj-lt"/>
              <a:ea typeface="Calibri"/>
              <a:cs typeface="Times New Roman" panose="02020603050405020304" pitchFamily="18" charset="0"/>
            </a:endParaRPr>
          </a:p>
          <a:p>
            <a:pPr marL="456565" indent="-456565" algn="just">
              <a:lnSpc>
                <a:spcPct val="150000"/>
              </a:lnSpc>
              <a:buFont typeface="Wingdings" panose="05000000000000000000" pitchFamily="2" charset="2"/>
              <a:buChar char="v"/>
            </a:pPr>
            <a:r>
              <a:rPr lang="en-US" dirty="0">
                <a:latin typeface="+mj-lt"/>
                <a:ea typeface="Calibri"/>
                <a:cs typeface="Times New Roman"/>
              </a:rPr>
              <a:t>Objective</a:t>
            </a:r>
            <a:endParaRPr lang="en-US" dirty="0">
              <a:latin typeface="+mj-lt"/>
              <a:ea typeface="Calibri"/>
              <a:cs typeface="Times New Roman" panose="02020603050405020304" pitchFamily="18" charset="0"/>
            </a:endParaRPr>
          </a:p>
          <a:p>
            <a:pPr marL="456565" indent="-456565" algn="just">
              <a:lnSpc>
                <a:spcPct val="150000"/>
              </a:lnSpc>
              <a:buFont typeface="Wingdings" panose="05000000000000000000" pitchFamily="2" charset="2"/>
              <a:buChar char="v"/>
            </a:pPr>
            <a:r>
              <a:rPr lang="en-US" dirty="0">
                <a:latin typeface="+mj-lt"/>
                <a:ea typeface="Calibri"/>
                <a:cs typeface="Times New Roman"/>
              </a:rPr>
              <a:t>Scope</a:t>
            </a:r>
          </a:p>
          <a:p>
            <a:pPr marL="456565" indent="-456565" algn="just">
              <a:lnSpc>
                <a:spcPct val="150000"/>
              </a:lnSpc>
              <a:buFont typeface="Wingdings" panose="05000000000000000000" pitchFamily="2" charset="2"/>
              <a:buChar char="v"/>
            </a:pPr>
            <a:r>
              <a:rPr lang="en-US" dirty="0">
                <a:latin typeface="+mj-lt"/>
                <a:cs typeface="Times New Roman" panose="02020603050405020304" pitchFamily="18" charset="0"/>
              </a:rPr>
              <a:t>Existing System</a:t>
            </a:r>
            <a:endParaRPr lang="en-US" dirty="0">
              <a:latin typeface="+mj-lt"/>
              <a:ea typeface="Calibri"/>
              <a:cs typeface="Times New Roman" panose="02020603050405020304" pitchFamily="18" charset="0"/>
            </a:endParaRPr>
          </a:p>
          <a:p>
            <a:pPr marL="456565" indent="-456565" algn="just">
              <a:lnSpc>
                <a:spcPct val="150000"/>
              </a:lnSpc>
              <a:buFont typeface="Wingdings" panose="05000000000000000000" pitchFamily="2" charset="2"/>
              <a:buChar char="v"/>
            </a:pPr>
            <a:r>
              <a:rPr lang="en-US" dirty="0">
                <a:latin typeface="+mj-lt"/>
                <a:cs typeface="Times New Roman" panose="02020603050405020304" pitchFamily="18" charset="0"/>
              </a:rPr>
              <a:t>Drawbacks</a:t>
            </a:r>
            <a:endParaRPr lang="en-US" dirty="0">
              <a:latin typeface="+mj-lt"/>
              <a:ea typeface="Calibri"/>
              <a:cs typeface="Times New Roman" panose="02020603050405020304" pitchFamily="18" charset="0"/>
            </a:endParaRPr>
          </a:p>
          <a:p>
            <a:pPr marL="456565" indent="-456565" algn="just">
              <a:lnSpc>
                <a:spcPct val="150000"/>
              </a:lnSpc>
              <a:buFont typeface="Wingdings" panose="05000000000000000000" pitchFamily="2" charset="2"/>
              <a:buChar char="v"/>
            </a:pPr>
            <a:r>
              <a:rPr lang="en-US" dirty="0">
                <a:latin typeface="+mj-lt"/>
                <a:cs typeface="Times New Roman" panose="02020603050405020304" pitchFamily="18" charset="0"/>
              </a:rPr>
              <a:t>Proposed System</a:t>
            </a:r>
            <a:endParaRPr lang="en-US" dirty="0">
              <a:latin typeface="+mj-lt"/>
              <a:ea typeface="Calibri"/>
              <a:cs typeface="Times New Roman" panose="02020603050405020304" pitchFamily="18" charset="0"/>
            </a:endParaRPr>
          </a:p>
          <a:p>
            <a:pPr marL="456565" indent="-456565" algn="just">
              <a:lnSpc>
                <a:spcPct val="150000"/>
              </a:lnSpc>
              <a:buFont typeface="Wingdings" panose="05000000000000000000" pitchFamily="2" charset="2"/>
              <a:buChar char="v"/>
            </a:pPr>
            <a:r>
              <a:rPr lang="en-US" dirty="0">
                <a:latin typeface="+mj-lt"/>
                <a:cs typeface="Times New Roman"/>
              </a:rPr>
              <a:t>Modules</a:t>
            </a:r>
            <a:endParaRPr lang="en-US" dirty="0">
              <a:latin typeface="+mj-lt"/>
              <a:ea typeface="Calibri"/>
              <a:cs typeface="Times New Roman"/>
            </a:endParaRPr>
          </a:p>
          <a:p>
            <a:pPr marL="456565" indent="-456565" algn="just">
              <a:lnSpc>
                <a:spcPct val="150000"/>
              </a:lnSpc>
              <a:buFont typeface="Wingdings" panose="05000000000000000000" pitchFamily="2" charset="2"/>
              <a:buChar char="v"/>
            </a:pPr>
            <a:r>
              <a:rPr lang="en-US" dirty="0">
                <a:latin typeface="+mj-lt"/>
                <a:cs typeface="Times New Roman" panose="02020603050405020304" pitchFamily="18" charset="0"/>
              </a:rPr>
              <a:t>UML Diagrams</a:t>
            </a:r>
            <a:endParaRPr lang="en-US" dirty="0">
              <a:latin typeface="+mj-lt"/>
              <a:ea typeface="Calibri"/>
              <a:cs typeface="Times New Roman" panose="02020603050405020304" pitchFamily="18" charset="0"/>
            </a:endParaRPr>
          </a:p>
          <a:p>
            <a:pPr marL="456565" indent="-456565" algn="just">
              <a:lnSpc>
                <a:spcPct val="150000"/>
              </a:lnSpc>
              <a:buFont typeface="Wingdings" panose="05000000000000000000" pitchFamily="2" charset="2"/>
              <a:buChar char="v"/>
            </a:pPr>
            <a:r>
              <a:rPr lang="en-US" dirty="0">
                <a:latin typeface="+mj-lt"/>
                <a:ea typeface="Calibri"/>
                <a:cs typeface="Calibri"/>
              </a:rPr>
              <a:t>Software &amp; Hardware Requirements</a:t>
            </a:r>
            <a:endParaRPr lang="en-US" dirty="0">
              <a:latin typeface="+mj-lt"/>
              <a:ea typeface="Calibri"/>
              <a:cs typeface="Times New Roman"/>
            </a:endParaRPr>
          </a:p>
          <a:p>
            <a:pPr marL="456565" indent="-456565" algn="just">
              <a:lnSpc>
                <a:spcPct val="150000"/>
              </a:lnSpc>
              <a:buFont typeface="Wingdings" panose="05000000000000000000" pitchFamily="2" charset="2"/>
              <a:buChar char="v"/>
            </a:pPr>
            <a:r>
              <a:rPr lang="en-US" dirty="0">
                <a:latin typeface="+mj-lt"/>
                <a:ea typeface="Calibri"/>
                <a:cs typeface="Times New Roman"/>
              </a:rPr>
              <a:t>Project Implementation</a:t>
            </a:r>
            <a:endParaRPr lang="en-US" dirty="0">
              <a:latin typeface="+mj-lt"/>
              <a:cs typeface="Times New Roman"/>
            </a:endParaRPr>
          </a:p>
          <a:p>
            <a:pPr marL="456565" indent="-456565" algn="just">
              <a:lnSpc>
                <a:spcPct val="150000"/>
              </a:lnSpc>
              <a:buFont typeface="Wingdings" panose="05000000000000000000" pitchFamily="2" charset="2"/>
              <a:buChar char="v"/>
            </a:pPr>
            <a:r>
              <a:rPr lang="en-US" dirty="0">
                <a:latin typeface="+mj-lt"/>
                <a:ea typeface="Calibri"/>
                <a:cs typeface="Times New Roman"/>
              </a:rPr>
              <a:t>Output Screens</a:t>
            </a:r>
            <a:endParaRPr lang="en-US" dirty="0">
              <a:latin typeface="+mj-lt"/>
              <a:cs typeface="Times New Roman"/>
            </a:endParaRPr>
          </a:p>
          <a:p>
            <a:pPr marL="456565" indent="-456565" algn="just">
              <a:lnSpc>
                <a:spcPct val="150000"/>
              </a:lnSpc>
              <a:buFont typeface="Wingdings" panose="05000000000000000000" pitchFamily="2" charset="2"/>
              <a:buChar char="v"/>
            </a:pPr>
            <a:r>
              <a:rPr lang="en-US" dirty="0">
                <a:latin typeface="+mj-lt"/>
                <a:cs typeface="Times New Roman"/>
              </a:rPr>
              <a:t>Literature Survey</a:t>
            </a:r>
            <a:endParaRPr lang="en-US" dirty="0">
              <a:latin typeface="+mj-lt"/>
              <a:ea typeface="Calibri"/>
              <a:cs typeface="Times New Roman"/>
            </a:endParaRPr>
          </a:p>
          <a:p>
            <a:pPr marL="456565" indent="-456565" algn="just">
              <a:lnSpc>
                <a:spcPct val="150000"/>
              </a:lnSpc>
              <a:buFont typeface="Wingdings" panose="05000000000000000000" pitchFamily="2" charset="2"/>
              <a:buChar char="v"/>
            </a:pPr>
            <a:r>
              <a:rPr lang="en-US" dirty="0">
                <a:latin typeface="+mj-lt"/>
                <a:cs typeface="Times New Roman" panose="02020603050405020304" pitchFamily="18" charset="0"/>
              </a:rPr>
              <a:t>References</a:t>
            </a:r>
            <a:endParaRPr lang="en-IN" altLang="en-US" b="1" dirty="0">
              <a:solidFill>
                <a:srgbClr val="0070C0"/>
              </a:solidFill>
              <a:latin typeface="+mj-lt"/>
              <a:ea typeface="Calibri"/>
              <a:cs typeface="Calibri"/>
            </a:endParaRPr>
          </a:p>
          <a:p>
            <a:pPr marL="342900" indent="-342900" eaLnBrk="1" fontAlgn="auto" hangingPunct="1">
              <a:lnSpc>
                <a:spcPct val="150000"/>
              </a:lnSpc>
              <a:spcBef>
                <a:spcPts val="0"/>
              </a:spcBef>
              <a:spcAft>
                <a:spcPts val="0"/>
              </a:spcAft>
              <a:buFont typeface="Arial" panose="020B0604020202020204" pitchFamily="34" charset="0"/>
              <a:buChar char="•"/>
              <a:defRPr/>
            </a:pPr>
            <a:endParaRPr lang="en-IN" altLang="en-US" b="1" dirty="0">
              <a:solidFill>
                <a:srgbClr val="0070C0"/>
              </a:solidFill>
              <a:latin typeface="+mj-lt"/>
            </a:endParaRPr>
          </a:p>
          <a:p>
            <a:pPr marL="342900" indent="-342900" eaLnBrk="1" fontAlgn="auto" hangingPunct="1">
              <a:lnSpc>
                <a:spcPct val="150000"/>
              </a:lnSpc>
              <a:spcBef>
                <a:spcPts val="0"/>
              </a:spcBef>
              <a:spcAft>
                <a:spcPts val="0"/>
              </a:spcAft>
              <a:buFont typeface="Arial" panose="020B0604020202020204" pitchFamily="34" charset="0"/>
              <a:buChar char="•"/>
              <a:defRPr/>
            </a:pPr>
            <a:endParaRPr lang="en-US" b="1" dirty="0">
              <a:solidFill>
                <a:srgbClr val="0070C0"/>
              </a:solidFill>
              <a:latin typeface="+mj-lt"/>
            </a:endParaRPr>
          </a:p>
          <a:p>
            <a:pPr marL="342900" indent="-342900" eaLnBrk="1" fontAlgn="auto" hangingPunct="1">
              <a:lnSpc>
                <a:spcPct val="200000"/>
              </a:lnSpc>
              <a:spcBef>
                <a:spcPts val="0"/>
              </a:spcBef>
              <a:spcAft>
                <a:spcPts val="0"/>
              </a:spcAft>
              <a:buFont typeface="Arial" panose="020B0604020202020204" pitchFamily="34" charset="0"/>
              <a:buChar char="•"/>
              <a:defRPr/>
            </a:pPr>
            <a:endParaRPr lang="en-IN" b="1" dirty="0">
              <a:solidFill>
                <a:srgbClr val="0070C0"/>
              </a:solidFill>
              <a:latin typeface="+mj-lt"/>
            </a:endParaRPr>
          </a:p>
          <a:p>
            <a:pPr marL="342900" indent="-342900" eaLnBrk="1" fontAlgn="auto" hangingPunct="1">
              <a:lnSpc>
                <a:spcPct val="200000"/>
              </a:lnSpc>
              <a:spcBef>
                <a:spcPts val="0"/>
              </a:spcBef>
              <a:spcAft>
                <a:spcPts val="0"/>
              </a:spcAft>
              <a:buFont typeface="Arial" panose="020B0604020202020204" pitchFamily="34" charset="0"/>
              <a:buChar char="•"/>
              <a:defRPr/>
            </a:pPr>
            <a:endParaRPr lang="en-US" altLang="en-US" b="1" dirty="0">
              <a:latin typeface="+mj-lt"/>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D0CDDB02-C1FB-F7C7-47CE-A300D072E092}"/>
              </a:ext>
            </a:extLst>
          </p:cNvPr>
          <p:cNvSpPr txBox="1">
            <a:spLocks noChangeArrowheads="1"/>
          </p:cNvSpPr>
          <p:nvPr/>
        </p:nvSpPr>
        <p:spPr>
          <a:xfrm>
            <a:off x="132548" y="194243"/>
            <a:ext cx="7008813" cy="558800"/>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ABSTRACT</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10243" name="Content Placeholder 2">
            <a:extLst>
              <a:ext uri="{FF2B5EF4-FFF2-40B4-BE49-F238E27FC236}">
                <a16:creationId xmlns:a16="http://schemas.microsoft.com/office/drawing/2014/main" id="{18FDA4B1-D8EB-B492-238C-AE4D0EAC1DF6}"/>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0244" name="Content Placeholder 2">
            <a:extLst>
              <a:ext uri="{FF2B5EF4-FFF2-40B4-BE49-F238E27FC236}">
                <a16:creationId xmlns:a16="http://schemas.microsoft.com/office/drawing/2014/main" id="{E7B68284-D6AB-47A2-371C-8F1C9A714749}"/>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0245" name="Rectangle 1">
            <a:extLst>
              <a:ext uri="{FF2B5EF4-FFF2-40B4-BE49-F238E27FC236}">
                <a16:creationId xmlns:a16="http://schemas.microsoft.com/office/drawing/2014/main" id="{78549F22-BBFD-7A93-6174-8BB85E31BE6C}"/>
              </a:ext>
            </a:extLst>
          </p:cNvPr>
          <p:cNvSpPr>
            <a:spLocks noChangeArrowheads="1"/>
          </p:cNvSpPr>
          <p:nvPr/>
        </p:nvSpPr>
        <p:spPr bwMode="auto">
          <a:xfrm>
            <a:off x="336550" y="973556"/>
            <a:ext cx="8350250" cy="545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lnSpc>
                <a:spcPct val="150000"/>
              </a:lnSpc>
              <a:spcAft>
                <a:spcPts val="1000"/>
              </a:spcAft>
            </a:pPr>
            <a:r>
              <a:rPr lang="en-US" dirty="0">
                <a:latin typeface="+mn-lt"/>
                <a:ea typeface="Calibri"/>
                <a:cs typeface="Calibri"/>
              </a:rPr>
              <a:t>Emotion detection using electroencephalography (EEG) signals is applied in areas such as mental health, human-computer interaction, and affective computing. This framework processes EEG data using both machine learning and deep learning techniques. Important features are extracted using the Extra Trees Classifier and further optimized with the PSO Feature Model Selector, where K-Nearest Neighbors (KNN), Support Vector Machine (SVM), and Random Forest are used to improve feature selection and classification performance. For emotion classification, hybrid deep learning models such as CNN-LSTM are used to capture spatial and temporal patterns, along with Roberts Similarity to measure EEG pattern similarity. Deep Convolution Network is also utilized to learn hierarchical features directly from raw EEG signals. The proposed approach improves accuracy, robustness, and real-time processing, enabling the development of personalized and empathetic emotion-aware systems for healthcare and advanced human-machine interaction.</a:t>
            </a:r>
            <a:endParaRPr lang="en-US">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141EC95C-95C7-C0BA-75A2-6B32392165FC}"/>
              </a:ext>
            </a:extLst>
          </p:cNvPr>
          <p:cNvSpPr txBox="1">
            <a:spLocks noChangeArrowheads="1"/>
          </p:cNvSpPr>
          <p:nvPr/>
        </p:nvSpPr>
        <p:spPr>
          <a:xfrm>
            <a:off x="209550" y="271463"/>
            <a:ext cx="7008813" cy="509587"/>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KEYWORDS</a:t>
            </a:r>
          </a:p>
        </p:txBody>
      </p:sp>
      <p:sp>
        <p:nvSpPr>
          <p:cNvPr id="11267" name="Content Placeholder 2">
            <a:extLst>
              <a:ext uri="{FF2B5EF4-FFF2-40B4-BE49-F238E27FC236}">
                <a16:creationId xmlns:a16="http://schemas.microsoft.com/office/drawing/2014/main" id="{7AA8A46B-E854-4E9D-D12E-C3B51861FF2C}"/>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1268" name="Content Placeholder 2">
            <a:extLst>
              <a:ext uri="{FF2B5EF4-FFF2-40B4-BE49-F238E27FC236}">
                <a16:creationId xmlns:a16="http://schemas.microsoft.com/office/drawing/2014/main" id="{66B9DEF1-FE09-924E-27B1-9994BE885E07}"/>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3" name="TextBox 2"/>
          <p:cNvSpPr txBox="1"/>
          <p:nvPr/>
        </p:nvSpPr>
        <p:spPr>
          <a:xfrm>
            <a:off x="438828" y="2257563"/>
            <a:ext cx="8445290" cy="4104736"/>
          </a:xfrm>
          <a:prstGeom prst="rect">
            <a:avLst/>
          </a:prstGeom>
        </p:spPr>
        <p:txBody>
          <a:bodyPr vert="horz" wrap="square" lIns="91440" tIns="45720" rIns="91440" bIns="45720" rtlCol="0" anchor="t">
            <a:noAutofit/>
          </a:bodyPr>
          <a:lstStyle/>
          <a:p>
            <a:pPr algn="just"/>
            <a:r>
              <a:rPr lang="en-US" sz="2000" dirty="0">
                <a:latin typeface="+mn-lt"/>
                <a:ea typeface="Calibri"/>
                <a:cs typeface="Calibri"/>
              </a:rPr>
              <a:t>EEG , Emotion Detection , Extra Trees Classifier , Feature Extraction , PSO Feature Model Selector , KNN , SVM , Random Forest , CNN-LSTM , Roberts Similarity , </a:t>
            </a:r>
            <a:r>
              <a:rPr lang="en-US" sz="2000" dirty="0" err="1">
                <a:latin typeface="+mn-lt"/>
                <a:ea typeface="Calibri"/>
                <a:cs typeface="Calibri"/>
              </a:rPr>
              <a:t>DeepConvNet</a:t>
            </a:r>
            <a:r>
              <a:rPr lang="en-US" sz="2000" dirty="0">
                <a:latin typeface="+mn-lt"/>
                <a:ea typeface="Calibri"/>
                <a:cs typeface="Calibri"/>
              </a:rPr>
              <a:t>, Machine Learning , Deep Learning , Signal Processing,    Affective Computing , Human-Computer Interaction , Mental Health , Real-time Processing.</a:t>
            </a:r>
            <a:endParaRPr lang="en-US" sz="2000">
              <a:ea typeface="Calibri" panose="020F0502020204030204" pitchFamily="34" charset="0"/>
              <a:cs typeface="Calibri" panose="020F0502020204030204" pitchFamily="34" charset="0"/>
            </a:endParaRPr>
          </a:p>
          <a:p>
            <a:br>
              <a:rPr lang="en-US" dirty="0">
                <a:latin typeface="+mn-lt"/>
              </a:rPr>
            </a:br>
            <a:endParaRPr lang="en-US" dirty="0">
              <a:latin typeface="+mn-lt"/>
            </a:endParaRPr>
          </a:p>
          <a:p>
            <a:pPr>
              <a:lnSpc>
                <a:spcPts val="1800"/>
              </a:lnSpc>
              <a:spcAft>
                <a:spcPts val="600"/>
              </a:spcAft>
            </a:pPr>
            <a:endParaRPr lang="en-US" dirty="0">
              <a:latin typeface="+mn-lt"/>
            </a:endParaRPr>
          </a:p>
          <a:p>
            <a:pPr marL="0" indent="0" algn="l">
              <a:lnSpc>
                <a:spcPts val="1800"/>
              </a:lnSpc>
              <a:spcAft>
                <a:spcPts val="600"/>
              </a:spcAft>
              <a:buNone/>
            </a:pPr>
            <a:endParaRPr lang="en-IN" sz="1200" dirty="0">
              <a:solidFill>
                <a:prstClr val="black">
                  <a:lumMod val="75000"/>
                  <a:lumOff val="25000"/>
                </a:prstClr>
              </a:solidFill>
              <a:latin typeface="+mn-lt"/>
              <a:cs typeface="Segoe UI" panose="020B05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02702F-A000-452B-A533-06D70D609F4E}"/>
              </a:ext>
            </a:extLst>
          </p:cNvPr>
          <p:cNvSpPr txBox="1"/>
          <p:nvPr/>
        </p:nvSpPr>
        <p:spPr>
          <a:xfrm>
            <a:off x="471937" y="1813817"/>
            <a:ext cx="8201722" cy="3477875"/>
          </a:xfrm>
          <a:prstGeom prst="rect">
            <a:avLst/>
          </a:prstGeom>
          <a:noFill/>
        </p:spPr>
        <p:txBody>
          <a:bodyPr wrap="square" lIns="91440" tIns="45720" rIns="91440" bIns="45720" anchor="t">
            <a:spAutoFit/>
          </a:bodyPr>
          <a:lstStyle/>
          <a:p>
            <a:pPr algn="just"/>
            <a:r>
              <a:rPr lang="en-US" sz="2000" dirty="0">
                <a:latin typeface="+mn-lt"/>
                <a:ea typeface="Calibri"/>
                <a:cs typeface="Calibri"/>
              </a:rPr>
              <a:t>The objective of this project is to develop an advanced EEG-based emotion detection system using a combination of feature extraction techniques, machine learning, and deep learning models. By employing the Extra Trees Classifier for efficient feature extraction, the project aims to optimize the feature selection process through the PSO Feature Model Selector, incorporating KNN, SVM, and Random Forest. Additionally, the system integrates a CNN-LSTM hybrid model and Roberta Similarity to capture spatial and temporal dependencies in EEG signals, enhancing emotion recognition. This project seeks to improve emotion classification accuracy, robustness, and real-time processing, contributing to applications in healthcare and human-computer interaction.</a:t>
            </a:r>
            <a:endParaRPr lang="en-US" sz="2000">
              <a:ea typeface="Calibri" panose="020F0502020204030204" pitchFamily="34" charset="0"/>
              <a:cs typeface="Calibri" panose="020F0502020204030204" pitchFamily="34" charset="0"/>
            </a:endParaRPr>
          </a:p>
        </p:txBody>
      </p:sp>
      <p:sp>
        <p:nvSpPr>
          <p:cNvPr id="2" name="TextBox 1"/>
          <p:cNvSpPr txBox="1"/>
          <p:nvPr/>
        </p:nvSpPr>
        <p:spPr>
          <a:xfrm>
            <a:off x="288757" y="125128"/>
            <a:ext cx="3195587" cy="452388"/>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p:cNvSpPr txBox="1"/>
          <p:nvPr/>
        </p:nvSpPr>
        <p:spPr>
          <a:xfrm>
            <a:off x="635267" y="351322"/>
            <a:ext cx="914400" cy="914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6" name="Rectangle 5"/>
          <p:cNvSpPr/>
          <p:nvPr/>
        </p:nvSpPr>
        <p:spPr>
          <a:xfrm>
            <a:off x="367553" y="235885"/>
            <a:ext cx="3511428" cy="535531"/>
          </a:xfrm>
          <a:prstGeom prst="rect">
            <a:avLst/>
          </a:prstGeom>
        </p:spPr>
        <p:txBody>
          <a:bodyPr wrap="square" lIns="91440" tIns="45720" rIns="91440" bIns="45720" anchor="t">
            <a:spAutoFit/>
          </a:bodyP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Calibri"/>
                <a:cs typeface="Calibri"/>
              </a:rPr>
              <a:t>OBJECTIVE</a:t>
            </a:r>
            <a:endParaRPr lang="en-US" altLang="en-US" sz="3200" b="1" dirty="0">
              <a:solidFill>
                <a:srgbClr val="C00000"/>
              </a:solidFill>
              <a:effectLst>
                <a:outerShdw blurRad="38100" dist="38100" dir="2700000" algn="tl">
                  <a:srgbClr val="000000"/>
                </a:outerShdw>
              </a:effectLst>
              <a:latin typeface="+mj-lt"/>
            </a:endParaRPr>
          </a:p>
        </p:txBody>
      </p:sp>
    </p:spTree>
    <p:extLst>
      <p:ext uri="{BB962C8B-B14F-4D97-AF65-F5344CB8AC3E}">
        <p14:creationId xmlns:p14="http://schemas.microsoft.com/office/powerpoint/2010/main" val="943702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14C3E0CB-E307-4C57-2E2E-13B86DD8738A}"/>
              </a:ext>
            </a:extLst>
          </p:cNvPr>
          <p:cNvSpPr txBox="1">
            <a:spLocks noChangeArrowheads="1"/>
          </p:cNvSpPr>
          <p:nvPr/>
        </p:nvSpPr>
        <p:spPr>
          <a:xfrm>
            <a:off x="209550" y="271463"/>
            <a:ext cx="6762750" cy="509587"/>
          </a:xfrm>
          <a:prstGeom prst="rect">
            <a:avLst/>
          </a:prstGeom>
          <a:noFill/>
          <a:effectLst/>
        </p:spPr>
        <p:txBody>
          <a:bodyPr lIns="91440" tIns="45720" rIns="91440" bIns="45720" anchor="ctr">
            <a:normAutofit fontScale="92500" lnSpcReduction="20000"/>
          </a:bodyPr>
          <a:lstStyle/>
          <a:p>
            <a:pPr defTabSz="685800" eaLnBrk="1" fontAlgn="auto" hangingPunct="1">
              <a:lnSpc>
                <a:spcPct val="90000"/>
              </a:lnSpc>
              <a:spcAft>
                <a:spcPts val="0"/>
              </a:spcAft>
              <a:defRPr/>
            </a:pPr>
            <a:r>
              <a:rPr lang="en-IN" altLang="en-US" sz="3800" b="1" dirty="0">
                <a:solidFill>
                  <a:srgbClr val="C00000"/>
                </a:solidFill>
                <a:effectLst>
                  <a:outerShdw blurRad="38100" dist="38100" dir="2700000" algn="tl">
                    <a:srgbClr val="000000"/>
                  </a:outerShdw>
                </a:effectLst>
                <a:latin typeface="+mj-lt"/>
                <a:ea typeface="Calibri"/>
                <a:cs typeface="Calibri"/>
              </a:rPr>
              <a:t>SCOPE</a:t>
            </a:r>
            <a:endParaRPr lang="en-IN" altLang="en-US" sz="3800" b="1" dirty="0">
              <a:solidFill>
                <a:srgbClr val="C00000"/>
              </a:solidFill>
              <a:effectLst>
                <a:outerShdw blurRad="38100" dist="38100" dir="2700000" algn="tl">
                  <a:srgbClr val="000000"/>
                </a:outerShdw>
              </a:effectLst>
              <a:latin typeface="+mj-lt"/>
              <a:ea typeface="+mj-ea"/>
              <a:cs typeface="+mj-cs"/>
            </a:endParaRPr>
          </a:p>
        </p:txBody>
      </p:sp>
      <p:sp>
        <p:nvSpPr>
          <p:cNvPr id="13315" name="Content Placeholder 2">
            <a:extLst>
              <a:ext uri="{FF2B5EF4-FFF2-40B4-BE49-F238E27FC236}">
                <a16:creationId xmlns:a16="http://schemas.microsoft.com/office/drawing/2014/main" id="{B20C5F48-4DC8-AD96-5E4F-7BC79C354718}"/>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3316" name="Content Placeholder 2">
            <a:extLst>
              <a:ext uri="{FF2B5EF4-FFF2-40B4-BE49-F238E27FC236}">
                <a16:creationId xmlns:a16="http://schemas.microsoft.com/office/drawing/2014/main" id="{018C6C64-85D4-D1A5-CBD6-53B0AD5F70EC}"/>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3317" name="Rectangle 1">
            <a:extLst>
              <a:ext uri="{FF2B5EF4-FFF2-40B4-BE49-F238E27FC236}">
                <a16:creationId xmlns:a16="http://schemas.microsoft.com/office/drawing/2014/main" id="{AD89E890-9B87-02BB-2350-1A5282523208}"/>
              </a:ext>
            </a:extLst>
          </p:cNvPr>
          <p:cNvSpPr>
            <a:spLocks noChangeArrowheads="1"/>
          </p:cNvSpPr>
          <p:nvPr/>
        </p:nvSpPr>
        <p:spPr bwMode="auto">
          <a:xfrm>
            <a:off x="446762" y="1004046"/>
            <a:ext cx="8084463" cy="4093428"/>
          </a:xfrm>
          <a:prstGeom prst="rect">
            <a:avLst/>
          </a:prstGeom>
          <a:noFill/>
          <a:ln>
            <a:noFill/>
          </a:ln>
        </p:spPr>
        <p:txBody>
          <a:bodyPr wrap="square" lIns="91440" tIns="45720" rIns="91440" bIns="45720" anchor="t">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r>
              <a:rPr lang="en-US" sz="2000" dirty="0">
                <a:latin typeface="+mn-lt"/>
                <a:ea typeface="Calibri"/>
                <a:cs typeface="Calibri"/>
              </a:rPr>
              <a:t>The scope of this project focuses on developing a robust EEG-based emotion detection system that integrates advanced feature extraction, selection, and classification techniques. The system will utilize the Extra Trees Classifier for feature extraction, the PSO Feature Model Selector for optimizing feature selection with KNN, SVM, and Random Forest, and a hybrid CNN-LSTM model for emotion classification. The project will also incorporate Roberta Similarity to enhance emotion recognition accuracy by evaluating EEG signal patterns. The primary goal is to improve emotion detection accuracy, efficiency, and real-time processing, making the system suitable for applications in healthcare, human-computer interaction, and mental health monitoring. Future work may extend the system to real time emotion detection in various environments, including wearable EEG devices and interactive systems.</a:t>
            </a:r>
            <a:endParaRPr lang="en-US" sz="2000">
              <a:ea typeface="Calibri"/>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6A071CF0-9320-C4AF-F4D5-934AAA968C84}"/>
              </a:ext>
            </a:extLst>
          </p:cNvPr>
          <p:cNvSpPr txBox="1">
            <a:spLocks noChangeArrowheads="1"/>
          </p:cNvSpPr>
          <p:nvPr/>
        </p:nvSpPr>
        <p:spPr>
          <a:xfrm>
            <a:off x="209550" y="271463"/>
            <a:ext cx="6762750" cy="509587"/>
          </a:xfrm>
          <a:prstGeom prst="rect">
            <a:avLst/>
          </a:prstGeom>
          <a:noFill/>
          <a:effectLst/>
        </p:spPr>
        <p:txBody>
          <a:bodyPr anchor="ctr">
            <a:normAutofit fontScale="25000" lnSpcReduction="20000"/>
          </a:bodyPr>
          <a:lstStyle/>
          <a:p>
            <a:pPr defTabSz="685800" eaLnBrk="1" fontAlgn="auto" hangingPunct="1">
              <a:lnSpc>
                <a:spcPct val="90000"/>
              </a:lnSpc>
              <a:spcAft>
                <a:spcPts val="0"/>
              </a:spcAft>
              <a:defRPr/>
            </a:pPr>
            <a:endParaRPr lang="en-IN" altLang="en-US" sz="3800" b="1" dirty="0">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r>
              <a:rPr lang="en-US" altLang="en-US" sz="12800" b="1" dirty="0">
                <a:solidFill>
                  <a:srgbClr val="C00000"/>
                </a:solidFill>
                <a:effectLst>
                  <a:outerShdw blurRad="38100" dist="38100" dir="2700000" algn="tl">
                    <a:srgbClr val="000000"/>
                  </a:outerShdw>
                </a:effectLst>
                <a:latin typeface="+mj-lt"/>
                <a:ea typeface="+mj-ea"/>
                <a:cs typeface="+mj-cs"/>
              </a:rPr>
              <a:t>EXISTING SYSTEM</a:t>
            </a:r>
            <a:endParaRPr lang="en-IN" altLang="en-US" sz="12800" b="1" dirty="0">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endParaRPr lang="en-IN" altLang="en-US" sz="3800" b="1" dirty="0">
              <a:solidFill>
                <a:srgbClr val="C00000"/>
              </a:solidFill>
              <a:effectLst>
                <a:outerShdw blurRad="38100" dist="38100" dir="2700000" algn="tl">
                  <a:srgbClr val="000000"/>
                </a:outerShdw>
              </a:effectLst>
              <a:latin typeface="+mj-lt"/>
              <a:ea typeface="+mj-ea"/>
              <a:cs typeface="+mj-cs"/>
            </a:endParaRPr>
          </a:p>
        </p:txBody>
      </p:sp>
      <p:sp>
        <p:nvSpPr>
          <p:cNvPr id="14339" name="Content Placeholder 2">
            <a:extLst>
              <a:ext uri="{FF2B5EF4-FFF2-40B4-BE49-F238E27FC236}">
                <a16:creationId xmlns:a16="http://schemas.microsoft.com/office/drawing/2014/main" id="{FBD9185A-432D-EE57-67AD-7D4C083A2E89}"/>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4340" name="Content Placeholder 2">
            <a:extLst>
              <a:ext uri="{FF2B5EF4-FFF2-40B4-BE49-F238E27FC236}">
                <a16:creationId xmlns:a16="http://schemas.microsoft.com/office/drawing/2014/main" id="{84779EB3-1230-8A9F-DDC1-33B3A53EC481}"/>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4341" name="Rectangle 1">
            <a:extLst>
              <a:ext uri="{FF2B5EF4-FFF2-40B4-BE49-F238E27FC236}">
                <a16:creationId xmlns:a16="http://schemas.microsoft.com/office/drawing/2014/main" id="{19CB2CEB-2E52-27C6-0CEE-912DA44ED424}"/>
              </a:ext>
            </a:extLst>
          </p:cNvPr>
          <p:cNvSpPr>
            <a:spLocks noChangeArrowheads="1"/>
          </p:cNvSpPr>
          <p:nvPr/>
        </p:nvSpPr>
        <p:spPr bwMode="auto">
          <a:xfrm>
            <a:off x="358587" y="1036980"/>
            <a:ext cx="8110725" cy="6046271"/>
          </a:xfrm>
          <a:prstGeom prst="rect">
            <a:avLst/>
          </a:prstGeom>
          <a:noFill/>
          <a:ln>
            <a:noFill/>
          </a:ln>
        </p:spPr>
        <p:txBody>
          <a:bodyPr wrap="square" lIns="91440" tIns="45720" rIns="91440" bIns="45720" anchor="t">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342900" indent="-342900" algn="just">
              <a:buFont typeface="Wingdings"/>
              <a:buChar char="§"/>
            </a:pPr>
            <a:r>
              <a:rPr lang="en-US" sz="2000" dirty="0">
                <a:latin typeface="+mn-lt"/>
              </a:rPr>
              <a:t>Existing EEG-based emotion detection systems mainly depend on traditional machine learning algorithms such as Support Vector Machine (SVM), K-Nearest Neighbors (KNN), and Random Forest. These approaches require manual extraction of statistical features from EEG signals, including frequency bands and power spectral values. Since EEG data is complex and highly noisy, these models struggle to identify meaningful emotional patterns accurately.</a:t>
            </a:r>
            <a:endParaRPr lang="en-US" sz="2000">
              <a:ea typeface="Calibri"/>
              <a:cs typeface="Calibri"/>
            </a:endParaRPr>
          </a:p>
          <a:p>
            <a:pPr algn="just"/>
            <a:endParaRPr lang="en-US" sz="2000" dirty="0">
              <a:latin typeface="+mn-lt"/>
              <a:ea typeface="Calibri"/>
              <a:cs typeface="Calibri"/>
            </a:endParaRPr>
          </a:p>
          <a:p>
            <a:pPr marL="342900" indent="-342900" algn="just">
              <a:buFont typeface="Wingdings"/>
              <a:buChar char="§"/>
            </a:pPr>
            <a:r>
              <a:rPr lang="en-US" sz="2000" dirty="0">
                <a:latin typeface="+mn-lt"/>
              </a:rPr>
              <a:t>Most traditional methods analyze EEG signals as static data and fail to capture temporal changes in brain activity over time. Emotional states vary continuously, and conventional classifiers cannot effectively learn these sequential dependencies. As a result, the performance of these systems becomes inconsistent across different users and conditions.</a:t>
            </a:r>
            <a:endParaRPr lang="en-US" sz="2000" dirty="0">
              <a:latin typeface="+mn-lt"/>
              <a:ea typeface="Calibri"/>
              <a:cs typeface="Calibri"/>
            </a:endParaRPr>
          </a:p>
          <a:p>
            <a:pPr algn="just"/>
            <a:endParaRPr lang="en-US" sz="2000" dirty="0">
              <a:latin typeface="+mn-lt"/>
              <a:ea typeface="Calibri"/>
              <a:cs typeface="Calibri"/>
            </a:endParaRPr>
          </a:p>
          <a:p>
            <a:pPr marL="342900" indent="-342900" algn="just">
              <a:buFont typeface="Wingdings"/>
              <a:buChar char="§"/>
            </a:pPr>
            <a:r>
              <a:rPr lang="en-US" sz="2000" dirty="0">
                <a:latin typeface="+mn-lt"/>
              </a:rPr>
              <a:t>Due to high dimensionality and noise in EEG signals, existing systems often show lower accuracy and poor real-time capability. They require significant preprocessing and still cannot generalize well for practical healthcare or human-computer interaction applications.</a:t>
            </a:r>
            <a:endParaRPr lang="en-US" sz="2000" dirty="0">
              <a:latin typeface="+mn-lt"/>
              <a:ea typeface="Calibri"/>
              <a:cs typeface="Calibri"/>
            </a:endParaRPr>
          </a:p>
          <a:p>
            <a:pPr algn="just">
              <a:lnSpc>
                <a:spcPct val="150000"/>
              </a:lnSpc>
              <a:spcAft>
                <a:spcPts val="1000"/>
              </a:spcAft>
              <a:defRPr/>
            </a:pPr>
            <a:endParaRPr lang="en-IN" altLang="en-US" sz="2000" dirty="0">
              <a:latin typeface="+mn-lt"/>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0B544-C6E8-49F7-7A16-CF75B4228DA1}"/>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B1162E46-07BD-CE45-78E7-4BEA8E0E56FF}"/>
              </a:ext>
            </a:extLst>
          </p:cNvPr>
          <p:cNvSpPr txBox="1">
            <a:spLocks noChangeArrowheads="1"/>
          </p:cNvSpPr>
          <p:nvPr/>
        </p:nvSpPr>
        <p:spPr>
          <a:xfrm>
            <a:off x="209550" y="271463"/>
            <a:ext cx="6762750" cy="509587"/>
          </a:xfrm>
          <a:prstGeom prst="rect">
            <a:avLst/>
          </a:prstGeom>
          <a:noFill/>
          <a:effectLst/>
        </p:spPr>
        <p:txBody>
          <a:bodyPr anchor="ctr">
            <a:normAutofit fontScale="25000" lnSpcReduction="20000"/>
          </a:bodyPr>
          <a:lstStyle/>
          <a:p>
            <a:pPr defTabSz="685800" eaLnBrk="1" fontAlgn="auto" hangingPunct="1">
              <a:lnSpc>
                <a:spcPct val="90000"/>
              </a:lnSpc>
              <a:spcAft>
                <a:spcPts val="0"/>
              </a:spcAft>
              <a:defRPr/>
            </a:pPr>
            <a:endParaRPr lang="en-IN" altLang="en-US" sz="3800" b="1" dirty="0">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r>
              <a:rPr lang="en-US" altLang="en-US" sz="12800" b="1" dirty="0">
                <a:solidFill>
                  <a:srgbClr val="C00000"/>
                </a:solidFill>
                <a:effectLst>
                  <a:outerShdw blurRad="38100" dist="38100" dir="2700000" algn="tl">
                    <a:srgbClr val="000000"/>
                  </a:outerShdw>
                </a:effectLst>
                <a:latin typeface="+mj-lt"/>
                <a:ea typeface="+mj-ea"/>
                <a:cs typeface="+mj-cs"/>
              </a:rPr>
              <a:t>DRAWBACKS</a:t>
            </a:r>
            <a:endParaRPr lang="en-IN" altLang="en-US" sz="12800" b="1" dirty="0">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endParaRPr lang="en-IN" altLang="en-US" sz="3800" b="1" dirty="0">
              <a:solidFill>
                <a:srgbClr val="C00000"/>
              </a:solidFill>
              <a:effectLst>
                <a:outerShdw blurRad="38100" dist="38100" dir="2700000" algn="tl">
                  <a:srgbClr val="000000"/>
                </a:outerShdw>
              </a:effectLst>
              <a:latin typeface="+mj-lt"/>
              <a:ea typeface="+mj-ea"/>
              <a:cs typeface="+mj-cs"/>
            </a:endParaRPr>
          </a:p>
        </p:txBody>
      </p:sp>
      <p:sp>
        <p:nvSpPr>
          <p:cNvPr id="14339" name="Content Placeholder 2">
            <a:extLst>
              <a:ext uri="{FF2B5EF4-FFF2-40B4-BE49-F238E27FC236}">
                <a16:creationId xmlns:a16="http://schemas.microsoft.com/office/drawing/2014/main" id="{3ECEEB65-5F50-DA4E-5820-12392CE11110}"/>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4340" name="Content Placeholder 2">
            <a:extLst>
              <a:ext uri="{FF2B5EF4-FFF2-40B4-BE49-F238E27FC236}">
                <a16:creationId xmlns:a16="http://schemas.microsoft.com/office/drawing/2014/main" id="{E750FBD1-7626-5B08-A3F3-E6F39643059E}"/>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 name="TextBox 1"/>
          <p:cNvSpPr txBox="1"/>
          <p:nvPr/>
        </p:nvSpPr>
        <p:spPr>
          <a:xfrm>
            <a:off x="385010" y="943275"/>
            <a:ext cx="8441355" cy="5293895"/>
          </a:xfrm>
          <a:prstGeom prst="rect">
            <a:avLst/>
          </a:prstGeom>
        </p:spPr>
        <p:txBody>
          <a:bodyPr vert="horz" wrap="square" lIns="91440" tIns="45720" rIns="91440" bIns="45720" rtlCol="0" anchor="t">
            <a:noAutofit/>
          </a:bodyPr>
          <a:lstStyle/>
          <a:p>
            <a:pPr algn="just"/>
            <a:r>
              <a:rPr lang="en-US" sz="2000" b="1" dirty="0">
                <a:latin typeface="+mn-lt"/>
                <a:ea typeface="Calibri"/>
                <a:cs typeface="Calibri"/>
              </a:rPr>
              <a:t>1. Data &amp; Signal Issues</a:t>
            </a:r>
            <a:endParaRPr lang="en-US" sz="2000">
              <a:ea typeface="Calibri"/>
              <a:cs typeface="Calibri"/>
            </a:endParaRPr>
          </a:p>
          <a:p>
            <a:pPr marL="285750" indent="-285750" algn="just">
              <a:buFont typeface="Arial"/>
              <a:buChar char="•"/>
            </a:pPr>
            <a:r>
              <a:rPr lang="en-US" sz="2000" dirty="0">
                <a:latin typeface="+mn-lt"/>
                <a:ea typeface="Calibri"/>
                <a:cs typeface="Calibri"/>
              </a:rPr>
              <a:t>EEG signals are noisy due to body movements and external disturbances.</a:t>
            </a:r>
            <a:endParaRPr lang="en-US" sz="2000" dirty="0">
              <a:ea typeface="Calibri"/>
              <a:cs typeface="Calibri"/>
            </a:endParaRPr>
          </a:p>
          <a:p>
            <a:pPr marL="285750" indent="-285750" algn="just">
              <a:buFont typeface="Arial"/>
              <a:buChar char="•"/>
            </a:pPr>
            <a:r>
              <a:rPr lang="en-US" sz="2000" dirty="0">
                <a:latin typeface="+mn-lt"/>
                <a:ea typeface="Calibri"/>
                <a:cs typeface="Calibri"/>
              </a:rPr>
              <a:t>High-dimensional data increases processing time and complexity.</a:t>
            </a:r>
            <a:endParaRPr lang="en-US" sz="2000" dirty="0">
              <a:ea typeface="Calibri"/>
              <a:cs typeface="Calibri"/>
            </a:endParaRPr>
          </a:p>
          <a:p>
            <a:pPr algn="just"/>
            <a:endParaRPr lang="en-US" sz="2000" dirty="0">
              <a:latin typeface="+mn-lt"/>
              <a:ea typeface="Calibri"/>
              <a:cs typeface="Calibri"/>
            </a:endParaRPr>
          </a:p>
          <a:p>
            <a:pPr algn="just"/>
            <a:r>
              <a:rPr lang="en-US" sz="2000" b="1" dirty="0">
                <a:latin typeface="+mn-lt"/>
                <a:ea typeface="Calibri"/>
                <a:cs typeface="Calibri"/>
              </a:rPr>
              <a:t>2. Feature Extraction Limitations</a:t>
            </a:r>
            <a:endParaRPr lang="en-US" sz="2000">
              <a:ea typeface="Calibri"/>
              <a:cs typeface="Calibri"/>
            </a:endParaRPr>
          </a:p>
          <a:p>
            <a:pPr marL="285750" indent="-285750" algn="just">
              <a:buFont typeface="Arial"/>
              <a:buChar char="•"/>
            </a:pPr>
            <a:r>
              <a:rPr lang="en-US" sz="2000" dirty="0">
                <a:latin typeface="+mn-lt"/>
                <a:ea typeface="Calibri"/>
                <a:cs typeface="Calibri"/>
              </a:rPr>
              <a:t>Manual feature extraction may miss important emotional information.</a:t>
            </a:r>
            <a:endParaRPr lang="en-US" sz="2000" dirty="0">
              <a:ea typeface="Calibri"/>
              <a:cs typeface="Calibri"/>
            </a:endParaRPr>
          </a:p>
          <a:p>
            <a:pPr marL="285750" indent="-285750" algn="just">
              <a:buFont typeface="Arial"/>
              <a:buChar char="•"/>
            </a:pPr>
            <a:r>
              <a:rPr lang="en-US" sz="2000" dirty="0">
                <a:latin typeface="+mn-lt"/>
                <a:ea typeface="Calibri"/>
                <a:cs typeface="Calibri"/>
              </a:rPr>
              <a:t>Static features cannot capture changes in brain activity over time.</a:t>
            </a:r>
            <a:endParaRPr lang="en-US" sz="2000" dirty="0">
              <a:ea typeface="Calibri"/>
              <a:cs typeface="Calibri"/>
            </a:endParaRPr>
          </a:p>
          <a:p>
            <a:pPr algn="just"/>
            <a:endParaRPr lang="en-US" sz="2000" dirty="0">
              <a:ea typeface="Calibri"/>
              <a:cs typeface="Calibri"/>
            </a:endParaRPr>
          </a:p>
          <a:p>
            <a:pPr algn="just"/>
            <a:r>
              <a:rPr lang="en-US" sz="2000" b="1" dirty="0">
                <a:latin typeface="+mn-lt"/>
                <a:ea typeface="Calibri"/>
                <a:cs typeface="Calibri"/>
              </a:rPr>
              <a:t>3. Model Performance Issues</a:t>
            </a:r>
            <a:endParaRPr lang="en-US" sz="2000">
              <a:ea typeface="Calibri"/>
              <a:cs typeface="Calibri"/>
            </a:endParaRPr>
          </a:p>
          <a:p>
            <a:pPr marL="285750" indent="-285750" algn="just">
              <a:buFont typeface="Arial"/>
              <a:buChar char="•"/>
            </a:pPr>
            <a:r>
              <a:rPr lang="en-US" sz="2000" dirty="0">
                <a:latin typeface="+mn-lt"/>
                <a:ea typeface="Calibri"/>
                <a:cs typeface="Calibri"/>
              </a:rPr>
              <a:t>Traditional models cannot capture spatial and temporal patterns effectively.</a:t>
            </a:r>
            <a:endParaRPr lang="en-US" sz="2000" dirty="0">
              <a:ea typeface="Calibri"/>
              <a:cs typeface="Calibri"/>
            </a:endParaRPr>
          </a:p>
          <a:p>
            <a:pPr marL="285750" indent="-285750" algn="just">
              <a:buFont typeface="Arial"/>
              <a:buChar char="•"/>
            </a:pPr>
            <a:r>
              <a:rPr lang="en-US" sz="2000" dirty="0">
                <a:latin typeface="+mn-lt"/>
                <a:ea typeface="Calibri"/>
                <a:cs typeface="Calibri"/>
              </a:rPr>
              <a:t>Low accuracy for different users and emotional variations.</a:t>
            </a:r>
            <a:endParaRPr lang="en-US" sz="2000" dirty="0">
              <a:ea typeface="Calibri"/>
              <a:cs typeface="Calibri"/>
            </a:endParaRPr>
          </a:p>
          <a:p>
            <a:pPr algn="just"/>
            <a:endParaRPr lang="en-US" sz="2000" dirty="0">
              <a:latin typeface="+mn-lt"/>
              <a:ea typeface="Calibri"/>
              <a:cs typeface="Calibri"/>
            </a:endParaRPr>
          </a:p>
          <a:p>
            <a:pPr algn="just"/>
            <a:r>
              <a:rPr lang="en-US" sz="2000" b="1" dirty="0">
                <a:latin typeface="+mn-lt"/>
                <a:ea typeface="Calibri"/>
                <a:cs typeface="Calibri"/>
              </a:rPr>
              <a:t>4. Real-Time &amp; Practical Challenges</a:t>
            </a:r>
            <a:endParaRPr lang="en-US" sz="2000">
              <a:ea typeface="Calibri"/>
              <a:cs typeface="Calibri"/>
            </a:endParaRPr>
          </a:p>
          <a:p>
            <a:pPr marL="285750" indent="-285750" algn="just">
              <a:buFont typeface="Arial"/>
              <a:buChar char="•"/>
            </a:pPr>
            <a:r>
              <a:rPr lang="en-US" sz="2000" dirty="0">
                <a:latin typeface="+mn-lt"/>
                <a:ea typeface="Calibri"/>
                <a:cs typeface="Calibri"/>
              </a:rPr>
              <a:t>Requires heavy preprocessing, making real-time detection difficult.</a:t>
            </a:r>
            <a:endParaRPr lang="en-US" sz="2000" dirty="0">
              <a:ea typeface="Calibri"/>
              <a:cs typeface="Calibri"/>
            </a:endParaRPr>
          </a:p>
          <a:p>
            <a:pPr marL="285750" indent="-285750" algn="just">
              <a:buFont typeface="Arial"/>
              <a:buChar char="•"/>
            </a:pPr>
            <a:r>
              <a:rPr lang="en-US" sz="2000" dirty="0">
                <a:latin typeface="+mn-lt"/>
                <a:ea typeface="Calibri"/>
                <a:cs typeface="Calibri"/>
              </a:rPr>
              <a:t>Hard to implement in real-world applications.</a:t>
            </a:r>
            <a:endParaRPr lang="en-US" sz="2000" dirty="0"/>
          </a:p>
          <a:p>
            <a:pPr algn="just"/>
            <a:endParaRPr lang="en-US" b="1" dirty="0">
              <a:latin typeface="+mn-lt"/>
              <a:ea typeface="Calibri"/>
              <a:cs typeface="Calibri"/>
            </a:endParaRPr>
          </a:p>
          <a:p>
            <a:pPr marL="0" indent="0" algn="l">
              <a:lnSpc>
                <a:spcPts val="1800"/>
              </a:lnSpc>
              <a:spcAft>
                <a:spcPts val="600"/>
              </a:spcAft>
              <a:buNone/>
            </a:pPr>
            <a:endParaRPr lang="en-IN" dirty="0">
              <a:solidFill>
                <a:prstClr val="black">
                  <a:lumMod val="75000"/>
                  <a:lumOff val="25000"/>
                </a:prstClr>
              </a:solidFill>
              <a:latin typeface="+mn-lt"/>
              <a:cs typeface="Segoe UI" panose="020B0502040204020203" pitchFamily="34" charset="0"/>
            </a:endParaRPr>
          </a:p>
        </p:txBody>
      </p:sp>
    </p:spTree>
    <p:extLst>
      <p:ext uri="{BB962C8B-B14F-4D97-AF65-F5344CB8AC3E}">
        <p14:creationId xmlns:p14="http://schemas.microsoft.com/office/powerpoint/2010/main" val="937270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BA84C-5F89-72CB-3942-7871004144E9}"/>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5AB318D3-E972-DE6C-D5E3-DE4C6A45328D}"/>
              </a:ext>
            </a:extLst>
          </p:cNvPr>
          <p:cNvSpPr txBox="1">
            <a:spLocks noChangeArrowheads="1"/>
          </p:cNvSpPr>
          <p:nvPr/>
        </p:nvSpPr>
        <p:spPr>
          <a:xfrm>
            <a:off x="103672" y="98894"/>
            <a:ext cx="6762750" cy="709628"/>
          </a:xfrm>
          <a:prstGeom prst="rect">
            <a:avLst/>
          </a:prstGeom>
          <a:noFill/>
          <a:effectLst/>
        </p:spPr>
        <p:txBody>
          <a:bodyPr anchor="ctr">
            <a:noAutofit/>
          </a:bodyPr>
          <a:lstStyle/>
          <a:p>
            <a:pPr defTabSz="685800" eaLnBrk="1" fontAlgn="auto" hangingPunct="1">
              <a:lnSpc>
                <a:spcPct val="90000"/>
              </a:lnSpc>
              <a:spcAft>
                <a:spcPts val="0"/>
              </a:spcAft>
              <a:defRPr/>
            </a:pPr>
            <a:endParaRPr lang="en-IN" altLang="en-US" sz="3200" b="1" dirty="0">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 PROPOSED SYSTEM</a:t>
            </a:r>
            <a:endParaRPr lang="en-IN" altLang="en-US" sz="3200" b="1" dirty="0">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14339" name="Content Placeholder 2">
            <a:extLst>
              <a:ext uri="{FF2B5EF4-FFF2-40B4-BE49-F238E27FC236}">
                <a16:creationId xmlns:a16="http://schemas.microsoft.com/office/drawing/2014/main" id="{08EE898D-F161-7164-C570-821BBFFCA234}"/>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4340" name="Content Placeholder 2">
            <a:extLst>
              <a:ext uri="{FF2B5EF4-FFF2-40B4-BE49-F238E27FC236}">
                <a16:creationId xmlns:a16="http://schemas.microsoft.com/office/drawing/2014/main" id="{AE3EE820-55D6-7DE4-ADE9-BF2C7E4561FC}"/>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 name="TextBox 1">
            <a:extLst>
              <a:ext uri="{FF2B5EF4-FFF2-40B4-BE49-F238E27FC236}">
                <a16:creationId xmlns:a16="http://schemas.microsoft.com/office/drawing/2014/main" id="{568BFF5B-1B27-0CFA-697D-BCB1C5D449C0}"/>
              </a:ext>
            </a:extLst>
          </p:cNvPr>
          <p:cNvSpPr txBox="1"/>
          <p:nvPr/>
        </p:nvSpPr>
        <p:spPr>
          <a:xfrm>
            <a:off x="457199" y="1523757"/>
            <a:ext cx="8388417" cy="5050298"/>
          </a:xfrm>
          <a:prstGeom prst="rect">
            <a:avLst/>
          </a:prstGeom>
        </p:spPr>
        <p:txBody>
          <a:bodyPr vert="horz" wrap="square" lIns="91440" tIns="45720" rIns="91440" bIns="45720" rtlCol="0" anchor="t">
            <a:noAutofit/>
          </a:bodyPr>
          <a:lstStyle/>
          <a:p>
            <a:pPr algn="just"/>
            <a:r>
              <a:rPr lang="en-US" sz="2000" dirty="0">
                <a:latin typeface="Calibri"/>
                <a:ea typeface="Calibri"/>
                <a:cs typeface="Calibri"/>
              </a:rPr>
              <a:t>The proposed system improves EEG-based emotion detection by combining advanced feature extraction, selection, and classification methods. Important features are extracted from EEG signals using the Extra Trees Classifier to reduce noise and data complexity. The best features are then selected using the PSO Feature Model Selector with KNN, SVM, and Random Forest to improve accuracy. For emotion classification, a hybrid CNN-LSTM model is used to capture both spatial and temporal patterns in the EEG data, along with Roberta Similarity to compare signal patterns. </a:t>
            </a:r>
            <a:r>
              <a:rPr lang="en-US" sz="2000" dirty="0" err="1">
                <a:latin typeface="Calibri"/>
                <a:ea typeface="Calibri"/>
                <a:cs typeface="Calibri"/>
              </a:rPr>
              <a:t>DeepConvNet</a:t>
            </a:r>
            <a:r>
              <a:rPr lang="en-US" sz="2000" dirty="0">
                <a:latin typeface="Calibri"/>
                <a:ea typeface="Calibri"/>
                <a:cs typeface="Calibri"/>
              </a:rPr>
              <a:t> is also used to learn hierarchical features directly from raw EEG signals. The system is designed for real-time emotion detection and is suitable for applications in healthcare, human-computer interaction, and mental health monitoring, providing improved accuracy and reliable performance compared to existing systems.</a:t>
            </a:r>
            <a:endParaRPr lang="en-US" dirty="0">
              <a:latin typeface="Calibri"/>
              <a:ea typeface="Calibri"/>
              <a:cs typeface="Calibri"/>
            </a:endParaRPr>
          </a:p>
          <a:p>
            <a:pPr algn="just"/>
            <a:endParaRPr lang="en-US" dirty="0">
              <a:solidFill>
                <a:srgbClr val="000000"/>
              </a:solidFill>
              <a:latin typeface="Calibri"/>
              <a:ea typeface="Calibri"/>
              <a:cs typeface="Calibri"/>
            </a:endParaRPr>
          </a:p>
        </p:txBody>
      </p:sp>
    </p:spTree>
    <p:extLst>
      <p:ext uri="{BB962C8B-B14F-4D97-AF65-F5344CB8AC3E}">
        <p14:creationId xmlns:p14="http://schemas.microsoft.com/office/powerpoint/2010/main" val="2286308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93241F-A8B7-22B7-FE96-EABBC914A882}"/>
              </a:ext>
            </a:extLst>
          </p:cNvPr>
          <p:cNvSpPr>
            <a:spLocks noGrp="1"/>
          </p:cNvSpPr>
          <p:nvPr>
            <p:ph idx="1"/>
          </p:nvPr>
        </p:nvSpPr>
        <p:spPr>
          <a:xfrm>
            <a:off x="363894" y="905068"/>
            <a:ext cx="8042988" cy="5699417"/>
          </a:xfrm>
        </p:spPr>
        <p:txBody>
          <a:bodyPr>
            <a:noAutofit/>
          </a:bodyPr>
          <a:lstStyle/>
          <a:p>
            <a:pPr algn="just">
              <a:buNone/>
            </a:pPr>
            <a:r>
              <a:rPr lang="en-IN" b="1" dirty="0"/>
              <a:t>High Classification Accuracy: </a:t>
            </a:r>
            <a:r>
              <a:rPr lang="en-IN" dirty="0"/>
              <a:t>Uses Extra Trees for feature extraction and PSO for optimized selection, ensuring only the most relevant features improve emotion recognition.</a:t>
            </a:r>
          </a:p>
          <a:p>
            <a:pPr algn="just">
              <a:buNone/>
            </a:pPr>
            <a:r>
              <a:rPr lang="en-IN" b="1" dirty="0"/>
              <a:t>Optimized Feature Selection: </a:t>
            </a:r>
            <a:r>
              <a:rPr lang="en-IN" dirty="0"/>
              <a:t>PSO with KNN, SVM, and Random Forest handles high-dimensional EEG data efficiently, reducing redundancy.</a:t>
            </a:r>
          </a:p>
          <a:p>
            <a:pPr algn="just">
              <a:buNone/>
            </a:pPr>
            <a:r>
              <a:rPr lang="en-IN" b="1" dirty="0"/>
              <a:t>Real-Time Processing: </a:t>
            </a:r>
            <a:r>
              <a:rPr lang="en-IN" dirty="0"/>
              <a:t>Supports instant emotion detection for healthcare monitoring and human-computer interaction.</a:t>
            </a:r>
          </a:p>
          <a:p>
            <a:pPr algn="just">
              <a:buNone/>
            </a:pPr>
            <a:r>
              <a:rPr lang="en-IN" b="1" dirty="0"/>
              <a:t>Hybrid Deep Learning: </a:t>
            </a:r>
            <a:r>
              <a:rPr lang="en-IN" dirty="0"/>
              <a:t>CNN + LSTM captures spatial and temporal EEG features, boosting accuracy and robustness.</a:t>
            </a:r>
          </a:p>
          <a:p>
            <a:pPr algn="just">
              <a:buNone/>
            </a:pPr>
            <a:r>
              <a:rPr lang="en-IN" b="1" dirty="0"/>
              <a:t>Enhanced Generalization: </a:t>
            </a:r>
            <a:r>
              <a:rPr lang="en-IN" dirty="0"/>
              <a:t>Advanced models like Roberta Similarity and DeepConvNet ensure consistent performance across users and conditions.</a:t>
            </a:r>
          </a:p>
          <a:p>
            <a:pPr algn="just">
              <a:buNone/>
            </a:pPr>
            <a:r>
              <a:rPr lang="en-IN" b="1" dirty="0"/>
              <a:t>Scalability &amp; Flexibility: </a:t>
            </a:r>
            <a:r>
              <a:rPr lang="en-IN" dirty="0"/>
              <a:t>Modular design enables integration into wearables, mobile devices, and edge computing.</a:t>
            </a:r>
          </a:p>
        </p:txBody>
      </p:sp>
      <p:sp>
        <p:nvSpPr>
          <p:cNvPr id="4" name="Title 3">
            <a:extLst>
              <a:ext uri="{FF2B5EF4-FFF2-40B4-BE49-F238E27FC236}">
                <a16:creationId xmlns:a16="http://schemas.microsoft.com/office/drawing/2014/main" id="{17DA2BEA-ED77-B507-DB76-191F4F761324}"/>
              </a:ext>
            </a:extLst>
          </p:cNvPr>
          <p:cNvSpPr>
            <a:spLocks noGrp="1"/>
          </p:cNvSpPr>
          <p:nvPr>
            <p:ph type="title"/>
          </p:nvPr>
        </p:nvSpPr>
        <p:spPr/>
        <p:txBody>
          <a:bodyPr/>
          <a:lstStyle/>
          <a:p>
            <a:r>
              <a:rPr lang="en-US" dirty="0"/>
              <a:t>ADVANTAGES</a:t>
            </a:r>
            <a:endParaRPr lang="en-IN" dirty="0"/>
          </a:p>
        </p:txBody>
      </p:sp>
    </p:spTree>
    <p:extLst>
      <p:ext uri="{BB962C8B-B14F-4D97-AF65-F5344CB8AC3E}">
        <p14:creationId xmlns:p14="http://schemas.microsoft.com/office/powerpoint/2010/main" val="3993158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B9022-163C-0A67-D79B-E71892526001}"/>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06647BEE-8C52-A07B-C40D-4E11A2DFE22A}"/>
              </a:ext>
            </a:extLst>
          </p:cNvPr>
          <p:cNvSpPr txBox="1">
            <a:spLocks noChangeArrowheads="1"/>
          </p:cNvSpPr>
          <p:nvPr/>
        </p:nvSpPr>
        <p:spPr>
          <a:xfrm>
            <a:off x="103672" y="98894"/>
            <a:ext cx="6762750" cy="709628"/>
          </a:xfrm>
          <a:prstGeom prst="rect">
            <a:avLst/>
          </a:prstGeom>
          <a:noFill/>
          <a:effectLst/>
        </p:spPr>
        <p:txBody>
          <a:bodyPr lIns="91440" tIns="45720" rIns="91440" bIns="45720" anchor="ctr">
            <a:noAutofit/>
          </a:bodyPr>
          <a:lstStyle/>
          <a:p>
            <a:pPr defTabSz="685800" eaLnBrk="1" fontAlgn="auto" hangingPunct="1">
              <a:lnSpc>
                <a:spcPct val="90000"/>
              </a:lnSpc>
              <a:spcAft>
                <a:spcPts val="0"/>
              </a:spcAft>
              <a:defRPr/>
            </a:pPr>
            <a:endParaRPr lang="en-IN" altLang="en-US" sz="3200" b="1" dirty="0">
              <a:solidFill>
                <a:srgbClr val="C00000"/>
              </a:solidFill>
              <a:effectLst>
                <a:outerShdw blurRad="38100" dist="38100" dir="2700000" algn="tl">
                  <a:srgbClr val="000000"/>
                </a:outerShdw>
              </a:effectLst>
              <a:latin typeface="+mj-lt"/>
              <a:ea typeface="+mj-ea"/>
              <a:cs typeface="+mj-cs"/>
            </a:endParaRPr>
          </a:p>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Calibri"/>
                <a:cs typeface="Calibri"/>
              </a:rPr>
              <a:t>ARCHITECTURE</a:t>
            </a:r>
          </a:p>
          <a:p>
            <a:pPr defTabSz="685800" eaLnBrk="1" fontAlgn="auto" hangingPunct="1">
              <a:lnSpc>
                <a:spcPct val="90000"/>
              </a:lnSpc>
              <a:spcAft>
                <a:spcPts val="0"/>
              </a:spcAft>
              <a:defRPr/>
            </a:pP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14339" name="Content Placeholder 2">
            <a:extLst>
              <a:ext uri="{FF2B5EF4-FFF2-40B4-BE49-F238E27FC236}">
                <a16:creationId xmlns:a16="http://schemas.microsoft.com/office/drawing/2014/main" id="{00866C3E-04F3-9CAB-CF19-81C9837C3DB4}"/>
              </a:ext>
            </a:extLst>
          </p:cNvPr>
          <p:cNvSpPr>
            <a:spLocks noGrp="1" noChangeArrowheads="1"/>
          </p:cNvSpPr>
          <p:nvPr>
            <p:ph sz="half" idx="1"/>
          </p:nvPr>
        </p:nvSpPr>
        <p:spPr>
          <a:xfrm>
            <a:off x="457200" y="3544888"/>
            <a:ext cx="6067425" cy="1455737"/>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4340" name="Content Placeholder 2">
            <a:extLst>
              <a:ext uri="{FF2B5EF4-FFF2-40B4-BE49-F238E27FC236}">
                <a16:creationId xmlns:a16="http://schemas.microsoft.com/office/drawing/2014/main" id="{4E11FE66-9579-DAD1-90EA-9B5FDABA026B}"/>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pic>
        <p:nvPicPr>
          <p:cNvPr id="3" name="Picture 2" descr="A diagram of a process flow&#10;&#10;AI-generated content may be incorrect.">
            <a:extLst>
              <a:ext uri="{FF2B5EF4-FFF2-40B4-BE49-F238E27FC236}">
                <a16:creationId xmlns:a16="http://schemas.microsoft.com/office/drawing/2014/main" id="{4306A64F-42E7-A493-B3C3-DD715C87CC21}"/>
              </a:ext>
            </a:extLst>
          </p:cNvPr>
          <p:cNvPicPr>
            <a:picLocks noChangeAspect="1"/>
          </p:cNvPicPr>
          <p:nvPr/>
        </p:nvPicPr>
        <p:blipFill>
          <a:blip r:embed="rId2"/>
          <a:stretch>
            <a:fillRect/>
          </a:stretch>
        </p:blipFill>
        <p:spPr>
          <a:xfrm>
            <a:off x="1544549" y="803752"/>
            <a:ext cx="6524626" cy="5939427"/>
          </a:xfrm>
          <a:prstGeom prst="rect">
            <a:avLst/>
          </a:prstGeom>
        </p:spPr>
      </p:pic>
    </p:spTree>
    <p:extLst>
      <p:ext uri="{BB962C8B-B14F-4D97-AF65-F5344CB8AC3E}">
        <p14:creationId xmlns:p14="http://schemas.microsoft.com/office/powerpoint/2010/main" val="331893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90CC4F-26F9-9FAC-EF7C-6042869F8E6E}"/>
              </a:ext>
            </a:extLst>
          </p:cNvPr>
          <p:cNvSpPr>
            <a:spLocks noGrp="1"/>
          </p:cNvSpPr>
          <p:nvPr>
            <p:ph type="title"/>
          </p:nvPr>
        </p:nvSpPr>
        <p:spPr>
          <a:xfrm>
            <a:off x="74513" y="350119"/>
            <a:ext cx="6599237" cy="631658"/>
          </a:xfrm>
        </p:spPr>
        <p:txBody>
          <a:bodyPr>
            <a:noAutofit/>
          </a:bodyPr>
          <a:lstStyle/>
          <a:p>
            <a:pPr>
              <a:defRPr/>
            </a:pPr>
            <a:r>
              <a:rPr lang="en-IN" altLang="en-US" sz="3200" dirty="0">
                <a:effectLst>
                  <a:outerShdw blurRad="38100" dist="38100" dir="2700000" algn="tl">
                    <a:srgbClr val="000000"/>
                  </a:outerShdw>
                </a:effectLst>
              </a:rPr>
              <a:t>MODULES</a:t>
            </a:r>
            <a:br>
              <a:rPr lang="en-IN" altLang="en-US" sz="3200" dirty="0">
                <a:effectLst>
                  <a:outerShdw blurRad="38100" dist="38100" dir="2700000" algn="tl">
                    <a:srgbClr val="000000"/>
                  </a:outerShdw>
                </a:effectLst>
              </a:rPr>
            </a:br>
            <a:endParaRPr lang="en-IN" sz="3200" dirty="0"/>
          </a:p>
        </p:txBody>
      </p:sp>
      <p:sp>
        <p:nvSpPr>
          <p:cNvPr id="2" name="Content Placeholder 1"/>
          <p:cNvSpPr>
            <a:spLocks noGrp="1"/>
          </p:cNvSpPr>
          <p:nvPr>
            <p:ph idx="1"/>
          </p:nvPr>
        </p:nvSpPr>
        <p:spPr>
          <a:xfrm>
            <a:off x="203750" y="687920"/>
            <a:ext cx="8564864" cy="5732130"/>
          </a:xfrm>
        </p:spPr>
        <p:txBody>
          <a:bodyPr vert="horz" wrap="square" lIns="91440" tIns="45720" rIns="91440" bIns="45720" numCol="1" anchor="t" anchorCtr="0" compatLnSpc="1">
            <a:prstTxWarp prst="textNoShape">
              <a:avLst/>
            </a:prstTxWarp>
            <a:noAutofit/>
          </a:bodyPr>
          <a:lstStyle/>
          <a:p>
            <a:pPr>
              <a:buNone/>
            </a:pPr>
            <a:r>
              <a:rPr lang="en-IN" sz="2000" b="1" dirty="0">
                <a:ea typeface="+mn-lt"/>
                <a:cs typeface="+mn-lt"/>
              </a:rPr>
              <a:t>Module 1: Data Collection</a:t>
            </a:r>
            <a:endParaRPr lang="en-IN" sz="2000" b="1" dirty="0">
              <a:ea typeface="Calibri"/>
              <a:cs typeface="Calibri"/>
            </a:endParaRPr>
          </a:p>
          <a:p>
            <a:pPr>
              <a:buNone/>
            </a:pPr>
            <a:r>
              <a:rPr lang="en-IN" sz="2000" dirty="0">
                <a:ea typeface="+mn-lt"/>
                <a:cs typeface="+mn-lt"/>
              </a:rPr>
              <a:t>Dataset: </a:t>
            </a:r>
            <a:r>
              <a:rPr lang="en-IN" sz="2000" b="1" dirty="0">
                <a:ea typeface="+mn-lt"/>
                <a:cs typeface="+mn-lt"/>
              </a:rPr>
              <a:t>EEG Brainwave Dataset – Feeling Emotions (Kaggle)</a:t>
            </a:r>
            <a:endParaRPr lang="en-IN" sz="2000" dirty="0">
              <a:ea typeface="Calibri"/>
              <a:cs typeface="Calibri"/>
            </a:endParaRPr>
          </a:p>
          <a:p>
            <a:pPr>
              <a:buNone/>
            </a:pPr>
            <a:r>
              <a:rPr lang="en-IN" sz="2000" dirty="0">
                <a:ea typeface="+mn-lt"/>
                <a:cs typeface="+mn-lt"/>
              </a:rPr>
              <a:t>Data collected from </a:t>
            </a:r>
            <a:r>
              <a:rPr lang="en-IN" sz="2000" b="1" dirty="0">
                <a:ea typeface="+mn-lt"/>
                <a:cs typeface="+mn-lt"/>
              </a:rPr>
              <a:t>2 participants</a:t>
            </a:r>
            <a:r>
              <a:rPr lang="en-IN" sz="2000" dirty="0">
                <a:ea typeface="+mn-lt"/>
                <a:cs typeface="+mn-lt"/>
              </a:rPr>
              <a:t> (1 Male, 1 Female) using a </a:t>
            </a:r>
            <a:r>
              <a:rPr lang="en-IN" sz="2000" b="1" dirty="0">
                <a:ea typeface="+mn-lt"/>
                <a:cs typeface="+mn-lt"/>
              </a:rPr>
              <a:t>Muse EEG headset</a:t>
            </a:r>
            <a:endParaRPr lang="en-IN" sz="2000" dirty="0">
              <a:ea typeface="Calibri"/>
              <a:cs typeface="Calibri"/>
            </a:endParaRPr>
          </a:p>
          <a:p>
            <a:pPr>
              <a:buNone/>
            </a:pPr>
            <a:r>
              <a:rPr lang="en-IN" sz="2000" dirty="0">
                <a:ea typeface="+mn-lt"/>
                <a:cs typeface="+mn-lt"/>
              </a:rPr>
              <a:t>Emotional states recorded:</a:t>
            </a:r>
            <a:endParaRPr lang="en-IN" sz="2000" dirty="0">
              <a:ea typeface="Calibri"/>
              <a:cs typeface="Calibri"/>
            </a:endParaRPr>
          </a:p>
          <a:p>
            <a:pPr lvl="1" indent="0">
              <a:buNone/>
            </a:pPr>
            <a:r>
              <a:rPr lang="en-IN" sz="2000" dirty="0">
                <a:ea typeface="+mn-lt"/>
                <a:cs typeface="+mn-lt"/>
              </a:rPr>
              <a:t>Positive – 708 samples</a:t>
            </a:r>
            <a:endParaRPr lang="en-IN" sz="2000" dirty="0">
              <a:ea typeface="Calibri"/>
              <a:cs typeface="Calibri"/>
            </a:endParaRPr>
          </a:p>
          <a:p>
            <a:pPr lvl="1" indent="0">
              <a:buNone/>
            </a:pPr>
            <a:r>
              <a:rPr lang="en-IN" sz="2000" dirty="0">
                <a:ea typeface="+mn-lt"/>
                <a:cs typeface="+mn-lt"/>
              </a:rPr>
              <a:t>Negative – 708 samples</a:t>
            </a:r>
            <a:endParaRPr lang="en-IN" sz="2000" dirty="0">
              <a:ea typeface="Calibri"/>
              <a:cs typeface="Calibri"/>
            </a:endParaRPr>
          </a:p>
          <a:p>
            <a:pPr lvl="1" indent="0">
              <a:buNone/>
            </a:pPr>
            <a:r>
              <a:rPr lang="en-IN" sz="2000" dirty="0">
                <a:ea typeface="+mn-lt"/>
                <a:cs typeface="+mn-lt"/>
              </a:rPr>
              <a:t>Neutral – 716 samples</a:t>
            </a:r>
            <a:endParaRPr lang="en-IN" sz="2000" dirty="0">
              <a:ea typeface="Calibri"/>
              <a:cs typeface="Calibri"/>
            </a:endParaRPr>
          </a:p>
          <a:p>
            <a:pPr>
              <a:buNone/>
            </a:pPr>
            <a:r>
              <a:rPr lang="en-IN" sz="2000" b="1" dirty="0">
                <a:ea typeface="+mn-lt"/>
                <a:cs typeface="+mn-lt"/>
              </a:rPr>
              <a:t>Total samples:</a:t>
            </a:r>
            <a:r>
              <a:rPr lang="en-IN" sz="2000" dirty="0">
                <a:ea typeface="+mn-lt"/>
                <a:cs typeface="+mn-lt"/>
              </a:rPr>
              <a:t> 2,132</a:t>
            </a:r>
          </a:p>
          <a:p>
            <a:pPr>
              <a:buNone/>
            </a:pPr>
            <a:r>
              <a:rPr lang="en-IN" sz="2000" dirty="0">
                <a:ea typeface="+mn-lt"/>
                <a:cs typeface="+mn-lt"/>
              </a:rPr>
              <a:t>Each emotion recorded for </a:t>
            </a:r>
            <a:r>
              <a:rPr lang="en-IN" sz="2000" b="1" dirty="0">
                <a:ea typeface="+mn-lt"/>
                <a:cs typeface="+mn-lt"/>
              </a:rPr>
              <a:t>3 minutes</a:t>
            </a:r>
            <a:endParaRPr lang="en-IN" sz="2000" b="1" dirty="0">
              <a:ea typeface="Calibri"/>
              <a:cs typeface="Calibri"/>
            </a:endParaRPr>
          </a:p>
          <a:p>
            <a:pPr>
              <a:buNone/>
            </a:pPr>
            <a:r>
              <a:rPr lang="en-IN" sz="2000" dirty="0">
                <a:ea typeface="+mn-lt"/>
                <a:cs typeface="+mn-lt"/>
              </a:rPr>
              <a:t>EEG signals recorded from </a:t>
            </a:r>
            <a:r>
              <a:rPr lang="en-IN" sz="2000" b="1" dirty="0">
                <a:ea typeface="+mn-lt"/>
                <a:cs typeface="+mn-lt"/>
              </a:rPr>
              <a:t>4 channels:</a:t>
            </a:r>
            <a:r>
              <a:rPr lang="en-IN" sz="2000" dirty="0">
                <a:ea typeface="+mn-lt"/>
                <a:cs typeface="+mn-lt"/>
              </a:rPr>
              <a:t> TP9, AF7, AF8, TP10</a:t>
            </a:r>
            <a:endParaRPr lang="en-IN" sz="2000" dirty="0">
              <a:ea typeface="Calibri"/>
              <a:cs typeface="Calibri"/>
            </a:endParaRPr>
          </a:p>
          <a:p>
            <a:pPr>
              <a:buNone/>
            </a:pPr>
            <a:r>
              <a:rPr lang="en-IN" sz="2000" dirty="0">
                <a:ea typeface="+mn-lt"/>
                <a:cs typeface="+mn-lt"/>
              </a:rPr>
              <a:t>Signals resampled to </a:t>
            </a:r>
            <a:r>
              <a:rPr lang="en-IN" sz="2000" b="1" dirty="0">
                <a:ea typeface="+mn-lt"/>
                <a:cs typeface="+mn-lt"/>
              </a:rPr>
              <a:t>150 Hz</a:t>
            </a:r>
            <a:endParaRPr lang="en-IN" sz="2000" dirty="0">
              <a:ea typeface="Calibri"/>
              <a:cs typeface="Calibri"/>
            </a:endParaRPr>
          </a:p>
          <a:p>
            <a:pPr>
              <a:buNone/>
            </a:pPr>
            <a:endParaRPr lang="en-IN" b="1" dirty="0">
              <a:ea typeface="Calibri"/>
              <a:cs typeface="Calibri"/>
            </a:endParaRPr>
          </a:p>
          <a:p>
            <a:pPr>
              <a:buNone/>
            </a:pPr>
            <a:endParaRPr lang="en-IN" sz="2000" b="1" dirty="0">
              <a:ea typeface="Calibri"/>
              <a:cs typeface="Calibri"/>
            </a:endParaRPr>
          </a:p>
          <a:p>
            <a:endParaRPr lang="en-IN" sz="2000" b="1" dirty="0">
              <a:ea typeface="Calibri"/>
              <a:cs typeface="Calibri"/>
            </a:endParaRPr>
          </a:p>
          <a:p>
            <a:endParaRPr lang="en-IN" dirty="0">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AD632-9119-706E-B7BF-71BCDE28EE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193BEB-D6EE-E591-714F-93FF10D6C9BB}"/>
              </a:ext>
            </a:extLst>
          </p:cNvPr>
          <p:cNvSpPr>
            <a:spLocks noGrp="1"/>
          </p:cNvSpPr>
          <p:nvPr>
            <p:ph type="title"/>
          </p:nvPr>
        </p:nvSpPr>
        <p:spPr>
          <a:xfrm>
            <a:off x="74513" y="350119"/>
            <a:ext cx="6599237" cy="631658"/>
          </a:xfrm>
        </p:spPr>
        <p:txBody>
          <a:bodyPr>
            <a:noAutofit/>
          </a:bodyPr>
          <a:lstStyle/>
          <a:p>
            <a:pPr>
              <a:defRPr/>
            </a:pPr>
            <a:r>
              <a:rPr lang="en-IN" altLang="en-US" sz="3200" dirty="0">
                <a:effectLst>
                  <a:outerShdw blurRad="38100" dist="38100" dir="2700000" algn="tl">
                    <a:srgbClr val="000000"/>
                  </a:outerShdw>
                </a:effectLst>
              </a:rPr>
              <a:t>MODULES</a:t>
            </a:r>
            <a:br>
              <a:rPr lang="en-IN" altLang="en-US" sz="3200" dirty="0">
                <a:effectLst>
                  <a:outerShdw blurRad="38100" dist="38100" dir="2700000" algn="tl">
                    <a:srgbClr val="000000"/>
                  </a:outerShdw>
                </a:effectLst>
              </a:rPr>
            </a:br>
            <a:endParaRPr lang="en-IN" sz="3200" dirty="0"/>
          </a:p>
        </p:txBody>
      </p:sp>
      <p:sp>
        <p:nvSpPr>
          <p:cNvPr id="2" name="Content Placeholder 1">
            <a:extLst>
              <a:ext uri="{FF2B5EF4-FFF2-40B4-BE49-F238E27FC236}">
                <a16:creationId xmlns:a16="http://schemas.microsoft.com/office/drawing/2014/main" id="{20C0CF85-4138-1F3B-A639-4F1034CCB3E3}"/>
              </a:ext>
            </a:extLst>
          </p:cNvPr>
          <p:cNvSpPr>
            <a:spLocks noGrp="1"/>
          </p:cNvSpPr>
          <p:nvPr>
            <p:ph idx="1"/>
          </p:nvPr>
        </p:nvSpPr>
        <p:spPr>
          <a:xfrm>
            <a:off x="318571" y="959317"/>
            <a:ext cx="8450043" cy="5460733"/>
          </a:xfrm>
        </p:spPr>
        <p:txBody>
          <a:bodyPr vert="horz" wrap="square" lIns="91440" tIns="45720" rIns="91440" bIns="45720" numCol="1" anchor="t" anchorCtr="0" compatLnSpc="1">
            <a:prstTxWarp prst="textNoShape">
              <a:avLst/>
            </a:prstTxWarp>
            <a:noAutofit/>
          </a:bodyPr>
          <a:lstStyle/>
          <a:p>
            <a:pPr>
              <a:buNone/>
            </a:pPr>
            <a:endParaRPr lang="en-IN" sz="2000" b="1" dirty="0">
              <a:ea typeface="Calibri"/>
              <a:cs typeface="Calibri"/>
            </a:endParaRPr>
          </a:p>
          <a:p>
            <a:pPr>
              <a:buFont typeface="Arial" panose="020B0502040204020203" pitchFamily="34" charset="0"/>
              <a:buChar char="•"/>
            </a:pPr>
            <a:endParaRPr lang="en-IN" sz="2000" b="1" dirty="0">
              <a:ea typeface="Calibri"/>
              <a:cs typeface="Calibri"/>
            </a:endParaRPr>
          </a:p>
          <a:p>
            <a:pPr>
              <a:buFont typeface="Arial" panose="020B0502040204020203" pitchFamily="34" charset="0"/>
              <a:buChar char="•"/>
            </a:pPr>
            <a:endParaRPr lang="en-IN" dirty="0">
              <a:ea typeface="Calibri"/>
              <a:cs typeface="Calibri"/>
            </a:endParaRPr>
          </a:p>
        </p:txBody>
      </p:sp>
      <p:sp>
        <p:nvSpPr>
          <p:cNvPr id="4" name="TextBox 3">
            <a:extLst>
              <a:ext uri="{FF2B5EF4-FFF2-40B4-BE49-F238E27FC236}">
                <a16:creationId xmlns:a16="http://schemas.microsoft.com/office/drawing/2014/main" id="{833389F4-36DC-9040-B2E2-E53200772608}"/>
              </a:ext>
            </a:extLst>
          </p:cNvPr>
          <p:cNvSpPr txBox="1"/>
          <p:nvPr/>
        </p:nvSpPr>
        <p:spPr>
          <a:xfrm>
            <a:off x="507970" y="941314"/>
            <a:ext cx="8265089" cy="61480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prstClr val="black">
                    <a:lumMod val="75000"/>
                    <a:lumOff val="25000"/>
                  </a:prstClr>
                </a:solidFill>
                <a:latin typeface="Calibri"/>
                <a:ea typeface="Calibri"/>
                <a:cs typeface="Calibri"/>
              </a:rPr>
              <a:t>Module 2: Data Preprocessing</a:t>
            </a:r>
            <a:endParaRPr lang="en-US" sz="2000" dirty="0">
              <a:solidFill>
                <a:prstClr val="black">
                  <a:lumMod val="75000"/>
                  <a:lumOff val="25000"/>
                </a:prstClr>
              </a:solidFill>
              <a:ea typeface="Calibri"/>
              <a:cs typeface="Calibri"/>
            </a:endParaRPr>
          </a:p>
          <a:p>
            <a:pPr marL="285750" indent="-285750">
              <a:buFont typeface="Arial"/>
              <a:buChar char="•"/>
            </a:pPr>
            <a:r>
              <a:rPr lang="en-US" sz="2000" dirty="0">
                <a:solidFill>
                  <a:prstClr val="black">
                    <a:lumMod val="75000"/>
                    <a:lumOff val="25000"/>
                  </a:prstClr>
                </a:solidFill>
                <a:latin typeface="Calibri"/>
                <a:ea typeface="Calibri"/>
                <a:cs typeface="Calibri"/>
              </a:rPr>
              <a:t>Removal of noise and unwanted variations</a:t>
            </a:r>
            <a:endParaRPr lang="en-US" sz="2000" dirty="0">
              <a:solidFill>
                <a:prstClr val="black">
                  <a:lumMod val="75000"/>
                  <a:lumOff val="25000"/>
                </a:prstClr>
              </a:solidFill>
              <a:ea typeface="Calibri"/>
              <a:cs typeface="Calibri"/>
            </a:endParaRPr>
          </a:p>
          <a:p>
            <a:pPr marL="285750" indent="-285750">
              <a:buFont typeface="Arial"/>
              <a:buChar char="•"/>
            </a:pPr>
            <a:r>
              <a:rPr lang="en-US" sz="2000" b="1" dirty="0">
                <a:solidFill>
                  <a:prstClr val="black">
                    <a:lumMod val="75000"/>
                    <a:lumOff val="25000"/>
                  </a:prstClr>
                </a:solidFill>
                <a:latin typeface="Calibri"/>
                <a:ea typeface="Calibri"/>
                <a:cs typeface="Calibri"/>
              </a:rPr>
              <a:t>Min-Max normalization</a:t>
            </a:r>
            <a:r>
              <a:rPr lang="en-US" sz="2000" dirty="0">
                <a:solidFill>
                  <a:prstClr val="black">
                    <a:lumMod val="75000"/>
                    <a:lumOff val="25000"/>
                  </a:prstClr>
                </a:solidFill>
                <a:latin typeface="Calibri"/>
                <a:ea typeface="Calibri"/>
                <a:cs typeface="Calibri"/>
              </a:rPr>
              <a:t> applied to scale values between 0 and 1</a:t>
            </a:r>
            <a:endParaRPr lang="en-US" sz="2000" dirty="0">
              <a:solidFill>
                <a:prstClr val="black">
                  <a:lumMod val="75000"/>
                  <a:lumOff val="25000"/>
                </a:prstClr>
              </a:solidFill>
              <a:ea typeface="Calibri"/>
              <a:cs typeface="Calibri"/>
            </a:endParaRPr>
          </a:p>
          <a:p>
            <a:pPr marL="285750" indent="-285750">
              <a:buFont typeface="Arial"/>
              <a:buChar char="•"/>
            </a:pPr>
            <a:r>
              <a:rPr lang="en-US" sz="2000" dirty="0">
                <a:solidFill>
                  <a:prstClr val="black">
                    <a:lumMod val="75000"/>
                    <a:lumOff val="25000"/>
                  </a:prstClr>
                </a:solidFill>
                <a:latin typeface="Calibri"/>
                <a:ea typeface="Calibri"/>
                <a:cs typeface="Calibri"/>
              </a:rPr>
              <a:t>Ensures uniform data and improves model performance</a:t>
            </a:r>
            <a:endParaRPr lang="en-US" sz="2000" dirty="0">
              <a:solidFill>
                <a:prstClr val="black">
                  <a:lumMod val="75000"/>
                  <a:lumOff val="25000"/>
                </a:prstClr>
              </a:solidFill>
            </a:endParaRPr>
          </a:p>
          <a:p>
            <a:pPr marL="285750" indent="-285750" algn="l">
              <a:buFont typeface="Arial"/>
              <a:buChar char="•"/>
            </a:pPr>
            <a:endParaRPr lang="en-US" sz="2000" dirty="0">
              <a:solidFill>
                <a:prstClr val="black">
                  <a:lumMod val="75000"/>
                  <a:lumOff val="25000"/>
                </a:prstClr>
              </a:solidFill>
              <a:latin typeface="Calibri"/>
              <a:ea typeface="Calibri"/>
              <a:cs typeface="Calibri"/>
            </a:endParaRPr>
          </a:p>
          <a:p>
            <a:r>
              <a:rPr lang="en-US" sz="2000" b="1" dirty="0">
                <a:solidFill>
                  <a:prstClr val="black">
                    <a:lumMod val="75000"/>
                    <a:lumOff val="25000"/>
                  </a:prstClr>
                </a:solidFill>
                <a:latin typeface="Calibri"/>
                <a:ea typeface="Calibri"/>
                <a:cs typeface="Calibri"/>
              </a:rPr>
              <a:t>Module 3: Feature Extraction</a:t>
            </a:r>
            <a:endParaRPr lang="en-US" sz="2000" dirty="0">
              <a:solidFill>
                <a:prstClr val="black">
                  <a:lumMod val="75000"/>
                  <a:lumOff val="25000"/>
                </a:prstClr>
              </a:solidFill>
              <a:latin typeface="Calibri"/>
              <a:ea typeface="Calibri"/>
              <a:cs typeface="Calibri"/>
            </a:endParaRPr>
          </a:p>
          <a:p>
            <a:r>
              <a:rPr lang="en-US" sz="2000" b="1" dirty="0">
                <a:solidFill>
                  <a:prstClr val="black">
                    <a:lumMod val="75000"/>
                    <a:lumOff val="25000"/>
                  </a:prstClr>
                </a:solidFill>
                <a:latin typeface="Calibri"/>
                <a:ea typeface="Calibri"/>
                <a:cs typeface="Calibri"/>
              </a:rPr>
              <a:t>Extra Trees Classifier (ETC)</a:t>
            </a:r>
            <a:r>
              <a:rPr lang="en-US" sz="2000" dirty="0">
                <a:solidFill>
                  <a:prstClr val="black">
                    <a:lumMod val="75000"/>
                    <a:lumOff val="25000"/>
                  </a:prstClr>
                </a:solidFill>
                <a:latin typeface="Calibri"/>
                <a:ea typeface="Calibri"/>
                <a:cs typeface="Calibri"/>
              </a:rPr>
              <a:t> used to extract important features</a:t>
            </a:r>
            <a:endParaRPr lang="en-US" dirty="0">
              <a:solidFill>
                <a:prstClr val="black">
                  <a:lumMod val="75000"/>
                  <a:lumOff val="25000"/>
                </a:prstClr>
              </a:solidFill>
              <a:ea typeface="Calibri" panose="020F0502020204030204" pitchFamily="34" charset="0"/>
              <a:cs typeface="Calibri" panose="020F0502020204030204" pitchFamily="34" charset="0"/>
            </a:endParaRPr>
          </a:p>
          <a:p>
            <a:r>
              <a:rPr lang="en-US" sz="2000" dirty="0">
                <a:solidFill>
                  <a:prstClr val="black">
                    <a:lumMod val="75000"/>
                    <a:lumOff val="25000"/>
                  </a:prstClr>
                </a:solidFill>
                <a:latin typeface="Calibri"/>
                <a:ea typeface="Calibri"/>
                <a:cs typeface="Calibri"/>
              </a:rPr>
              <a:t>Extracted features include:</a:t>
            </a:r>
            <a:endParaRPr lang="en-US" dirty="0">
              <a:solidFill>
                <a:prstClr val="black">
                  <a:lumMod val="75000"/>
                  <a:lumOff val="25000"/>
                </a:prstClr>
              </a:solidFill>
              <a:ea typeface="Calibri" panose="020F0502020204030204" pitchFamily="34" charset="0"/>
              <a:cs typeface="Calibri" panose="020F0502020204030204" pitchFamily="34" charset="0"/>
            </a:endParaRPr>
          </a:p>
          <a:p>
            <a:pPr lvl="1">
              <a:buFont typeface="Arial"/>
              <a:buChar char="•"/>
            </a:pPr>
            <a:r>
              <a:rPr lang="en-US" sz="2000" dirty="0">
                <a:solidFill>
                  <a:prstClr val="black">
                    <a:lumMod val="75000"/>
                    <a:lumOff val="25000"/>
                  </a:prstClr>
                </a:solidFill>
                <a:latin typeface="Calibri"/>
                <a:ea typeface="Calibri"/>
                <a:cs typeface="Calibri"/>
              </a:rPr>
              <a:t>Time-domain features</a:t>
            </a:r>
            <a:endParaRPr lang="en-US" dirty="0">
              <a:solidFill>
                <a:prstClr val="black">
                  <a:lumMod val="75000"/>
                  <a:lumOff val="25000"/>
                </a:prstClr>
              </a:solidFill>
            </a:endParaRPr>
          </a:p>
          <a:p>
            <a:pPr lvl="1">
              <a:buFont typeface="Arial"/>
              <a:buChar char="•"/>
            </a:pPr>
            <a:r>
              <a:rPr lang="en-US" sz="2000" dirty="0">
                <a:solidFill>
                  <a:prstClr val="black">
                    <a:lumMod val="75000"/>
                    <a:lumOff val="25000"/>
                  </a:prstClr>
                </a:solidFill>
                <a:latin typeface="Calibri"/>
                <a:ea typeface="Calibri"/>
                <a:cs typeface="Calibri"/>
              </a:rPr>
              <a:t>Frequency-domain features</a:t>
            </a:r>
            <a:endParaRPr lang="en-US" dirty="0">
              <a:solidFill>
                <a:prstClr val="black">
                  <a:lumMod val="75000"/>
                  <a:lumOff val="25000"/>
                </a:prstClr>
              </a:solidFill>
            </a:endParaRPr>
          </a:p>
          <a:p>
            <a:pPr lvl="1">
              <a:buFont typeface="Arial"/>
              <a:buChar char="•"/>
            </a:pPr>
            <a:r>
              <a:rPr lang="en-US" sz="2000" dirty="0">
                <a:solidFill>
                  <a:prstClr val="black">
                    <a:lumMod val="75000"/>
                    <a:lumOff val="25000"/>
                  </a:prstClr>
                </a:solidFill>
                <a:latin typeface="Calibri"/>
                <a:ea typeface="Calibri"/>
                <a:cs typeface="Calibri"/>
              </a:rPr>
              <a:t>Non-linear features</a:t>
            </a:r>
            <a:endParaRPr lang="en-US" dirty="0">
              <a:solidFill>
                <a:prstClr val="black">
                  <a:lumMod val="75000"/>
                  <a:lumOff val="25000"/>
                </a:prstClr>
              </a:solidFill>
            </a:endParaRPr>
          </a:p>
          <a:p>
            <a:pPr>
              <a:buFont typeface="Arial"/>
              <a:buChar char="•"/>
            </a:pPr>
            <a:r>
              <a:rPr lang="en-US" sz="2000" dirty="0">
                <a:solidFill>
                  <a:prstClr val="black">
                    <a:lumMod val="75000"/>
                    <a:lumOff val="25000"/>
                  </a:prstClr>
                </a:solidFill>
                <a:latin typeface="Calibri"/>
                <a:ea typeface="Calibri"/>
                <a:cs typeface="Calibri"/>
              </a:rPr>
              <a:t>Feature importance scores used to identify relevant EEG patterns</a:t>
            </a:r>
            <a:endParaRPr lang="en-US" dirty="0">
              <a:solidFill>
                <a:prstClr val="black">
                  <a:lumMod val="75000"/>
                  <a:lumOff val="25000"/>
                </a:prstClr>
              </a:solidFill>
            </a:endParaRPr>
          </a:p>
          <a:p>
            <a:endParaRPr lang="en-US" sz="2000" dirty="0">
              <a:solidFill>
                <a:prstClr val="black">
                  <a:lumMod val="75000"/>
                  <a:lumOff val="25000"/>
                </a:prstClr>
              </a:solidFill>
              <a:latin typeface="Calibri"/>
              <a:ea typeface="Calibri"/>
              <a:cs typeface="Calibri"/>
            </a:endParaRPr>
          </a:p>
          <a:p>
            <a:r>
              <a:rPr lang="en-US" sz="2000" b="1" dirty="0">
                <a:solidFill>
                  <a:prstClr val="black">
                    <a:lumMod val="75000"/>
                    <a:lumOff val="25000"/>
                  </a:prstClr>
                </a:solidFill>
                <a:latin typeface="Calibri"/>
                <a:ea typeface="Calibri"/>
                <a:cs typeface="Calibri"/>
              </a:rPr>
              <a:t>Module 4: Dimensionality Reduction</a:t>
            </a:r>
            <a:endParaRPr lang="en-US" sz="2000" dirty="0">
              <a:solidFill>
                <a:prstClr val="black">
                  <a:lumMod val="75000"/>
                  <a:lumOff val="25000"/>
                </a:prstClr>
              </a:solidFill>
              <a:latin typeface="Calibri"/>
              <a:ea typeface="Calibri"/>
              <a:cs typeface="Calibri"/>
            </a:endParaRPr>
          </a:p>
          <a:p>
            <a:pPr>
              <a:buFont typeface="Arial"/>
              <a:buChar char="•"/>
            </a:pPr>
            <a:r>
              <a:rPr lang="en-US" sz="2000" dirty="0">
                <a:solidFill>
                  <a:prstClr val="black">
                    <a:lumMod val="75000"/>
                    <a:lumOff val="25000"/>
                  </a:prstClr>
                </a:solidFill>
                <a:latin typeface="Calibri"/>
                <a:ea typeface="Calibri"/>
                <a:cs typeface="Calibri"/>
              </a:rPr>
              <a:t>Features ranked based on importance</a:t>
            </a:r>
            <a:endParaRPr lang="en-US" dirty="0">
              <a:solidFill>
                <a:prstClr val="black">
                  <a:lumMod val="75000"/>
                  <a:lumOff val="25000"/>
                </a:prstClr>
              </a:solidFill>
            </a:endParaRPr>
          </a:p>
          <a:p>
            <a:pPr>
              <a:buFont typeface="Arial"/>
              <a:buChar char="•"/>
            </a:pPr>
            <a:r>
              <a:rPr lang="en-US" sz="2000" dirty="0">
                <a:solidFill>
                  <a:prstClr val="black">
                    <a:lumMod val="75000"/>
                    <a:lumOff val="25000"/>
                  </a:prstClr>
                </a:solidFill>
                <a:latin typeface="Calibri"/>
                <a:ea typeface="Calibri"/>
                <a:cs typeface="Calibri"/>
              </a:rPr>
              <a:t>Irrelevant and redundant features removed</a:t>
            </a:r>
            <a:endParaRPr lang="en-US" dirty="0">
              <a:solidFill>
                <a:prstClr val="black">
                  <a:lumMod val="75000"/>
                  <a:lumOff val="25000"/>
                </a:prstClr>
              </a:solidFill>
            </a:endParaRPr>
          </a:p>
          <a:p>
            <a:pPr>
              <a:buFont typeface="Arial"/>
              <a:buChar char="•"/>
            </a:pPr>
            <a:r>
              <a:rPr lang="en-US" sz="2000" dirty="0">
                <a:solidFill>
                  <a:prstClr val="black">
                    <a:lumMod val="75000"/>
                    <a:lumOff val="25000"/>
                  </a:prstClr>
                </a:solidFill>
                <a:latin typeface="Calibri"/>
                <a:ea typeface="Calibri"/>
                <a:cs typeface="Calibri"/>
              </a:rPr>
              <a:t>Reduces complexity and improves training speed</a:t>
            </a:r>
            <a:endParaRPr lang="en-US" dirty="0">
              <a:solidFill>
                <a:prstClr val="black">
                  <a:lumMod val="75000"/>
                  <a:lumOff val="25000"/>
                </a:prstClr>
              </a:solidFill>
            </a:endParaRPr>
          </a:p>
          <a:p>
            <a:pPr>
              <a:buFont typeface="Arial"/>
              <a:buChar char="•"/>
            </a:pPr>
            <a:endParaRPr lang="en-US" sz="2000" dirty="0">
              <a:solidFill>
                <a:prstClr val="black">
                  <a:lumMod val="75000"/>
                  <a:lumOff val="25000"/>
                </a:prstClr>
              </a:solidFill>
              <a:latin typeface="Calibri"/>
              <a:ea typeface="Calibri"/>
              <a:cs typeface="Calibri"/>
            </a:endParaRPr>
          </a:p>
          <a:p>
            <a:pPr marL="285750" indent="-285750">
              <a:buFont typeface="Arial"/>
              <a:buChar char="•"/>
            </a:pPr>
            <a:endParaRPr lang="en-US" sz="2000" dirty="0">
              <a:solidFill>
                <a:prstClr val="black">
                  <a:lumMod val="75000"/>
                  <a:lumOff val="25000"/>
                </a:prstClr>
              </a:solidFill>
              <a:latin typeface="Calibri"/>
              <a:ea typeface="Calibri"/>
              <a:cs typeface="Calibri"/>
            </a:endParaRPr>
          </a:p>
          <a:p>
            <a:pPr>
              <a:lnSpc>
                <a:spcPts val="1800"/>
              </a:lnSpc>
              <a:spcAft>
                <a:spcPts val="600"/>
              </a:spcAft>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682670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D9AE8FAB-CB3C-B80B-917A-D9C598131106}"/>
              </a:ext>
            </a:extLst>
          </p:cNvPr>
          <p:cNvSpPr>
            <a:spLocks noGrp="1" noChangeArrowheads="1"/>
          </p:cNvSpPr>
          <p:nvPr>
            <p:ph type="ctrTitle"/>
          </p:nvPr>
        </p:nvSpPr>
        <p:spPr>
          <a:xfrm>
            <a:off x="0" y="-104775"/>
            <a:ext cx="7772400" cy="1510063"/>
          </a:xfrm>
        </p:spPr>
        <p:txBody>
          <a:bodyPr/>
          <a:lstStyle/>
          <a:p>
            <a:r>
              <a:rPr lang="en-IN" altLang="en-US" sz="3200" dirty="0">
                <a:effectLst>
                  <a:outerShdw blurRad="38100" dist="38100" dir="2700000" algn="tl">
                    <a:srgbClr val="000000"/>
                  </a:outerShdw>
                </a:effectLst>
              </a:rPr>
              <a:t> MODULES</a:t>
            </a:r>
            <a:br>
              <a:rPr lang="en-IN" altLang="en-US" sz="3200" dirty="0">
                <a:effectLst>
                  <a:outerShdw blurRad="38100" dist="38100" dir="2700000" algn="tl">
                    <a:srgbClr val="000000"/>
                  </a:outerShdw>
                </a:effectLst>
              </a:rPr>
            </a:br>
            <a:endParaRPr altLang="en-US" sz="3200" dirty="0">
              <a:cs typeface="Times New Roman" panose="02020603050405020304" pitchFamily="18" charset="0"/>
            </a:endParaRPr>
          </a:p>
        </p:txBody>
      </p:sp>
      <p:sp>
        <p:nvSpPr>
          <p:cNvPr id="2" name="TextBox 1"/>
          <p:cNvSpPr txBox="1"/>
          <p:nvPr/>
        </p:nvSpPr>
        <p:spPr>
          <a:xfrm>
            <a:off x="203200" y="762000"/>
            <a:ext cx="8788400" cy="57150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p:cNvSpPr txBox="1"/>
          <p:nvPr/>
        </p:nvSpPr>
        <p:spPr>
          <a:xfrm>
            <a:off x="203200" y="863600"/>
            <a:ext cx="8496300" cy="5613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5" name="TextBox 4"/>
          <p:cNvSpPr txBox="1"/>
          <p:nvPr/>
        </p:nvSpPr>
        <p:spPr>
          <a:xfrm>
            <a:off x="367097" y="1291730"/>
            <a:ext cx="9045153" cy="5375786"/>
          </a:xfrm>
          <a:prstGeom prst="rect">
            <a:avLst/>
          </a:prstGeom>
        </p:spPr>
        <p:txBody>
          <a:bodyPr vert="horz" wrap="square" lIns="91440" tIns="45720" rIns="91440" bIns="45720" rtlCol="0" anchor="t">
            <a:noAutofit/>
          </a:bodyPr>
          <a:lstStyle/>
          <a:p>
            <a:r>
              <a:rPr lang="en-US" sz="2000" b="1" dirty="0">
                <a:latin typeface="Calibri"/>
                <a:ea typeface="Calibri"/>
                <a:cs typeface="Calibri"/>
              </a:rPr>
              <a:t>Module 5: Feature Optimization and Model Training</a:t>
            </a:r>
            <a:endParaRPr lang="en-US" sz="2000" dirty="0">
              <a:latin typeface="Calibri"/>
              <a:ea typeface="Calibri"/>
              <a:cs typeface="Calibri"/>
            </a:endParaRPr>
          </a:p>
          <a:p>
            <a:endParaRPr lang="en-US" sz="2000" b="1" dirty="0">
              <a:latin typeface="Calibri"/>
              <a:ea typeface="Calibri"/>
              <a:cs typeface="Calibri"/>
            </a:endParaRPr>
          </a:p>
          <a:p>
            <a:r>
              <a:rPr lang="en-US" sz="2000" b="1" dirty="0">
                <a:latin typeface="Calibri"/>
                <a:ea typeface="Calibri"/>
                <a:cs typeface="Calibri"/>
              </a:rPr>
              <a:t>PSO (Particle Swarm Optimization)</a:t>
            </a:r>
            <a:r>
              <a:rPr lang="en-US" sz="2000" dirty="0">
                <a:latin typeface="Calibri"/>
                <a:ea typeface="Calibri"/>
                <a:cs typeface="Calibri"/>
              </a:rPr>
              <a:t> selects the optimal feature subset</a:t>
            </a:r>
          </a:p>
          <a:p>
            <a:pPr>
              <a:buFont typeface="Arial"/>
            </a:pPr>
            <a:r>
              <a:rPr lang="en-US" sz="2000" dirty="0">
                <a:latin typeface="Calibri"/>
                <a:ea typeface="Calibri"/>
                <a:cs typeface="Calibri"/>
              </a:rPr>
              <a:t>Feature selection evaluated using:</a:t>
            </a:r>
          </a:p>
          <a:p>
            <a:pPr marL="742950" lvl="1" indent="-285750">
              <a:buFont typeface="Arial"/>
              <a:buChar char="•"/>
            </a:pPr>
            <a:r>
              <a:rPr lang="en-US" sz="2000" dirty="0">
                <a:latin typeface="Calibri"/>
                <a:ea typeface="Calibri"/>
                <a:cs typeface="Calibri"/>
              </a:rPr>
              <a:t>KNN</a:t>
            </a:r>
          </a:p>
          <a:p>
            <a:pPr marL="742950" lvl="1" indent="-285750">
              <a:buFont typeface="Arial"/>
              <a:buChar char="•"/>
            </a:pPr>
            <a:r>
              <a:rPr lang="en-US" sz="2000" dirty="0">
                <a:latin typeface="Calibri"/>
                <a:ea typeface="Calibri"/>
                <a:cs typeface="Calibri"/>
              </a:rPr>
              <a:t>SVM</a:t>
            </a:r>
          </a:p>
          <a:p>
            <a:pPr marL="742950" lvl="1" indent="-285750">
              <a:buFont typeface="Arial"/>
              <a:buChar char="•"/>
            </a:pPr>
            <a:r>
              <a:rPr lang="en-US" sz="2000" dirty="0">
                <a:latin typeface="Calibri"/>
                <a:ea typeface="Calibri"/>
                <a:cs typeface="Calibri"/>
              </a:rPr>
              <a:t>Random Forest</a:t>
            </a:r>
          </a:p>
          <a:p>
            <a:pPr marL="285750" indent="-285750">
              <a:buFont typeface="Arial"/>
              <a:buChar char="•"/>
            </a:pPr>
            <a:r>
              <a:rPr lang="en-US" sz="2000" dirty="0">
                <a:latin typeface="Calibri"/>
                <a:ea typeface="Calibri"/>
                <a:cs typeface="Calibri"/>
              </a:rPr>
              <a:t>Dataset split into </a:t>
            </a:r>
            <a:r>
              <a:rPr lang="en-US" sz="2000" b="1" dirty="0">
                <a:latin typeface="Calibri"/>
                <a:ea typeface="Calibri"/>
                <a:cs typeface="Calibri"/>
              </a:rPr>
              <a:t>80% training and 20% testing</a:t>
            </a:r>
            <a:endParaRPr lang="en-US" sz="2000" dirty="0">
              <a:latin typeface="Calibri"/>
              <a:ea typeface="Calibri"/>
              <a:cs typeface="Calibri"/>
            </a:endParaRPr>
          </a:p>
          <a:p>
            <a:endParaRPr lang="en-US" sz="2000" b="1" dirty="0">
              <a:ea typeface="Calibri"/>
              <a:cs typeface="Calibri"/>
            </a:endParaRPr>
          </a:p>
          <a:p>
            <a:r>
              <a:rPr lang="en-US" sz="2000" b="1" dirty="0">
                <a:solidFill>
                  <a:srgbClr val="000000"/>
                </a:solidFill>
                <a:latin typeface="Calibri"/>
                <a:ea typeface="Calibri"/>
                <a:cs typeface="Calibri"/>
              </a:rPr>
              <a:t>Module 6: Deep Learning and Emotion Classification</a:t>
            </a:r>
          </a:p>
          <a:p>
            <a:endParaRPr lang="en-US" sz="2000" b="1" dirty="0">
              <a:solidFill>
                <a:srgbClr val="000000"/>
              </a:solidFill>
              <a:latin typeface="Calibri"/>
              <a:ea typeface="Calibri"/>
              <a:cs typeface="Calibri"/>
            </a:endParaRPr>
          </a:p>
          <a:p>
            <a:r>
              <a:rPr lang="en-US" sz="2000" b="1" dirty="0">
                <a:solidFill>
                  <a:srgbClr val="000000"/>
                </a:solidFill>
                <a:latin typeface="Calibri"/>
                <a:ea typeface="Calibri"/>
                <a:cs typeface="Calibri"/>
              </a:rPr>
              <a:t>Deep Convolution Network</a:t>
            </a:r>
            <a:r>
              <a:rPr lang="en-US" sz="2000" dirty="0">
                <a:solidFill>
                  <a:srgbClr val="000000"/>
                </a:solidFill>
                <a:latin typeface="Calibri"/>
                <a:ea typeface="Calibri"/>
                <a:cs typeface="Calibri"/>
              </a:rPr>
              <a:t> extracts deep hierarchical features from EEG signals</a:t>
            </a:r>
            <a:endParaRPr lang="en-US" sz="2000" dirty="0">
              <a:latin typeface="Calibri"/>
              <a:ea typeface="Calibri"/>
              <a:cs typeface="Calibri"/>
            </a:endParaRPr>
          </a:p>
          <a:p>
            <a:r>
              <a:rPr lang="en-US" sz="2000" dirty="0">
                <a:solidFill>
                  <a:srgbClr val="000000"/>
                </a:solidFill>
                <a:latin typeface="Calibri"/>
                <a:ea typeface="Calibri"/>
                <a:cs typeface="Calibri"/>
              </a:rPr>
              <a:t>CNN-LSTM model used for classification:</a:t>
            </a:r>
            <a:endParaRPr lang="en-US" sz="2000" dirty="0">
              <a:latin typeface="Calibri"/>
              <a:ea typeface="Calibri"/>
              <a:cs typeface="Calibri"/>
            </a:endParaRPr>
          </a:p>
          <a:p>
            <a:pPr lvl="1">
              <a:buFont typeface="Arial"/>
              <a:buChar char="•"/>
            </a:pPr>
            <a:r>
              <a:rPr lang="en-US" sz="2000" dirty="0">
                <a:solidFill>
                  <a:srgbClr val="000000"/>
                </a:solidFill>
                <a:latin typeface="Calibri"/>
                <a:ea typeface="Calibri"/>
                <a:cs typeface="Calibri"/>
              </a:rPr>
              <a:t>CNN captures spatial patterns</a:t>
            </a:r>
            <a:endParaRPr lang="en-US" sz="2000" dirty="0">
              <a:latin typeface="Calibri"/>
              <a:ea typeface="Calibri"/>
              <a:cs typeface="Calibri"/>
            </a:endParaRPr>
          </a:p>
          <a:p>
            <a:pPr lvl="1">
              <a:buFont typeface="Arial"/>
              <a:buChar char="•"/>
            </a:pPr>
            <a:r>
              <a:rPr lang="en-US" sz="2000" dirty="0">
                <a:solidFill>
                  <a:srgbClr val="000000"/>
                </a:solidFill>
                <a:latin typeface="Calibri"/>
                <a:ea typeface="Calibri"/>
                <a:cs typeface="Calibri"/>
              </a:rPr>
              <a:t>LSTM captures temporal information</a:t>
            </a:r>
            <a:endParaRPr lang="en-US" sz="2000" dirty="0">
              <a:latin typeface="Calibri"/>
              <a:ea typeface="Calibri"/>
              <a:cs typeface="Calibri"/>
            </a:endParaRPr>
          </a:p>
          <a:p>
            <a:pPr lvl="1">
              <a:buFont typeface="Arial"/>
              <a:buChar char="•"/>
            </a:pPr>
            <a:endParaRPr lang="en-US" dirty="0">
              <a:solidFill>
                <a:srgbClr val="000000"/>
              </a:solidFill>
              <a:latin typeface="+mn-lt"/>
              <a:ea typeface="Calibri"/>
              <a:cs typeface="Calibri"/>
            </a:endParaRPr>
          </a:p>
          <a:p>
            <a:endParaRPr lang="en-US" sz="2000" b="1" dirty="0">
              <a:solidFill>
                <a:srgbClr val="000000"/>
              </a:solidFill>
              <a:latin typeface="+mn-lt"/>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D036F-686B-A5E0-B134-1A1FDED450DB}"/>
            </a:ext>
          </a:extLst>
        </p:cNvPr>
        <p:cNvGrpSpPr/>
        <p:nvPr/>
      </p:nvGrpSpPr>
      <p:grpSpPr>
        <a:xfrm>
          <a:off x="0" y="0"/>
          <a:ext cx="0" cy="0"/>
          <a:chOff x="0" y="0"/>
          <a:chExt cx="0" cy="0"/>
        </a:xfrm>
      </p:grpSpPr>
      <p:sp>
        <p:nvSpPr>
          <p:cNvPr id="19458" name="Title 1">
            <a:extLst>
              <a:ext uri="{FF2B5EF4-FFF2-40B4-BE49-F238E27FC236}">
                <a16:creationId xmlns:a16="http://schemas.microsoft.com/office/drawing/2014/main" id="{9B0A6AA7-6839-648F-A26A-53E18EB1E071}"/>
              </a:ext>
            </a:extLst>
          </p:cNvPr>
          <p:cNvSpPr>
            <a:spLocks noGrp="1" noChangeArrowheads="1"/>
          </p:cNvSpPr>
          <p:nvPr>
            <p:ph type="ctrTitle"/>
          </p:nvPr>
        </p:nvSpPr>
        <p:spPr>
          <a:xfrm>
            <a:off x="0" y="-104775"/>
            <a:ext cx="7772400" cy="1510063"/>
          </a:xfrm>
        </p:spPr>
        <p:txBody>
          <a:bodyPr/>
          <a:lstStyle/>
          <a:p>
            <a:r>
              <a:rPr lang="en-IN" altLang="en-US" sz="3200" dirty="0">
                <a:effectLst>
                  <a:outerShdw blurRad="38100" dist="38100" dir="2700000" algn="tl">
                    <a:srgbClr val="000000"/>
                  </a:outerShdw>
                </a:effectLst>
              </a:rPr>
              <a:t> MODULES</a:t>
            </a:r>
            <a:br>
              <a:rPr lang="en-IN" altLang="en-US" sz="3200" dirty="0">
                <a:effectLst>
                  <a:outerShdw blurRad="38100" dist="38100" dir="2700000" algn="tl">
                    <a:srgbClr val="000000"/>
                  </a:outerShdw>
                </a:effectLst>
              </a:rPr>
            </a:br>
            <a:endParaRPr altLang="en-US" sz="3200" dirty="0">
              <a:cs typeface="Times New Roman" panose="02020603050405020304" pitchFamily="18" charset="0"/>
            </a:endParaRPr>
          </a:p>
        </p:txBody>
      </p:sp>
      <p:sp>
        <p:nvSpPr>
          <p:cNvPr id="3" name="TextBox 2">
            <a:extLst>
              <a:ext uri="{FF2B5EF4-FFF2-40B4-BE49-F238E27FC236}">
                <a16:creationId xmlns:a16="http://schemas.microsoft.com/office/drawing/2014/main" id="{EB33D941-BA51-5F02-63B0-55814D617363}"/>
              </a:ext>
            </a:extLst>
          </p:cNvPr>
          <p:cNvSpPr txBox="1"/>
          <p:nvPr/>
        </p:nvSpPr>
        <p:spPr>
          <a:xfrm>
            <a:off x="203200" y="863600"/>
            <a:ext cx="8496300" cy="561340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5191644-00A0-4534-0EBB-9F7BA95E18D3}"/>
              </a:ext>
            </a:extLst>
          </p:cNvPr>
          <p:cNvSpPr txBox="1"/>
          <p:nvPr/>
        </p:nvSpPr>
        <p:spPr>
          <a:xfrm>
            <a:off x="168769" y="968141"/>
            <a:ext cx="9243481" cy="5699375"/>
          </a:xfrm>
          <a:prstGeom prst="rect">
            <a:avLst/>
          </a:prstGeom>
        </p:spPr>
        <p:txBody>
          <a:bodyPr vert="horz" wrap="square" lIns="91440" tIns="45720" rIns="91440" bIns="45720" rtlCol="0" anchor="t">
            <a:noAutofit/>
          </a:bodyPr>
          <a:lstStyle/>
          <a:p>
            <a:endParaRPr lang="en-US" sz="2000" b="1" dirty="0">
              <a:latin typeface="Calibri"/>
              <a:ea typeface="Calibri"/>
              <a:cs typeface="Calibri"/>
            </a:endParaRPr>
          </a:p>
          <a:p>
            <a:pPr lvl="1"/>
            <a:endParaRPr lang="en-US" sz="2000" b="1" dirty="0">
              <a:latin typeface="Calibri"/>
              <a:ea typeface="Calibri"/>
              <a:cs typeface="Calibri"/>
            </a:endParaRPr>
          </a:p>
          <a:p>
            <a:pPr lvl="1"/>
            <a:endParaRPr lang="en-US" sz="2000" b="1" dirty="0">
              <a:latin typeface="Calibri"/>
              <a:ea typeface="Calibri"/>
              <a:cs typeface="Calibri"/>
            </a:endParaRPr>
          </a:p>
          <a:p>
            <a:endParaRPr lang="en-US" sz="2000" b="1" dirty="0">
              <a:ea typeface="Calibri"/>
              <a:cs typeface="Calibri"/>
            </a:endParaRPr>
          </a:p>
          <a:p>
            <a:pPr lvl="1"/>
            <a:endParaRPr lang="en-US" dirty="0">
              <a:latin typeface="Calibri"/>
              <a:ea typeface="Calibri"/>
              <a:cs typeface="Calibri"/>
            </a:endParaRPr>
          </a:p>
          <a:p>
            <a:endParaRPr lang="en-US" sz="2000" b="1" dirty="0">
              <a:solidFill>
                <a:srgbClr val="000000"/>
              </a:solidFill>
              <a:latin typeface="+mn-lt"/>
              <a:ea typeface="Calibri"/>
              <a:cs typeface="Calibri"/>
            </a:endParaRPr>
          </a:p>
        </p:txBody>
      </p:sp>
      <p:sp>
        <p:nvSpPr>
          <p:cNvPr id="4" name="TextBox 3">
            <a:extLst>
              <a:ext uri="{FF2B5EF4-FFF2-40B4-BE49-F238E27FC236}">
                <a16:creationId xmlns:a16="http://schemas.microsoft.com/office/drawing/2014/main" id="{26947E54-CCAE-1186-EBCB-11A51B9B6DE4}"/>
              </a:ext>
            </a:extLst>
          </p:cNvPr>
          <p:cNvSpPr txBox="1"/>
          <p:nvPr/>
        </p:nvSpPr>
        <p:spPr>
          <a:xfrm>
            <a:off x="198415" y="4105411"/>
            <a:ext cx="6803719" cy="24547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prstClr val="black">
                    <a:lumMod val="75000"/>
                    <a:lumOff val="25000"/>
                  </a:prstClr>
                </a:solidFill>
                <a:latin typeface="Calibri"/>
                <a:ea typeface="Calibri"/>
                <a:cs typeface="Calibri"/>
              </a:rPr>
              <a:t>Module 8: Performance Evaluation</a:t>
            </a:r>
            <a:endParaRPr lang="en-US" sz="2000" dirty="0">
              <a:solidFill>
                <a:prstClr val="black">
                  <a:lumMod val="75000"/>
                  <a:lumOff val="25000"/>
                </a:prstClr>
              </a:solidFill>
              <a:ea typeface="Calibri"/>
              <a:cs typeface="Calibri"/>
            </a:endParaRPr>
          </a:p>
          <a:p>
            <a:pPr marL="285750" indent="-285750">
              <a:buFont typeface="Arial"/>
              <a:buChar char="•"/>
            </a:pPr>
            <a:r>
              <a:rPr lang="en-US" sz="2000" dirty="0">
                <a:solidFill>
                  <a:prstClr val="black">
                    <a:lumMod val="75000"/>
                    <a:lumOff val="25000"/>
                  </a:prstClr>
                </a:solidFill>
                <a:latin typeface="Calibri"/>
                <a:ea typeface="Calibri"/>
                <a:cs typeface="Calibri"/>
              </a:rPr>
              <a:t>Model performance measured using:</a:t>
            </a:r>
            <a:endParaRPr lang="en-US" sz="2000" dirty="0">
              <a:solidFill>
                <a:prstClr val="black">
                  <a:lumMod val="75000"/>
                  <a:lumOff val="25000"/>
                </a:prstClr>
              </a:solidFill>
              <a:ea typeface="Calibri"/>
              <a:cs typeface="Calibri"/>
            </a:endParaRPr>
          </a:p>
          <a:p>
            <a:pPr marL="742950" lvl="1" indent="-285750">
              <a:buFont typeface="Arial"/>
              <a:buChar char="•"/>
            </a:pPr>
            <a:r>
              <a:rPr lang="en-US" sz="2000" dirty="0">
                <a:solidFill>
                  <a:prstClr val="black">
                    <a:lumMod val="75000"/>
                    <a:lumOff val="25000"/>
                  </a:prstClr>
                </a:solidFill>
                <a:latin typeface="Calibri"/>
                <a:ea typeface="Calibri"/>
                <a:cs typeface="Calibri"/>
              </a:rPr>
              <a:t>Accuracy</a:t>
            </a:r>
            <a:endParaRPr lang="en-US" sz="2000" dirty="0">
              <a:solidFill>
                <a:prstClr val="black">
                  <a:lumMod val="75000"/>
                  <a:lumOff val="25000"/>
                </a:prstClr>
              </a:solidFill>
              <a:ea typeface="Calibri"/>
              <a:cs typeface="Calibri"/>
            </a:endParaRPr>
          </a:p>
          <a:p>
            <a:pPr marL="742950" lvl="1" indent="-285750">
              <a:buFont typeface="Arial"/>
              <a:buChar char="•"/>
            </a:pPr>
            <a:r>
              <a:rPr lang="en-US" sz="2000" dirty="0">
                <a:solidFill>
                  <a:prstClr val="black">
                    <a:lumMod val="75000"/>
                    <a:lumOff val="25000"/>
                  </a:prstClr>
                </a:solidFill>
                <a:latin typeface="Calibri"/>
                <a:ea typeface="Calibri"/>
                <a:cs typeface="Calibri"/>
              </a:rPr>
              <a:t>Precision</a:t>
            </a:r>
            <a:endParaRPr lang="en-US" sz="2000" dirty="0">
              <a:solidFill>
                <a:prstClr val="black">
                  <a:lumMod val="75000"/>
                  <a:lumOff val="25000"/>
                </a:prstClr>
              </a:solidFill>
              <a:ea typeface="Calibri"/>
              <a:cs typeface="Calibri"/>
            </a:endParaRPr>
          </a:p>
          <a:p>
            <a:pPr marL="742950" lvl="1" indent="-285750">
              <a:buFont typeface="Arial"/>
              <a:buChar char="•"/>
            </a:pPr>
            <a:r>
              <a:rPr lang="en-US" sz="2000" dirty="0">
                <a:solidFill>
                  <a:prstClr val="black">
                    <a:lumMod val="75000"/>
                    <a:lumOff val="25000"/>
                  </a:prstClr>
                </a:solidFill>
                <a:latin typeface="Calibri"/>
                <a:ea typeface="Calibri"/>
                <a:cs typeface="Calibri"/>
              </a:rPr>
              <a:t>Recall</a:t>
            </a:r>
            <a:endParaRPr lang="en-US" sz="2000" dirty="0">
              <a:solidFill>
                <a:prstClr val="black">
                  <a:lumMod val="75000"/>
                  <a:lumOff val="25000"/>
                </a:prstClr>
              </a:solidFill>
              <a:ea typeface="Calibri"/>
              <a:cs typeface="Calibri"/>
            </a:endParaRPr>
          </a:p>
          <a:p>
            <a:pPr marL="742950" lvl="1" indent="-285750">
              <a:buFont typeface="Arial"/>
              <a:buChar char="•"/>
            </a:pPr>
            <a:r>
              <a:rPr lang="en-US" sz="2000" dirty="0">
                <a:solidFill>
                  <a:prstClr val="black">
                    <a:lumMod val="75000"/>
                    <a:lumOff val="25000"/>
                  </a:prstClr>
                </a:solidFill>
                <a:latin typeface="Calibri"/>
                <a:ea typeface="Calibri"/>
                <a:cs typeface="Calibri"/>
              </a:rPr>
              <a:t>F1-Score</a:t>
            </a:r>
            <a:endParaRPr lang="en-US" sz="2000" dirty="0">
              <a:solidFill>
                <a:prstClr val="black">
                  <a:lumMod val="75000"/>
                  <a:lumOff val="25000"/>
                </a:prstClr>
              </a:solidFill>
              <a:ea typeface="Calibri"/>
              <a:cs typeface="Calibri"/>
            </a:endParaRPr>
          </a:p>
          <a:p>
            <a:pPr marL="742950" lvl="1" indent="-285750">
              <a:buFont typeface="Arial"/>
              <a:buChar char="•"/>
            </a:pPr>
            <a:r>
              <a:rPr lang="en-US" sz="2000" dirty="0">
                <a:solidFill>
                  <a:prstClr val="black">
                    <a:lumMod val="75000"/>
                    <a:lumOff val="25000"/>
                  </a:prstClr>
                </a:solidFill>
                <a:latin typeface="Calibri"/>
                <a:ea typeface="Calibri"/>
                <a:cs typeface="Calibri"/>
              </a:rPr>
              <a:t>Confusion Matrix</a:t>
            </a:r>
            <a:endParaRPr lang="en-US" sz="2000" dirty="0">
              <a:solidFill>
                <a:prstClr val="black">
                  <a:lumMod val="75000"/>
                  <a:lumOff val="25000"/>
                </a:prstClr>
              </a:solidFill>
            </a:endParaRPr>
          </a:p>
          <a:p>
            <a:pPr marL="0" indent="0" algn="l">
              <a:lnSpc>
                <a:spcPts val="1800"/>
              </a:lnSpc>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09EE034-75D6-7095-6B54-11E591144F4E}"/>
              </a:ext>
            </a:extLst>
          </p:cNvPr>
          <p:cNvSpPr txBox="1"/>
          <p:nvPr/>
        </p:nvSpPr>
        <p:spPr>
          <a:xfrm>
            <a:off x="193521" y="1143693"/>
            <a:ext cx="7263006" cy="27953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prstClr val="black">
                    <a:lumMod val="75000"/>
                    <a:lumOff val="25000"/>
                  </a:prstClr>
                </a:solidFill>
                <a:latin typeface="Calibri"/>
                <a:ea typeface="Calibri"/>
                <a:cs typeface="Calibri"/>
              </a:rPr>
              <a:t>Module 7: Similarity Analysis and Final Prediction</a:t>
            </a:r>
            <a:endParaRPr lang="en-US" sz="2000" dirty="0">
              <a:solidFill>
                <a:prstClr val="black">
                  <a:lumMod val="75000"/>
                  <a:lumOff val="25000"/>
                </a:prstClr>
              </a:solidFill>
              <a:ea typeface="Calibri"/>
              <a:cs typeface="Calibri"/>
            </a:endParaRPr>
          </a:p>
          <a:p>
            <a:pPr marL="285750" indent="-285750">
              <a:buFont typeface="Arial"/>
              <a:buChar char="•"/>
            </a:pPr>
            <a:r>
              <a:rPr lang="en-US" sz="2000" dirty="0">
                <a:solidFill>
                  <a:prstClr val="black">
                    <a:lumMod val="75000"/>
                    <a:lumOff val="25000"/>
                  </a:prstClr>
                </a:solidFill>
                <a:latin typeface="Calibri"/>
                <a:ea typeface="Calibri"/>
                <a:cs typeface="Calibri"/>
              </a:rPr>
              <a:t>EEG signals divided into blocks</a:t>
            </a:r>
            <a:endParaRPr lang="en-US" sz="2000" dirty="0">
              <a:solidFill>
                <a:prstClr val="black">
                  <a:lumMod val="75000"/>
                  <a:lumOff val="25000"/>
                </a:prstClr>
              </a:solidFill>
              <a:ea typeface="Calibri"/>
              <a:cs typeface="Calibri"/>
            </a:endParaRPr>
          </a:p>
          <a:p>
            <a:pPr marL="285750" indent="-285750">
              <a:buFont typeface="Arial"/>
              <a:buChar char="•"/>
            </a:pPr>
            <a:r>
              <a:rPr lang="en-US" sz="2000" b="1" dirty="0">
                <a:solidFill>
                  <a:prstClr val="black">
                    <a:lumMod val="75000"/>
                    <a:lumOff val="25000"/>
                  </a:prstClr>
                </a:solidFill>
                <a:latin typeface="Calibri"/>
                <a:ea typeface="Calibri"/>
                <a:cs typeface="Calibri"/>
              </a:rPr>
              <a:t>Roberts Similarity</a:t>
            </a:r>
            <a:r>
              <a:rPr lang="en-US" sz="2000" dirty="0">
                <a:solidFill>
                  <a:prstClr val="black">
                    <a:lumMod val="75000"/>
                    <a:lumOff val="25000"/>
                  </a:prstClr>
                </a:solidFill>
                <a:latin typeface="Calibri"/>
                <a:ea typeface="Calibri"/>
                <a:cs typeface="Calibri"/>
              </a:rPr>
              <a:t> used to compare signal patterns</a:t>
            </a:r>
            <a:endParaRPr lang="en-US" sz="2000" dirty="0">
              <a:solidFill>
                <a:prstClr val="black">
                  <a:lumMod val="75000"/>
                  <a:lumOff val="25000"/>
                </a:prstClr>
              </a:solidFill>
              <a:ea typeface="Calibri"/>
              <a:cs typeface="Calibri"/>
            </a:endParaRPr>
          </a:p>
          <a:p>
            <a:pPr marL="285750" indent="-285750">
              <a:buFont typeface="Arial"/>
              <a:buChar char="•"/>
            </a:pPr>
            <a:r>
              <a:rPr lang="en-US" sz="2000" dirty="0">
                <a:solidFill>
                  <a:prstClr val="black">
                    <a:lumMod val="75000"/>
                    <a:lumOff val="25000"/>
                  </a:prstClr>
                </a:solidFill>
                <a:latin typeface="Calibri"/>
                <a:ea typeface="Calibri"/>
                <a:cs typeface="Calibri"/>
              </a:rPr>
              <a:t>Majority voting applied for final decision</a:t>
            </a:r>
            <a:endParaRPr lang="en-US" sz="2000" dirty="0">
              <a:solidFill>
                <a:prstClr val="black">
                  <a:lumMod val="75000"/>
                  <a:lumOff val="25000"/>
                </a:prstClr>
              </a:solidFill>
              <a:ea typeface="Calibri"/>
              <a:cs typeface="Calibri"/>
            </a:endParaRPr>
          </a:p>
          <a:p>
            <a:pPr marL="285750" indent="-285750">
              <a:buFont typeface="Arial"/>
              <a:buChar char="•"/>
            </a:pPr>
            <a:r>
              <a:rPr lang="en-US" sz="2000" dirty="0">
                <a:solidFill>
                  <a:prstClr val="black">
                    <a:lumMod val="75000"/>
                    <a:lumOff val="25000"/>
                  </a:prstClr>
                </a:solidFill>
                <a:latin typeface="Calibri"/>
                <a:ea typeface="Calibri"/>
                <a:cs typeface="Calibri"/>
              </a:rPr>
              <a:t>Output emotion:</a:t>
            </a:r>
            <a:endParaRPr lang="en-US" sz="2000" dirty="0">
              <a:solidFill>
                <a:prstClr val="black">
                  <a:lumMod val="75000"/>
                  <a:lumOff val="25000"/>
                </a:prstClr>
              </a:solidFill>
              <a:ea typeface="Calibri"/>
              <a:cs typeface="Calibri"/>
            </a:endParaRPr>
          </a:p>
          <a:p>
            <a:pPr marL="742950" lvl="1" indent="-285750">
              <a:buFont typeface="Arial"/>
              <a:buChar char="•"/>
            </a:pPr>
            <a:r>
              <a:rPr lang="en-US" sz="2000" dirty="0">
                <a:solidFill>
                  <a:prstClr val="black">
                    <a:lumMod val="75000"/>
                    <a:lumOff val="25000"/>
                  </a:prstClr>
                </a:solidFill>
                <a:latin typeface="Calibri"/>
                <a:ea typeface="Calibri"/>
                <a:cs typeface="Calibri"/>
              </a:rPr>
              <a:t>Positive</a:t>
            </a:r>
            <a:endParaRPr lang="en-US" sz="2000" dirty="0">
              <a:solidFill>
                <a:prstClr val="black">
                  <a:lumMod val="75000"/>
                  <a:lumOff val="25000"/>
                </a:prstClr>
              </a:solidFill>
              <a:ea typeface="Calibri"/>
              <a:cs typeface="Calibri"/>
            </a:endParaRPr>
          </a:p>
          <a:p>
            <a:pPr marL="742950" lvl="1" indent="-285750">
              <a:buFont typeface="Arial"/>
              <a:buChar char="•"/>
            </a:pPr>
            <a:r>
              <a:rPr lang="en-US" sz="2000" dirty="0">
                <a:solidFill>
                  <a:prstClr val="black">
                    <a:lumMod val="75000"/>
                    <a:lumOff val="25000"/>
                  </a:prstClr>
                </a:solidFill>
                <a:latin typeface="Calibri"/>
                <a:ea typeface="Calibri"/>
                <a:cs typeface="Calibri"/>
              </a:rPr>
              <a:t>Negative</a:t>
            </a:r>
            <a:endParaRPr lang="en-US" sz="2000" dirty="0">
              <a:solidFill>
                <a:prstClr val="black">
                  <a:lumMod val="75000"/>
                  <a:lumOff val="25000"/>
                </a:prstClr>
              </a:solidFill>
              <a:ea typeface="Calibri"/>
              <a:cs typeface="Calibri"/>
            </a:endParaRPr>
          </a:p>
          <a:p>
            <a:pPr marL="742950" lvl="1" indent="-285750">
              <a:buFont typeface="Arial"/>
              <a:buChar char="•"/>
            </a:pPr>
            <a:r>
              <a:rPr lang="en-US" sz="2000" dirty="0">
                <a:solidFill>
                  <a:prstClr val="black">
                    <a:lumMod val="75000"/>
                    <a:lumOff val="25000"/>
                  </a:prstClr>
                </a:solidFill>
                <a:latin typeface="Calibri"/>
                <a:ea typeface="Calibri"/>
                <a:cs typeface="Calibri"/>
              </a:rPr>
              <a:t>Neutral</a:t>
            </a:r>
            <a:endParaRPr lang="en-US" sz="2000" dirty="0">
              <a:solidFill>
                <a:prstClr val="black">
                  <a:lumMod val="75000"/>
                  <a:lumOff val="25000"/>
                </a:prstClr>
              </a:solidFill>
              <a:ea typeface="Calibri"/>
              <a:cs typeface="Calibri"/>
            </a:endParaRPr>
          </a:p>
          <a:p>
            <a:pPr marL="0" indent="0" algn="l">
              <a:lnSpc>
                <a:spcPts val="1800"/>
              </a:lnSpc>
              <a:spcAft>
                <a:spcPts val="600"/>
              </a:spcAft>
              <a:buNone/>
            </a:pPr>
            <a:endParaRPr lang="en-US" sz="2000" dirty="0">
              <a:solidFill>
                <a:prstClr val="black">
                  <a:lumMod val="75000"/>
                  <a:lumOff val="25000"/>
                </a:prstClr>
              </a:solidFill>
              <a:latin typeface="Calibri"/>
              <a:ea typeface="+mn-lt"/>
              <a:cs typeface="Segoe UI" panose="020B0502040204020203" pitchFamily="34" charset="0"/>
            </a:endParaRPr>
          </a:p>
        </p:txBody>
      </p:sp>
    </p:spTree>
    <p:extLst>
      <p:ext uri="{BB962C8B-B14F-4D97-AF65-F5344CB8AC3E}">
        <p14:creationId xmlns:p14="http://schemas.microsoft.com/office/powerpoint/2010/main" val="2732959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69D43-38DC-BD4D-53A5-B246DC478EAB}"/>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7554789A-1AFF-D33E-2B8A-18520C71CE81}"/>
              </a:ext>
            </a:extLst>
          </p:cNvPr>
          <p:cNvSpPr>
            <a:spLocks noGrp="1"/>
          </p:cNvSpPr>
          <p:nvPr>
            <p:ph type="title"/>
          </p:nvPr>
        </p:nvSpPr>
        <p:spPr>
          <a:xfrm>
            <a:off x="87313" y="292100"/>
            <a:ext cx="6599237" cy="431800"/>
          </a:xfrm>
        </p:spPr>
        <p:txBody>
          <a:bodyPr>
            <a:noAutofit/>
          </a:bodyPr>
          <a:lstStyle/>
          <a:p>
            <a:pPr eaLnBrk="1" hangingPunct="1">
              <a:defRPr/>
            </a:pPr>
            <a:r>
              <a:rPr lang="en-US" altLang="en-US" sz="3200" dirty="0">
                <a:effectLst>
                  <a:outerShdw blurRad="38100" dist="38100" dir="2700000" algn="tl">
                    <a:srgbClr val="000000"/>
                  </a:outerShdw>
                </a:effectLst>
                <a:sym typeface="+mn-ea"/>
              </a:rPr>
              <a:t>UML DIAGRAMS</a:t>
            </a:r>
            <a:endParaRPr lang="en-US" altLang="en-US" sz="3200" dirty="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2" name="TextBox 1">
            <a:extLst>
              <a:ext uri="{FF2B5EF4-FFF2-40B4-BE49-F238E27FC236}">
                <a16:creationId xmlns:a16="http://schemas.microsoft.com/office/drawing/2014/main" id="{A3C86C79-9CD6-C1B7-ACE6-CE507C4D64D1}"/>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564B4DE5-8C92-E9AC-8208-013EA1737D53}"/>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0104D030-6123-4096-18ED-FFE1FDAC6F5F}"/>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94F6B13C-A261-699A-CDBB-62C5D002BB09}"/>
              </a:ext>
            </a:extLst>
          </p:cNvPr>
          <p:cNvSpPr>
            <a:spLocks noGrp="1"/>
          </p:cNvSpPr>
          <p:nvPr>
            <p:ph idx="1"/>
          </p:nvPr>
        </p:nvSpPr>
        <p:spPr>
          <a:xfrm>
            <a:off x="453325" y="718946"/>
            <a:ext cx="8237348" cy="5458017"/>
          </a:xfrm>
        </p:spPr>
        <p:txBody>
          <a:bodyPr/>
          <a:lstStyle/>
          <a:p>
            <a:pPr algn="just">
              <a:buNone/>
            </a:pPr>
            <a:r>
              <a:rPr lang="en-US" sz="2000" b="1" dirty="0">
                <a:solidFill>
                  <a:srgbClr val="404040"/>
                </a:solidFill>
                <a:ea typeface="+mn-lt"/>
                <a:cs typeface="+mn-lt"/>
              </a:rPr>
              <a:t>Class Diagram</a:t>
            </a:r>
            <a:r>
              <a:rPr lang="en-US" sz="2000" dirty="0">
                <a:solidFill>
                  <a:srgbClr val="404040"/>
                </a:solidFill>
                <a:ea typeface="+mn-lt"/>
                <a:cs typeface="+mn-lt"/>
              </a:rPr>
              <a:t>:  </a:t>
            </a: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pic>
        <p:nvPicPr>
          <p:cNvPr id="6" name="Picture 5" descr="A diagram of a computer&#10;&#10;AI-generated content may be incorrect.">
            <a:extLst>
              <a:ext uri="{FF2B5EF4-FFF2-40B4-BE49-F238E27FC236}">
                <a16:creationId xmlns:a16="http://schemas.microsoft.com/office/drawing/2014/main" id="{8D87AEDC-DC0A-175A-6473-A5B001B6D55A}"/>
              </a:ext>
            </a:extLst>
          </p:cNvPr>
          <p:cNvPicPr>
            <a:picLocks noChangeAspect="1"/>
          </p:cNvPicPr>
          <p:nvPr/>
        </p:nvPicPr>
        <p:blipFill>
          <a:blip r:embed="rId2"/>
          <a:stretch>
            <a:fillRect/>
          </a:stretch>
        </p:blipFill>
        <p:spPr>
          <a:xfrm>
            <a:off x="937576" y="1221288"/>
            <a:ext cx="7268848" cy="5459260"/>
          </a:xfrm>
          <a:prstGeom prst="rect">
            <a:avLst/>
          </a:prstGeom>
        </p:spPr>
      </p:pic>
    </p:spTree>
    <p:extLst>
      <p:ext uri="{BB962C8B-B14F-4D97-AF65-F5344CB8AC3E}">
        <p14:creationId xmlns:p14="http://schemas.microsoft.com/office/powerpoint/2010/main" val="1590766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2">
            <a:extLst>
              <a:ext uri="{FF2B5EF4-FFF2-40B4-BE49-F238E27FC236}">
                <a16:creationId xmlns:a16="http://schemas.microsoft.com/office/drawing/2014/main" id="{9574B424-60A0-2145-BF1F-D1D29F80EDEC}"/>
              </a:ext>
            </a:extLst>
          </p:cNvPr>
          <p:cNvSpPr>
            <a:spLocks noGrp="1"/>
          </p:cNvSpPr>
          <p:nvPr>
            <p:ph type="title"/>
          </p:nvPr>
        </p:nvSpPr>
        <p:spPr>
          <a:xfrm>
            <a:off x="87313" y="292100"/>
            <a:ext cx="6599237" cy="431800"/>
          </a:xfrm>
        </p:spPr>
        <p:txBody>
          <a:bodyPr>
            <a:noAutofit/>
          </a:bodyPr>
          <a:lstStyle/>
          <a:p>
            <a:pPr eaLnBrk="1" hangingPunct="1">
              <a:defRPr/>
            </a:pPr>
            <a:r>
              <a:rPr lang="en-US" altLang="en-US" sz="3200" dirty="0">
                <a:effectLst>
                  <a:outerShdw blurRad="38100" dist="38100" dir="2700000" algn="tl">
                    <a:srgbClr val="000000"/>
                  </a:outerShdw>
                </a:effectLst>
                <a:sym typeface="+mn-ea"/>
              </a:rPr>
              <a:t>UML DIAGRAMS</a:t>
            </a:r>
            <a:endParaRPr lang="en-US" altLang="en-US" sz="3200" dirty="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2" name="TextBox 1">
            <a:extLst>
              <a:ext uri="{FF2B5EF4-FFF2-40B4-BE49-F238E27FC236}">
                <a16:creationId xmlns:a16="http://schemas.microsoft.com/office/drawing/2014/main" id="{2E8D9E14-ED54-F02E-151A-D7F2F6CC65F2}"/>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08081B97-4557-115C-92B2-9DD110E3CF3F}"/>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1477E45B-9BDA-1AC6-249B-577D17FF96D2}"/>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E131195A-3617-B3B9-BB19-FD30655407ED}"/>
              </a:ext>
            </a:extLst>
          </p:cNvPr>
          <p:cNvSpPr>
            <a:spLocks noGrp="1"/>
          </p:cNvSpPr>
          <p:nvPr>
            <p:ph idx="1"/>
          </p:nvPr>
        </p:nvSpPr>
        <p:spPr>
          <a:xfrm>
            <a:off x="453325" y="718946"/>
            <a:ext cx="8237348" cy="5458017"/>
          </a:xfrm>
        </p:spPr>
        <p:txBody>
          <a:bodyPr/>
          <a:lstStyle/>
          <a:p>
            <a:pPr algn="just">
              <a:lnSpc>
                <a:spcPts val="1800"/>
              </a:lnSpc>
              <a:spcBef>
                <a:spcPct val="0"/>
              </a:spcBef>
              <a:spcAft>
                <a:spcPts val="600"/>
              </a:spcAft>
              <a:buNone/>
            </a:pPr>
            <a:r>
              <a:rPr lang="en-US" sz="2000" b="1" dirty="0">
                <a:solidFill>
                  <a:srgbClr val="404040"/>
                </a:solidFill>
                <a:ea typeface="Calibri"/>
                <a:cs typeface="Calibri"/>
              </a:rPr>
              <a:t>Use Case Diagram</a:t>
            </a:r>
            <a:r>
              <a:rPr lang="en-US" sz="2000" dirty="0">
                <a:solidFill>
                  <a:srgbClr val="404040"/>
                </a:solidFill>
                <a:ea typeface="Calibri"/>
                <a:cs typeface="Calibri"/>
              </a:rPr>
              <a:t>:</a:t>
            </a:r>
            <a:endParaRPr lang="en-US" sz="2000" dirty="0">
              <a:ea typeface="Calibri"/>
              <a:cs typeface="Calibri"/>
            </a:endParaRPr>
          </a:p>
          <a:p>
            <a:pPr algn="just">
              <a:lnSpc>
                <a:spcPts val="1800"/>
              </a:lnSpc>
              <a:spcBef>
                <a:spcPct val="0"/>
              </a:spcBef>
              <a:spcAft>
                <a:spcPts val="600"/>
              </a:spcAft>
              <a:buNone/>
            </a:pPr>
            <a:r>
              <a:rPr lang="en-US" sz="2000" dirty="0">
                <a:solidFill>
                  <a:srgbClr val="404040"/>
                </a:solidFill>
                <a:ea typeface="Calibri"/>
                <a:cs typeface="Calibri"/>
              </a:rPr>
              <a:t>A use case diagram in the Unified  Modeling Language (UML) is a type of behavioral diagram defined by and created from a Use-case analysis. Its purpose is to present a graphical overview of the functionality provided by a systemin terms of actors, their goals(represented as use cases), and any dependencies between those use cases. The main purpose of a use case diagram is to show   functions are performed for which actor. Roles of the actors in the system can be depicted.</a:t>
            </a: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pic>
        <p:nvPicPr>
          <p:cNvPr id="7" name="Picture 6">
            <a:extLst>
              <a:ext uri="{FF2B5EF4-FFF2-40B4-BE49-F238E27FC236}">
                <a16:creationId xmlns:a16="http://schemas.microsoft.com/office/drawing/2014/main" id="{2699CEE2-3A4A-7D43-EF46-FD53B13EF0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408" y="2778319"/>
            <a:ext cx="6521183" cy="367626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220F9-80E3-159D-D8C4-272E76399D08}"/>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A5118D7D-1A15-58D6-C735-1CD4DD2B15AC}"/>
              </a:ext>
            </a:extLst>
          </p:cNvPr>
          <p:cNvSpPr>
            <a:spLocks noGrp="1"/>
          </p:cNvSpPr>
          <p:nvPr>
            <p:ph type="title"/>
          </p:nvPr>
        </p:nvSpPr>
        <p:spPr>
          <a:xfrm>
            <a:off x="87313" y="292100"/>
            <a:ext cx="6599237" cy="431800"/>
          </a:xfrm>
        </p:spPr>
        <p:txBody>
          <a:bodyPr>
            <a:noAutofit/>
          </a:bodyPr>
          <a:lstStyle/>
          <a:p>
            <a:pPr eaLnBrk="1" hangingPunct="1">
              <a:defRPr/>
            </a:pPr>
            <a:r>
              <a:rPr lang="en-US" altLang="en-US" sz="3200" dirty="0">
                <a:effectLst>
                  <a:outerShdw blurRad="38100" dist="38100" dir="2700000" algn="tl">
                    <a:srgbClr val="000000"/>
                  </a:outerShdw>
                </a:effectLst>
                <a:sym typeface="+mn-ea"/>
              </a:rPr>
              <a:t>UML DIAGRAMS</a:t>
            </a:r>
            <a:endParaRPr lang="en-US" altLang="en-US" sz="3200" dirty="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2" name="TextBox 1">
            <a:extLst>
              <a:ext uri="{FF2B5EF4-FFF2-40B4-BE49-F238E27FC236}">
                <a16:creationId xmlns:a16="http://schemas.microsoft.com/office/drawing/2014/main" id="{DFF97F35-2B14-E447-AF09-4CAFD1DAFF6F}"/>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3C74469C-E73D-A1E4-70F4-3C0961D85D9C}"/>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FA74612F-05F5-09F5-2CD0-11F1B1E61B57}"/>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288CDE63-DEF2-9C67-C95C-2CD84753BBCB}"/>
              </a:ext>
            </a:extLst>
          </p:cNvPr>
          <p:cNvSpPr>
            <a:spLocks noGrp="1"/>
          </p:cNvSpPr>
          <p:nvPr>
            <p:ph idx="1"/>
          </p:nvPr>
        </p:nvSpPr>
        <p:spPr>
          <a:xfrm>
            <a:off x="453325" y="718946"/>
            <a:ext cx="8237348" cy="5458017"/>
          </a:xfrm>
        </p:spPr>
        <p:txBody>
          <a:bodyPr/>
          <a:lstStyle/>
          <a:p>
            <a:pPr algn="just">
              <a:lnSpc>
                <a:spcPts val="1800"/>
              </a:lnSpc>
              <a:spcBef>
                <a:spcPct val="0"/>
              </a:spcBef>
              <a:spcAft>
                <a:spcPts val="600"/>
              </a:spcAft>
              <a:buNone/>
            </a:pPr>
            <a:r>
              <a:rPr lang="en-US" sz="2000" b="1" dirty="0">
                <a:solidFill>
                  <a:srgbClr val="404040"/>
                </a:solidFill>
                <a:ea typeface="+mn-lt"/>
                <a:cs typeface="+mn-lt"/>
              </a:rPr>
              <a:t>Sequence Diagram</a:t>
            </a:r>
            <a:r>
              <a:rPr lang="en-US" sz="2000" dirty="0">
                <a:solidFill>
                  <a:srgbClr val="404040"/>
                </a:solidFill>
                <a:ea typeface="+mn-lt"/>
                <a:cs typeface="+mn-lt"/>
              </a:rPr>
              <a:t>: </a:t>
            </a:r>
          </a:p>
          <a:p>
            <a:pPr algn="just">
              <a:lnSpc>
                <a:spcPts val="1800"/>
              </a:lnSpc>
              <a:spcBef>
                <a:spcPct val="0"/>
              </a:spcBef>
              <a:spcAft>
                <a:spcPts val="600"/>
              </a:spcAft>
              <a:buNone/>
            </a:pPr>
            <a:r>
              <a:rPr lang="en-US" sz="2000" dirty="0">
                <a:solidFill>
                  <a:srgbClr val="404040"/>
                </a:solidFill>
                <a:ea typeface="+mn-lt"/>
                <a:cs typeface="+mn-lt"/>
              </a:rPr>
              <a:t>A sequence diagram in Unified Modeling Language (UML) is a kind of interaction diagram that shows how processes operate with one another and in what order.</a:t>
            </a:r>
            <a:endParaRPr lang="en-US" sz="2000" b="1"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1854200"/>
            <a:ext cx="8345638" cy="4673600"/>
          </a:xfrm>
          <a:prstGeom prst="rect">
            <a:avLst/>
          </a:prstGeom>
        </p:spPr>
      </p:pic>
    </p:spTree>
    <p:extLst>
      <p:ext uri="{BB962C8B-B14F-4D97-AF65-F5344CB8AC3E}">
        <p14:creationId xmlns:p14="http://schemas.microsoft.com/office/powerpoint/2010/main" val="2358365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937F3-1F61-AEEF-D1BF-AEED0756380B}"/>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B9A5E9E6-EDEA-2A43-C920-706236EE53EA}"/>
              </a:ext>
            </a:extLst>
          </p:cNvPr>
          <p:cNvSpPr>
            <a:spLocks noGrp="1"/>
          </p:cNvSpPr>
          <p:nvPr>
            <p:ph type="title"/>
          </p:nvPr>
        </p:nvSpPr>
        <p:spPr>
          <a:xfrm>
            <a:off x="87313" y="292100"/>
            <a:ext cx="6599237" cy="431800"/>
          </a:xfrm>
        </p:spPr>
        <p:txBody>
          <a:bodyPr>
            <a:noAutofit/>
          </a:bodyPr>
          <a:lstStyle/>
          <a:p>
            <a:pPr eaLnBrk="1" hangingPunct="1">
              <a:defRPr/>
            </a:pPr>
            <a:r>
              <a:rPr lang="en-US" altLang="en-US" sz="3200" dirty="0">
                <a:effectLst>
                  <a:outerShdw blurRad="38100" dist="38100" dir="2700000" algn="tl">
                    <a:srgbClr val="000000"/>
                  </a:outerShdw>
                </a:effectLst>
                <a:sym typeface="+mn-ea"/>
              </a:rPr>
              <a:t>UML DIAGRAMS</a:t>
            </a:r>
            <a:endParaRPr lang="en-US" altLang="en-US" sz="3200" dirty="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2" name="TextBox 1">
            <a:extLst>
              <a:ext uri="{FF2B5EF4-FFF2-40B4-BE49-F238E27FC236}">
                <a16:creationId xmlns:a16="http://schemas.microsoft.com/office/drawing/2014/main" id="{2A09B543-A9B1-C73C-1C31-A4EEB1CC7533}"/>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189906B5-875B-8743-6B9C-2B220A115E9B}"/>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FBD4CDEE-3EAF-F3E7-882A-70061AD6E056}"/>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731CB366-C94C-F8D1-B6E9-5416D0187686}"/>
              </a:ext>
            </a:extLst>
          </p:cNvPr>
          <p:cNvSpPr>
            <a:spLocks noGrp="1"/>
          </p:cNvSpPr>
          <p:nvPr>
            <p:ph idx="1"/>
          </p:nvPr>
        </p:nvSpPr>
        <p:spPr>
          <a:xfrm>
            <a:off x="453325" y="718946"/>
            <a:ext cx="8237348" cy="5458017"/>
          </a:xfrm>
        </p:spPr>
        <p:txBody>
          <a:bodyPr/>
          <a:lstStyle/>
          <a:p>
            <a:pPr algn="just">
              <a:buNone/>
            </a:pPr>
            <a:r>
              <a:rPr lang="en-US" sz="2000" b="1" dirty="0">
                <a:solidFill>
                  <a:srgbClr val="404040"/>
                </a:solidFill>
                <a:ea typeface="+mn-lt"/>
                <a:cs typeface="+mn-lt"/>
              </a:rPr>
              <a:t>Activity Diagram:</a:t>
            </a:r>
            <a:r>
              <a:rPr lang="en-US" sz="2000" dirty="0">
                <a:solidFill>
                  <a:srgbClr val="404040"/>
                </a:solidFill>
                <a:ea typeface="+mn-lt"/>
                <a:cs typeface="+mn-lt"/>
              </a:rPr>
              <a:t> Shows the step-by-step workflow of activities and the overall flow of control in a system, including decisions and parallel processes.</a:t>
            </a:r>
            <a:endParaRPr lang="en-US" dirty="0"/>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pic>
        <p:nvPicPr>
          <p:cNvPr id="7" name="Picture 6">
            <a:extLst>
              <a:ext uri="{FF2B5EF4-FFF2-40B4-BE49-F238E27FC236}">
                <a16:creationId xmlns:a16="http://schemas.microsoft.com/office/drawing/2014/main" id="{8DA4BCCB-CF8D-2144-76A8-2D05046AC2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945" y="1548882"/>
            <a:ext cx="7306108" cy="4917232"/>
          </a:xfrm>
          <a:prstGeom prst="rect">
            <a:avLst/>
          </a:prstGeom>
        </p:spPr>
      </p:pic>
    </p:spTree>
    <p:extLst>
      <p:ext uri="{BB962C8B-B14F-4D97-AF65-F5344CB8AC3E}">
        <p14:creationId xmlns:p14="http://schemas.microsoft.com/office/powerpoint/2010/main" val="200549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DF6AE8-A0CB-EC9D-127D-4EA6DEE1B975}"/>
              </a:ext>
            </a:extLst>
          </p:cNvPr>
          <p:cNvSpPr>
            <a:spLocks noGrp="1"/>
          </p:cNvSpPr>
          <p:nvPr>
            <p:ph idx="1"/>
          </p:nvPr>
        </p:nvSpPr>
        <p:spPr>
          <a:xfrm>
            <a:off x="453325" y="821094"/>
            <a:ext cx="8237348" cy="5355869"/>
          </a:xfrm>
        </p:spPr>
        <p:txBody>
          <a:bodyPr/>
          <a:lstStyle/>
          <a:p>
            <a:r>
              <a:rPr lang="en-US" b="1" dirty="0"/>
              <a:t>Component diagram: </a:t>
            </a:r>
            <a:r>
              <a:rPr lang="en-IN" dirty="0"/>
              <a:t>A component diagram is a type of UML structural diagram used to model the physical aspects of a system. It breaks down a complex system into smaller, manageable components. Each component represents a modular part of the system, such as a software module, library, or executable, that can be independently developed and later integrated into the complete system.</a:t>
            </a:r>
          </a:p>
        </p:txBody>
      </p:sp>
      <p:sp>
        <p:nvSpPr>
          <p:cNvPr id="3" name="Title 2">
            <a:extLst>
              <a:ext uri="{FF2B5EF4-FFF2-40B4-BE49-F238E27FC236}">
                <a16:creationId xmlns:a16="http://schemas.microsoft.com/office/drawing/2014/main" id="{2E4ED368-540E-25F7-CD4E-F8C9C419591C}"/>
              </a:ext>
            </a:extLst>
          </p:cNvPr>
          <p:cNvSpPr>
            <a:spLocks noGrp="1"/>
          </p:cNvSpPr>
          <p:nvPr>
            <p:ph type="title"/>
          </p:nvPr>
        </p:nvSpPr>
        <p:spPr/>
        <p:txBody>
          <a:bodyPr/>
          <a:lstStyle/>
          <a:p>
            <a:r>
              <a:rPr lang="en-US" dirty="0"/>
              <a:t>UML DIAGRAMS</a:t>
            </a:r>
            <a:endParaRPr lang="en-IN" dirty="0"/>
          </a:p>
        </p:txBody>
      </p:sp>
      <p:pic>
        <p:nvPicPr>
          <p:cNvPr id="5" name="Picture 4">
            <a:extLst>
              <a:ext uri="{FF2B5EF4-FFF2-40B4-BE49-F238E27FC236}">
                <a16:creationId xmlns:a16="http://schemas.microsoft.com/office/drawing/2014/main" id="{A5B6B893-C44C-FFAA-DBD6-0F03AD196B1C}"/>
              </a:ext>
            </a:extLst>
          </p:cNvPr>
          <p:cNvPicPr>
            <a:picLocks noChangeAspect="1"/>
          </p:cNvPicPr>
          <p:nvPr/>
        </p:nvPicPr>
        <p:blipFill>
          <a:blip r:embed="rId2">
            <a:extLst>
              <a:ext uri="{28A0092B-C50C-407E-A947-70E740481C1C}">
                <a14:useLocalDpi xmlns:a14="http://schemas.microsoft.com/office/drawing/2010/main" val="0"/>
              </a:ext>
            </a:extLst>
          </a:blip>
          <a:srcRect r="1333" b="6448"/>
          <a:stretch>
            <a:fillRect/>
          </a:stretch>
        </p:blipFill>
        <p:spPr>
          <a:xfrm>
            <a:off x="1427582" y="2502383"/>
            <a:ext cx="6559421" cy="3986184"/>
          </a:xfrm>
          <a:prstGeom prst="rect">
            <a:avLst/>
          </a:prstGeom>
        </p:spPr>
      </p:pic>
    </p:spTree>
    <p:extLst>
      <p:ext uri="{BB962C8B-B14F-4D97-AF65-F5344CB8AC3E}">
        <p14:creationId xmlns:p14="http://schemas.microsoft.com/office/powerpoint/2010/main" val="497440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E7CDF-A357-0A10-3BD2-74D179B1D356}"/>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58D8448D-1F7F-8659-89A4-00849402465A}"/>
              </a:ext>
            </a:extLst>
          </p:cNvPr>
          <p:cNvSpPr>
            <a:spLocks noGrp="1"/>
          </p:cNvSpPr>
          <p:nvPr>
            <p:ph type="title"/>
          </p:nvPr>
        </p:nvSpPr>
        <p:spPr>
          <a:xfrm>
            <a:off x="87313" y="292100"/>
            <a:ext cx="6599237" cy="431800"/>
          </a:xfrm>
        </p:spPr>
        <p:txBody>
          <a:bodyPr>
            <a:noAutofit/>
          </a:bodyPr>
          <a:lstStyle/>
          <a:p>
            <a:pPr eaLnBrk="1" hangingPunct="1">
              <a:defRPr/>
            </a:pPr>
            <a:r>
              <a:rPr lang="en-US" altLang="en-US" sz="3200" dirty="0">
                <a:effectLst>
                  <a:outerShdw blurRad="38100" dist="38100" dir="2700000" algn="tl">
                    <a:srgbClr val="000000"/>
                  </a:outerShdw>
                </a:effectLst>
                <a:sym typeface="+mn-ea"/>
              </a:rPr>
              <a:t>UML DIAGRAMS</a:t>
            </a:r>
            <a:endParaRPr lang="en-US" altLang="en-US" sz="3200" dirty="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2" name="TextBox 1">
            <a:extLst>
              <a:ext uri="{FF2B5EF4-FFF2-40B4-BE49-F238E27FC236}">
                <a16:creationId xmlns:a16="http://schemas.microsoft.com/office/drawing/2014/main" id="{4B8E966D-0CA0-F1CE-095D-7C7AEA7EAFB5}"/>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E9CB9757-1F95-44C7-00DF-ACBE326F04F4}"/>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90BBE16F-C131-72B9-5770-3297BC85E8BE}"/>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67DE15A5-52F0-A08A-F94B-5CD1D380D72D}"/>
              </a:ext>
            </a:extLst>
          </p:cNvPr>
          <p:cNvSpPr>
            <a:spLocks noGrp="1"/>
          </p:cNvSpPr>
          <p:nvPr>
            <p:ph idx="1"/>
          </p:nvPr>
        </p:nvSpPr>
        <p:spPr>
          <a:xfrm>
            <a:off x="453325" y="718946"/>
            <a:ext cx="8237348" cy="5458017"/>
          </a:xfrm>
        </p:spPr>
        <p:txBody>
          <a:bodyPr/>
          <a:lstStyle/>
          <a:p>
            <a:pPr algn="just">
              <a:buNone/>
            </a:pPr>
            <a:r>
              <a:rPr lang="en-US" sz="2000" b="1" dirty="0">
                <a:solidFill>
                  <a:srgbClr val="404040"/>
                </a:solidFill>
                <a:ea typeface="+mn-lt"/>
                <a:cs typeface="+mn-lt"/>
              </a:rPr>
              <a:t>Deployment Diagram:</a:t>
            </a:r>
            <a:r>
              <a:rPr lang="en-US" sz="2000" dirty="0">
                <a:solidFill>
                  <a:srgbClr val="404040"/>
                </a:solidFill>
                <a:ea typeface="+mn-lt"/>
                <a:cs typeface="+mn-lt"/>
              </a:rPr>
              <a:t> Shows the physical hardware (nodes) and how software components are deployed on them in a system.</a:t>
            </a:r>
            <a:endParaRPr lang="en-US" dirty="0"/>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519" y="2047725"/>
            <a:ext cx="7010400" cy="4129238"/>
          </a:xfrm>
          <a:prstGeom prst="rect">
            <a:avLst/>
          </a:prstGeom>
        </p:spPr>
      </p:pic>
    </p:spTree>
    <p:extLst>
      <p:ext uri="{BB962C8B-B14F-4D97-AF65-F5344CB8AC3E}">
        <p14:creationId xmlns:p14="http://schemas.microsoft.com/office/powerpoint/2010/main" val="1860728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AB948-1286-60F1-02DF-C2484B8D752E}"/>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74492C50-3776-8B31-1A77-0925707439D1}"/>
              </a:ext>
            </a:extLst>
          </p:cNvPr>
          <p:cNvSpPr txBox="1">
            <a:spLocks noChangeArrowheads="1"/>
          </p:cNvSpPr>
          <p:nvPr/>
        </p:nvSpPr>
        <p:spPr>
          <a:xfrm>
            <a:off x="222250" y="222250"/>
            <a:ext cx="7008813" cy="509588"/>
          </a:xfrm>
          <a:prstGeom prst="rect">
            <a:avLst/>
          </a:prstGeom>
          <a:noFill/>
          <a:effectLst/>
        </p:spPr>
        <p:txBody>
          <a:bodyPr lIns="91440" tIns="45720" rIns="91440" bIns="45720"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Calibri"/>
                <a:cs typeface="Calibri"/>
              </a:rPr>
              <a:t>SOFTWARE AND HARDWARE</a:t>
            </a:r>
          </a:p>
        </p:txBody>
      </p:sp>
      <p:sp>
        <p:nvSpPr>
          <p:cNvPr id="25603" name="Content Placeholder 2">
            <a:extLst>
              <a:ext uri="{FF2B5EF4-FFF2-40B4-BE49-F238E27FC236}">
                <a16:creationId xmlns:a16="http://schemas.microsoft.com/office/drawing/2014/main" id="{EEA94DDA-10E2-A272-28C9-4A122F69979D}"/>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5604" name="Text Box 2">
            <a:extLst>
              <a:ext uri="{FF2B5EF4-FFF2-40B4-BE49-F238E27FC236}">
                <a16:creationId xmlns:a16="http://schemas.microsoft.com/office/drawing/2014/main" id="{7B1BCF20-DA01-609C-E766-41C1807B7BCF}"/>
              </a:ext>
            </a:extLst>
          </p:cNvPr>
          <p:cNvSpPr txBox="1">
            <a:spLocks noChangeArrowheads="1"/>
          </p:cNvSpPr>
          <p:nvPr/>
        </p:nvSpPr>
        <p:spPr bwMode="auto">
          <a:xfrm>
            <a:off x="457200" y="1030462"/>
            <a:ext cx="8418773"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r>
              <a:rPr lang="en-IN" sz="2000" b="1" dirty="0">
                <a:solidFill>
                  <a:srgbClr val="FF0000"/>
                </a:solidFill>
                <a:latin typeface="Calibri"/>
                <a:ea typeface="Calibri"/>
                <a:cs typeface="Calibri"/>
              </a:rPr>
              <a:t>SOFTWARE REQUIREMENTS:</a:t>
            </a:r>
            <a:endParaRPr lang="en-US" sz="2000" b="1" dirty="0">
              <a:solidFill>
                <a:srgbClr val="FF0000"/>
              </a:solidFill>
              <a:ea typeface="Calibri"/>
              <a:cs typeface="Calibri"/>
            </a:endParaRPr>
          </a:p>
          <a:p>
            <a:pPr algn="just"/>
            <a:endParaRPr lang="en-IN" sz="2000" b="1" dirty="0">
              <a:latin typeface="Calibri"/>
              <a:ea typeface="Calibri"/>
              <a:cs typeface="Calibri"/>
            </a:endParaRPr>
          </a:p>
          <a:p>
            <a:pPr algn="just"/>
            <a:r>
              <a:rPr lang="en-IN" sz="2000" b="1" dirty="0">
                <a:latin typeface="Calibri"/>
                <a:ea typeface="Calibri"/>
                <a:cs typeface="Calibri"/>
              </a:rPr>
              <a:t>Operating System</a:t>
            </a:r>
            <a:r>
              <a:rPr lang="en-IN" sz="2000" dirty="0">
                <a:latin typeface="Calibri"/>
                <a:ea typeface="Calibri"/>
                <a:cs typeface="Calibri"/>
              </a:rPr>
              <a:t> : Windows 7/8/10</a:t>
            </a:r>
            <a:endParaRPr lang="en-IN" sz="2000" dirty="0">
              <a:ea typeface="Calibri"/>
              <a:cs typeface="Calibri"/>
            </a:endParaRPr>
          </a:p>
          <a:p>
            <a:pPr algn="just"/>
            <a:r>
              <a:rPr lang="en-IN" sz="2000" b="1" dirty="0">
                <a:latin typeface="Calibri"/>
                <a:ea typeface="Calibri"/>
                <a:cs typeface="Calibri"/>
              </a:rPr>
              <a:t>Server side Script </a:t>
            </a:r>
            <a:r>
              <a:rPr lang="en-IN" sz="2000" dirty="0">
                <a:latin typeface="Calibri"/>
                <a:ea typeface="Calibri"/>
                <a:cs typeface="Calibri"/>
              </a:rPr>
              <a:t>: HTML, CSS, Bootstrap &amp; JS</a:t>
            </a:r>
            <a:endParaRPr lang="en-IN" sz="2000" dirty="0">
              <a:ea typeface="Calibri"/>
              <a:cs typeface="Calibri"/>
            </a:endParaRPr>
          </a:p>
          <a:p>
            <a:pPr algn="just"/>
            <a:r>
              <a:rPr lang="en-IN" sz="2000" b="1" dirty="0">
                <a:latin typeface="Calibri"/>
                <a:ea typeface="Calibri"/>
                <a:cs typeface="Calibri"/>
              </a:rPr>
              <a:t>Programming Language </a:t>
            </a:r>
            <a:r>
              <a:rPr lang="en-IN" sz="2000" dirty="0">
                <a:latin typeface="Calibri"/>
                <a:ea typeface="Calibri"/>
                <a:cs typeface="Calibri"/>
              </a:rPr>
              <a:t>: Python</a:t>
            </a:r>
            <a:endParaRPr lang="en-IN" sz="2000" dirty="0">
              <a:ea typeface="Calibri"/>
              <a:cs typeface="Calibri"/>
            </a:endParaRPr>
          </a:p>
          <a:p>
            <a:pPr algn="just"/>
            <a:r>
              <a:rPr lang="en-IN" sz="2000" b="1" dirty="0">
                <a:latin typeface="Calibri"/>
                <a:ea typeface="Calibri"/>
                <a:cs typeface="Calibri"/>
              </a:rPr>
              <a:t>Libraries: </a:t>
            </a:r>
            <a:r>
              <a:rPr lang="en-IN" sz="2000" dirty="0">
                <a:latin typeface="Calibri"/>
                <a:ea typeface="Calibri"/>
                <a:cs typeface="Calibri"/>
              </a:rPr>
              <a:t>Flask, Pandas, Torch, </a:t>
            </a:r>
            <a:r>
              <a:rPr lang="en-IN" sz="2000" dirty="0" err="1">
                <a:latin typeface="Calibri"/>
                <a:ea typeface="Calibri"/>
                <a:cs typeface="Calibri"/>
              </a:rPr>
              <a:t>Sklearn</a:t>
            </a:r>
            <a:r>
              <a:rPr lang="en-IN" sz="2000" dirty="0">
                <a:latin typeface="Calibri"/>
                <a:ea typeface="Calibri"/>
                <a:cs typeface="Calibri"/>
              </a:rPr>
              <a:t> , </a:t>
            </a:r>
            <a:r>
              <a:rPr lang="en-IN" sz="2000" dirty="0" err="1">
                <a:latin typeface="Calibri"/>
                <a:ea typeface="Calibri"/>
                <a:cs typeface="Calibri"/>
              </a:rPr>
              <a:t>Numpy</a:t>
            </a:r>
            <a:r>
              <a:rPr lang="en-IN" sz="2000" dirty="0">
                <a:latin typeface="Calibri"/>
                <a:ea typeface="Calibri"/>
                <a:cs typeface="Calibri"/>
              </a:rPr>
              <a:t> , Seaborn, Matplotlib</a:t>
            </a:r>
            <a:endParaRPr lang="en-IN" sz="2000" dirty="0">
              <a:ea typeface="Calibri"/>
              <a:cs typeface="Calibri"/>
            </a:endParaRPr>
          </a:p>
          <a:p>
            <a:pPr algn="just"/>
            <a:r>
              <a:rPr lang="en-IN" sz="2000" dirty="0">
                <a:latin typeface="Calibri"/>
                <a:ea typeface="Calibri"/>
                <a:cs typeface="Calibri"/>
              </a:rPr>
              <a:t>I</a:t>
            </a:r>
            <a:r>
              <a:rPr lang="en-IN" sz="2000" b="1" dirty="0">
                <a:latin typeface="Calibri"/>
                <a:ea typeface="Calibri"/>
                <a:cs typeface="Calibri"/>
              </a:rPr>
              <a:t>DE/Workbench</a:t>
            </a:r>
            <a:r>
              <a:rPr lang="en-IN" sz="2000" dirty="0">
                <a:latin typeface="Calibri"/>
                <a:ea typeface="Calibri"/>
                <a:cs typeface="Calibri"/>
              </a:rPr>
              <a:t> :  </a:t>
            </a:r>
            <a:r>
              <a:rPr lang="en-IN" sz="2000" dirty="0" err="1">
                <a:latin typeface="Calibri"/>
                <a:ea typeface="Calibri"/>
                <a:cs typeface="Calibri"/>
              </a:rPr>
              <a:t>VSCode</a:t>
            </a:r>
            <a:endParaRPr lang="en-IN" sz="2000" dirty="0" err="1">
              <a:ea typeface="Calibri"/>
              <a:cs typeface="Calibri"/>
            </a:endParaRPr>
          </a:p>
          <a:p>
            <a:pPr algn="just"/>
            <a:r>
              <a:rPr lang="en-IN" sz="2000" b="1" dirty="0">
                <a:latin typeface="Calibri"/>
                <a:ea typeface="Calibri"/>
                <a:cs typeface="Calibri"/>
              </a:rPr>
              <a:t>Server Deployment </a:t>
            </a:r>
            <a:r>
              <a:rPr lang="en-IN" sz="2000" dirty="0">
                <a:latin typeface="Calibri"/>
                <a:ea typeface="Calibri"/>
                <a:cs typeface="Calibri"/>
              </a:rPr>
              <a:t>: </a:t>
            </a:r>
            <a:r>
              <a:rPr lang="en-IN" sz="2000" dirty="0" err="1">
                <a:latin typeface="Calibri"/>
                <a:ea typeface="Calibri"/>
                <a:cs typeface="Calibri"/>
              </a:rPr>
              <a:t>Xampp</a:t>
            </a:r>
            <a:r>
              <a:rPr lang="en-IN" sz="2000" dirty="0">
                <a:latin typeface="Calibri"/>
                <a:ea typeface="Calibri"/>
                <a:cs typeface="Calibri"/>
              </a:rPr>
              <a:t> Server</a:t>
            </a:r>
            <a:endParaRPr lang="en-IN" sz="2000" dirty="0">
              <a:ea typeface="Calibri"/>
              <a:cs typeface="Calibri"/>
            </a:endParaRPr>
          </a:p>
          <a:p>
            <a:pPr algn="just"/>
            <a:r>
              <a:rPr lang="en-IN" sz="2000" b="1" dirty="0">
                <a:latin typeface="Calibri"/>
                <a:ea typeface="Calibri"/>
                <a:cs typeface="Calibri"/>
              </a:rPr>
              <a:t>Database</a:t>
            </a:r>
            <a:r>
              <a:rPr lang="en-IN" sz="2000" dirty="0">
                <a:latin typeface="Calibri"/>
                <a:ea typeface="Calibri"/>
                <a:cs typeface="Calibri"/>
              </a:rPr>
              <a:t> : MySQL</a:t>
            </a:r>
          </a:p>
          <a:p>
            <a:pPr algn="just"/>
            <a:endParaRPr lang="en-IN" sz="2000" dirty="0">
              <a:ea typeface="Calibri"/>
              <a:cs typeface="Calibri"/>
            </a:endParaRPr>
          </a:p>
          <a:p>
            <a:pPr algn="just"/>
            <a:r>
              <a:rPr lang="en-IN" sz="2000" b="1" dirty="0">
                <a:solidFill>
                  <a:srgbClr val="FF0000"/>
                </a:solidFill>
                <a:latin typeface="Calibri"/>
                <a:ea typeface="Calibri"/>
                <a:cs typeface="Calibri"/>
              </a:rPr>
              <a:t>HARDWARE REQUIREMENTS:</a:t>
            </a:r>
            <a:endParaRPr lang="en-IN" b="1" dirty="0">
              <a:solidFill>
                <a:srgbClr val="FF0000"/>
              </a:solidFill>
            </a:endParaRPr>
          </a:p>
          <a:p>
            <a:pPr algn="just"/>
            <a:endParaRPr lang="en-IN" sz="2000" dirty="0">
              <a:latin typeface="Calibri"/>
              <a:ea typeface="Calibri"/>
              <a:cs typeface="Calibri"/>
            </a:endParaRPr>
          </a:p>
          <a:p>
            <a:pPr algn="just"/>
            <a:r>
              <a:rPr lang="en-IN" sz="2000" b="1" dirty="0">
                <a:latin typeface="Calibri"/>
                <a:ea typeface="Calibri"/>
                <a:cs typeface="Calibri"/>
              </a:rPr>
              <a:t>Processor</a:t>
            </a:r>
            <a:r>
              <a:rPr lang="en-IN" sz="2000" dirty="0">
                <a:latin typeface="Calibri"/>
                <a:ea typeface="Calibri"/>
                <a:cs typeface="Calibri"/>
              </a:rPr>
              <a:t> - I3/Intel Processor</a:t>
            </a:r>
            <a:endParaRPr lang="en-IN" dirty="0">
              <a:latin typeface="Calibri"/>
            </a:endParaRPr>
          </a:p>
          <a:p>
            <a:pPr algn="just"/>
            <a:r>
              <a:rPr lang="en-IN" sz="2000" b="1" dirty="0">
                <a:latin typeface="Calibri"/>
                <a:ea typeface="Calibri"/>
                <a:cs typeface="Calibri"/>
              </a:rPr>
              <a:t>RAM </a:t>
            </a:r>
            <a:r>
              <a:rPr lang="en-IN" sz="2000" dirty="0">
                <a:latin typeface="Calibri"/>
                <a:ea typeface="Calibri"/>
                <a:cs typeface="Calibri"/>
              </a:rPr>
              <a:t>- 8GB (min)</a:t>
            </a:r>
            <a:endParaRPr lang="en-IN" dirty="0">
              <a:latin typeface="Calibri"/>
            </a:endParaRPr>
          </a:p>
          <a:p>
            <a:pPr algn="just"/>
            <a:r>
              <a:rPr lang="en-IN" sz="2000" b="1" dirty="0">
                <a:latin typeface="Calibri"/>
                <a:ea typeface="Calibri"/>
                <a:cs typeface="Calibri"/>
              </a:rPr>
              <a:t>Hard Disk </a:t>
            </a:r>
            <a:r>
              <a:rPr lang="en-IN" sz="2000" dirty="0">
                <a:latin typeface="Calibri"/>
                <a:ea typeface="Calibri"/>
                <a:cs typeface="Calibri"/>
              </a:rPr>
              <a:t>- 128 GB</a:t>
            </a:r>
            <a:endParaRPr lang="en-IN" dirty="0">
              <a:latin typeface="Calibri"/>
            </a:endParaRPr>
          </a:p>
          <a:p>
            <a:pPr algn="just"/>
            <a:r>
              <a:rPr lang="en-IN" sz="2000" b="1" dirty="0">
                <a:latin typeface="Calibri"/>
                <a:ea typeface="Calibri"/>
                <a:cs typeface="Calibri"/>
              </a:rPr>
              <a:t>Key Board </a:t>
            </a:r>
            <a:r>
              <a:rPr lang="en-IN" sz="2000" dirty="0">
                <a:latin typeface="Calibri"/>
                <a:ea typeface="Calibri"/>
                <a:cs typeface="Calibri"/>
              </a:rPr>
              <a:t>- Standard Windows Keyboard</a:t>
            </a:r>
            <a:endParaRPr lang="en-IN" dirty="0">
              <a:latin typeface="Calibri"/>
            </a:endParaRPr>
          </a:p>
          <a:p>
            <a:pPr algn="just"/>
            <a:r>
              <a:rPr lang="en-IN" sz="2000" b="1" dirty="0">
                <a:latin typeface="Calibri"/>
                <a:ea typeface="Calibri"/>
                <a:cs typeface="Calibri"/>
              </a:rPr>
              <a:t>Mouse</a:t>
            </a:r>
            <a:r>
              <a:rPr lang="en-IN" sz="2000" dirty="0">
                <a:latin typeface="Calibri"/>
                <a:ea typeface="Calibri"/>
                <a:cs typeface="Calibri"/>
              </a:rPr>
              <a:t> - Two or Three Button Mouse</a:t>
            </a:r>
            <a:endParaRPr lang="en-IN" dirty="0">
              <a:latin typeface="Calibri"/>
            </a:endParaRPr>
          </a:p>
          <a:p>
            <a:pPr algn="just"/>
            <a:r>
              <a:rPr lang="en-IN" sz="2000" b="1" dirty="0">
                <a:latin typeface="Calibri"/>
                <a:ea typeface="Calibri"/>
                <a:cs typeface="Calibri"/>
              </a:rPr>
              <a:t>Monitor</a:t>
            </a:r>
            <a:r>
              <a:rPr lang="en-IN" sz="2000" dirty="0">
                <a:latin typeface="Calibri"/>
                <a:ea typeface="Calibri"/>
                <a:cs typeface="Calibri"/>
              </a:rPr>
              <a:t> - Any</a:t>
            </a:r>
            <a:endParaRPr lang="en-IN" dirty="0">
              <a:latin typeface="Calibri"/>
            </a:endParaRPr>
          </a:p>
        </p:txBody>
      </p:sp>
    </p:spTree>
    <p:extLst>
      <p:ext uri="{BB962C8B-B14F-4D97-AF65-F5344CB8AC3E}">
        <p14:creationId xmlns:p14="http://schemas.microsoft.com/office/powerpoint/2010/main" val="1984538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60B2A-B879-21D3-FD1D-31A79A6C0D46}"/>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1A9396E9-2FEA-416E-1DB3-DBA187267DB9}"/>
              </a:ext>
            </a:extLst>
          </p:cNvPr>
          <p:cNvSpPr>
            <a:spLocks noGrp="1"/>
          </p:cNvSpPr>
          <p:nvPr>
            <p:ph type="title"/>
          </p:nvPr>
        </p:nvSpPr>
        <p:spPr>
          <a:xfrm>
            <a:off x="87313" y="292100"/>
            <a:ext cx="6599237" cy="431800"/>
          </a:xfrm>
        </p:spPr>
        <p:txBody>
          <a:bodyPr>
            <a:noAutofit/>
          </a:bodyPr>
          <a:lstStyle/>
          <a:p>
            <a:pPr eaLnBrk="1" hangingPunct="1">
              <a:defRPr/>
            </a:pPr>
            <a:r>
              <a:rPr lang="en-US" altLang="en-US" sz="3200" dirty="0">
                <a:effectLst>
                  <a:outerShdw blurRad="38100" dist="38100" dir="2700000" algn="tl">
                    <a:srgbClr val="000000"/>
                  </a:outerShdw>
                </a:effectLst>
                <a:latin typeface="Calibri"/>
                <a:ea typeface="Calibri"/>
                <a:cs typeface="Calibri"/>
              </a:rPr>
              <a:t>PROJECT IMPLEMENTATION</a:t>
            </a:r>
          </a:p>
        </p:txBody>
      </p:sp>
      <p:sp>
        <p:nvSpPr>
          <p:cNvPr id="2" name="TextBox 1">
            <a:extLst>
              <a:ext uri="{FF2B5EF4-FFF2-40B4-BE49-F238E27FC236}">
                <a16:creationId xmlns:a16="http://schemas.microsoft.com/office/drawing/2014/main" id="{12708F12-CF9E-6726-AA6C-E99982D6773A}"/>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406D916A-BF76-8DFD-0EE8-B98166EE3113}"/>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A2396B9B-0BED-D761-D8D9-BF1898C6D728}"/>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CFCF5A5C-8E14-84A6-5935-8589956249A2}"/>
              </a:ext>
            </a:extLst>
          </p:cNvPr>
          <p:cNvSpPr>
            <a:spLocks noGrp="1"/>
          </p:cNvSpPr>
          <p:nvPr>
            <p:ph idx="1"/>
          </p:nvPr>
        </p:nvSpPr>
        <p:spPr>
          <a:xfrm>
            <a:off x="453325" y="718946"/>
            <a:ext cx="8237348" cy="5458017"/>
          </a:xfrm>
        </p:spPr>
        <p:txBody>
          <a:bodyPr/>
          <a:lstStyle/>
          <a:p>
            <a:pPr algn="just">
              <a:buNone/>
            </a:pPr>
            <a:endParaRPr lang="en-US" sz="2000" b="1"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pic>
        <p:nvPicPr>
          <p:cNvPr id="6" name="Picture 5" descr="A screen shot of a computer&#10;&#10;AI-generated content may be incorrect.">
            <a:extLst>
              <a:ext uri="{FF2B5EF4-FFF2-40B4-BE49-F238E27FC236}">
                <a16:creationId xmlns:a16="http://schemas.microsoft.com/office/drawing/2014/main" id="{BF72FB18-A051-E4B5-8254-F38EA72F8EDB}"/>
              </a:ext>
            </a:extLst>
          </p:cNvPr>
          <p:cNvPicPr>
            <a:picLocks noChangeAspect="1"/>
          </p:cNvPicPr>
          <p:nvPr/>
        </p:nvPicPr>
        <p:blipFill>
          <a:blip r:embed="rId2"/>
          <a:stretch>
            <a:fillRect/>
          </a:stretch>
        </p:blipFill>
        <p:spPr>
          <a:xfrm>
            <a:off x="354903" y="1228726"/>
            <a:ext cx="8549015" cy="4452741"/>
          </a:xfrm>
          <a:prstGeom prst="rect">
            <a:avLst/>
          </a:prstGeom>
        </p:spPr>
      </p:pic>
    </p:spTree>
    <p:extLst>
      <p:ext uri="{BB962C8B-B14F-4D97-AF65-F5344CB8AC3E}">
        <p14:creationId xmlns:p14="http://schemas.microsoft.com/office/powerpoint/2010/main" val="33363184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E61DF-BD3D-FCA8-F058-E29B379A8019}"/>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1C7A54DD-5B1E-D773-7E0D-745FC237078C}"/>
              </a:ext>
            </a:extLst>
          </p:cNvPr>
          <p:cNvSpPr>
            <a:spLocks noGrp="1"/>
          </p:cNvSpPr>
          <p:nvPr>
            <p:ph type="title"/>
          </p:nvPr>
        </p:nvSpPr>
        <p:spPr>
          <a:xfrm>
            <a:off x="87313" y="292100"/>
            <a:ext cx="6599237" cy="431800"/>
          </a:xfrm>
        </p:spPr>
        <p:txBody>
          <a:bodyPr>
            <a:noAutofit/>
          </a:bodyPr>
          <a:lstStyle/>
          <a:p>
            <a:pPr eaLnBrk="1" hangingPunct="1">
              <a:defRPr/>
            </a:pPr>
            <a:r>
              <a:rPr lang="en-US" altLang="en-US" sz="3200" dirty="0">
                <a:effectLst>
                  <a:outerShdw blurRad="38100" dist="38100" dir="2700000" algn="tl">
                    <a:srgbClr val="000000"/>
                  </a:outerShdw>
                </a:effectLst>
                <a:latin typeface="Calibri"/>
                <a:ea typeface="Calibri"/>
                <a:cs typeface="Calibri"/>
              </a:rPr>
              <a:t>PROJECT IMPLEMENTATION</a:t>
            </a:r>
          </a:p>
        </p:txBody>
      </p:sp>
      <p:sp>
        <p:nvSpPr>
          <p:cNvPr id="2" name="TextBox 1">
            <a:extLst>
              <a:ext uri="{FF2B5EF4-FFF2-40B4-BE49-F238E27FC236}">
                <a16:creationId xmlns:a16="http://schemas.microsoft.com/office/drawing/2014/main" id="{2698B569-F3BC-7DD8-6B37-4633FCFC4945}"/>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1515DD9E-EB5B-954D-FC57-2E03B3FC0EFA}"/>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535E1039-9751-450C-E685-96D5EA1132B4}"/>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6FA752E8-82DE-54F2-72EE-3E3A6EEAF1AF}"/>
              </a:ext>
            </a:extLst>
          </p:cNvPr>
          <p:cNvSpPr>
            <a:spLocks noGrp="1"/>
          </p:cNvSpPr>
          <p:nvPr>
            <p:ph idx="1"/>
          </p:nvPr>
        </p:nvSpPr>
        <p:spPr>
          <a:xfrm>
            <a:off x="453325" y="718946"/>
            <a:ext cx="8237348" cy="5458017"/>
          </a:xfrm>
        </p:spPr>
        <p:txBody>
          <a:bodyPr/>
          <a:lstStyle/>
          <a:p>
            <a:pPr algn="just">
              <a:buNone/>
            </a:pPr>
            <a:endParaRPr lang="en-US" sz="2000" b="1"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pic>
        <p:nvPicPr>
          <p:cNvPr id="5" name="Picture 4" descr="A computer screen shot of a program code&#10;&#10;AI-generated content may be incorrect.">
            <a:extLst>
              <a:ext uri="{FF2B5EF4-FFF2-40B4-BE49-F238E27FC236}">
                <a16:creationId xmlns:a16="http://schemas.microsoft.com/office/drawing/2014/main" id="{6A338C34-B9B0-A59F-A0A5-EFBE017CC353}"/>
              </a:ext>
            </a:extLst>
          </p:cNvPr>
          <p:cNvPicPr>
            <a:picLocks noChangeAspect="1"/>
          </p:cNvPicPr>
          <p:nvPr/>
        </p:nvPicPr>
        <p:blipFill>
          <a:blip r:embed="rId2"/>
          <a:stretch>
            <a:fillRect/>
          </a:stretch>
        </p:blipFill>
        <p:spPr>
          <a:xfrm>
            <a:off x="354904" y="1207339"/>
            <a:ext cx="8382001" cy="5048747"/>
          </a:xfrm>
          <a:prstGeom prst="rect">
            <a:avLst/>
          </a:prstGeom>
        </p:spPr>
      </p:pic>
    </p:spTree>
    <p:extLst>
      <p:ext uri="{BB962C8B-B14F-4D97-AF65-F5344CB8AC3E}">
        <p14:creationId xmlns:p14="http://schemas.microsoft.com/office/powerpoint/2010/main" val="598621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2E67-9839-F997-9889-D8CFB5F792F0}"/>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4686B275-C798-3DF6-6886-FF343510B9BD}"/>
              </a:ext>
            </a:extLst>
          </p:cNvPr>
          <p:cNvSpPr>
            <a:spLocks noGrp="1"/>
          </p:cNvSpPr>
          <p:nvPr>
            <p:ph type="title"/>
          </p:nvPr>
        </p:nvSpPr>
        <p:spPr>
          <a:xfrm>
            <a:off x="87313" y="292100"/>
            <a:ext cx="6599237" cy="431800"/>
          </a:xfrm>
        </p:spPr>
        <p:txBody>
          <a:bodyPr>
            <a:noAutofit/>
          </a:bodyPr>
          <a:lstStyle/>
          <a:p>
            <a:pPr eaLnBrk="1" hangingPunct="1">
              <a:defRPr/>
            </a:pPr>
            <a:r>
              <a:rPr lang="en-US" altLang="en-US" sz="3200" dirty="0">
                <a:effectLst>
                  <a:outerShdw blurRad="38100" dist="38100" dir="2700000" algn="tl">
                    <a:srgbClr val="000000"/>
                  </a:outerShdw>
                </a:effectLst>
                <a:latin typeface="Calibri"/>
                <a:ea typeface="Calibri"/>
                <a:cs typeface="Calibri"/>
              </a:rPr>
              <a:t>PROJECT IMPLEMENTATION</a:t>
            </a:r>
          </a:p>
        </p:txBody>
      </p:sp>
      <p:sp>
        <p:nvSpPr>
          <p:cNvPr id="2" name="TextBox 1">
            <a:extLst>
              <a:ext uri="{FF2B5EF4-FFF2-40B4-BE49-F238E27FC236}">
                <a16:creationId xmlns:a16="http://schemas.microsoft.com/office/drawing/2014/main" id="{A33CB508-C992-77A1-C0EF-75AFABF4DBEA}"/>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1F0E3F1C-36AB-D86D-3122-78BD2665DDBC}"/>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CC3C0DA4-393E-5BEE-1A4B-E560A7540358}"/>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B7CC9C0D-705F-ADD8-7B4D-7A0A92817A32}"/>
              </a:ext>
            </a:extLst>
          </p:cNvPr>
          <p:cNvSpPr>
            <a:spLocks noGrp="1"/>
          </p:cNvSpPr>
          <p:nvPr>
            <p:ph idx="1"/>
          </p:nvPr>
        </p:nvSpPr>
        <p:spPr>
          <a:xfrm>
            <a:off x="453325" y="718946"/>
            <a:ext cx="8237348" cy="5458017"/>
          </a:xfrm>
        </p:spPr>
        <p:txBody>
          <a:bodyPr/>
          <a:lstStyle/>
          <a:p>
            <a:pPr algn="just">
              <a:buNone/>
            </a:pPr>
            <a:endParaRPr lang="en-US" sz="2000" b="1"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pic>
        <p:nvPicPr>
          <p:cNvPr id="6" name="Picture 5" descr="A screenshot of a computer screen&#10;&#10;AI-generated content may be incorrect.">
            <a:extLst>
              <a:ext uri="{FF2B5EF4-FFF2-40B4-BE49-F238E27FC236}">
                <a16:creationId xmlns:a16="http://schemas.microsoft.com/office/drawing/2014/main" id="{F6520E70-B697-3749-E009-CE6EC9CF70B2}"/>
              </a:ext>
            </a:extLst>
          </p:cNvPr>
          <p:cNvPicPr>
            <a:picLocks noChangeAspect="1"/>
          </p:cNvPicPr>
          <p:nvPr/>
        </p:nvPicPr>
        <p:blipFill>
          <a:blip r:embed="rId2"/>
          <a:stretch>
            <a:fillRect/>
          </a:stretch>
        </p:blipFill>
        <p:spPr>
          <a:xfrm>
            <a:off x="240081" y="1396055"/>
            <a:ext cx="8716028" cy="4681750"/>
          </a:xfrm>
          <a:prstGeom prst="rect">
            <a:avLst/>
          </a:prstGeom>
        </p:spPr>
      </p:pic>
      <p:sp>
        <p:nvSpPr>
          <p:cNvPr id="7" name="TextBox 6">
            <a:extLst>
              <a:ext uri="{FF2B5EF4-FFF2-40B4-BE49-F238E27FC236}">
                <a16:creationId xmlns:a16="http://schemas.microsoft.com/office/drawing/2014/main" id="{07D80EC8-7BEB-E6F7-59C3-B6BAE50241E7}"/>
              </a:ext>
            </a:extLst>
          </p:cNvPr>
          <p:cNvSpPr txBox="1"/>
          <p:nvPr/>
        </p:nvSpPr>
        <p:spPr>
          <a:xfrm>
            <a:off x="609020" y="884155"/>
            <a:ext cx="5561554" cy="3263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800"/>
              </a:lnSpc>
              <a:spcAft>
                <a:spcPts val="600"/>
              </a:spcAft>
            </a:pPr>
            <a:r>
              <a:rPr lang="en-US" b="1" dirty="0">
                <a:latin typeface="Calibri"/>
                <a:ea typeface="Calibri"/>
                <a:cs typeface="Calibri"/>
              </a:rPr>
              <a:t>Code Running on</a:t>
            </a:r>
            <a:r>
              <a:rPr lang="en-US" dirty="0">
                <a:latin typeface="Calibri"/>
                <a:ea typeface="Calibri"/>
                <a:cs typeface="Calibri"/>
              </a:rPr>
              <a:t>: http://127.0.0.1:5000</a:t>
            </a:r>
            <a:endParaRPr lang="en-US" sz="1200" dirty="0">
              <a:solidFill>
                <a:prstClr val="black">
                  <a:lumMod val="75000"/>
                  <a:lumOff val="25000"/>
                </a:prstClr>
              </a:solidFill>
              <a:latin typeface="Calibri"/>
              <a:ea typeface="Calibri"/>
              <a:cs typeface="Calibri"/>
            </a:endParaRPr>
          </a:p>
        </p:txBody>
      </p:sp>
    </p:spTree>
    <p:extLst>
      <p:ext uri="{BB962C8B-B14F-4D97-AF65-F5344CB8AC3E}">
        <p14:creationId xmlns:p14="http://schemas.microsoft.com/office/powerpoint/2010/main" val="2938343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39556-031E-DB38-416F-8FA7C6481D40}"/>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DB20B19B-F3F5-5E3B-5E42-23EEB2482CA5}"/>
              </a:ext>
            </a:extLst>
          </p:cNvPr>
          <p:cNvSpPr>
            <a:spLocks noGrp="1"/>
          </p:cNvSpPr>
          <p:nvPr>
            <p:ph type="title"/>
          </p:nvPr>
        </p:nvSpPr>
        <p:spPr>
          <a:xfrm>
            <a:off x="87313" y="292100"/>
            <a:ext cx="6599237" cy="431800"/>
          </a:xfrm>
        </p:spPr>
        <p:txBody>
          <a:bodyPr>
            <a:noAutofit/>
          </a:bodyPr>
          <a:lstStyle/>
          <a:p>
            <a:pPr>
              <a:defRPr/>
            </a:pPr>
            <a:r>
              <a:rPr lang="en-US" sz="3200" b="0" dirty="0">
                <a:effectLst>
                  <a:outerShdw blurRad="38100" dist="38100" dir="2700000" algn="tl">
                    <a:srgbClr val="000000"/>
                  </a:outerShdw>
                </a:effectLst>
                <a:ea typeface="+mj-lt"/>
                <a:cs typeface="+mj-lt"/>
              </a:rPr>
              <a:t>OUTPUT SCREENS</a:t>
            </a:r>
            <a:endParaRPr lang="en-US" dirty="0"/>
          </a:p>
        </p:txBody>
      </p:sp>
      <p:sp>
        <p:nvSpPr>
          <p:cNvPr id="2" name="TextBox 1">
            <a:extLst>
              <a:ext uri="{FF2B5EF4-FFF2-40B4-BE49-F238E27FC236}">
                <a16:creationId xmlns:a16="http://schemas.microsoft.com/office/drawing/2014/main" id="{0C1E4F59-387F-AC74-DC42-FFD9ABFCD22C}"/>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C72AAD50-64A3-8B27-0B2A-91A6AA9203BF}"/>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1BE952ED-6C49-1BA4-E910-4AFF1B7055DF}"/>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FA0015BD-E692-7F4C-D70C-78585ECC450F}"/>
              </a:ext>
            </a:extLst>
          </p:cNvPr>
          <p:cNvSpPr>
            <a:spLocks noGrp="1"/>
          </p:cNvSpPr>
          <p:nvPr>
            <p:ph idx="1"/>
          </p:nvPr>
        </p:nvSpPr>
        <p:spPr>
          <a:xfrm>
            <a:off x="453325" y="718946"/>
            <a:ext cx="8237348" cy="5458017"/>
          </a:xfrm>
        </p:spPr>
        <p:txBody>
          <a:bodyPr/>
          <a:lstStyle/>
          <a:p>
            <a:pPr algn="just">
              <a:buNone/>
            </a:pPr>
            <a:endParaRPr lang="en-US" sz="2000" dirty="0">
              <a:solidFill>
                <a:srgbClr val="404040"/>
              </a:solidFill>
              <a:ea typeface="+mn-lt"/>
              <a:cs typeface="+mn-lt"/>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sp>
        <p:nvSpPr>
          <p:cNvPr id="9" name="TextBox 8">
            <a:extLst>
              <a:ext uri="{FF2B5EF4-FFF2-40B4-BE49-F238E27FC236}">
                <a16:creationId xmlns:a16="http://schemas.microsoft.com/office/drawing/2014/main" id="{BB56A031-F41E-05C9-70A3-5630867D1C99}"/>
              </a:ext>
            </a:extLst>
          </p:cNvPr>
          <p:cNvSpPr txBox="1"/>
          <p:nvPr/>
        </p:nvSpPr>
        <p:spPr>
          <a:xfrm>
            <a:off x="353524" y="861159"/>
            <a:ext cx="8233774" cy="18652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prstClr val="black">
                    <a:lumMod val="75000"/>
                    <a:lumOff val="25000"/>
                  </a:prstClr>
                </a:solidFill>
                <a:latin typeface="Calibri"/>
                <a:ea typeface="Calibri"/>
                <a:cs typeface="Calibri"/>
              </a:rPr>
              <a:t>Landing Homepage:</a:t>
            </a:r>
            <a:endParaRPr lang="en-US" sz="2000" b="1">
              <a:solidFill>
                <a:prstClr val="black">
                  <a:lumMod val="75000"/>
                  <a:lumOff val="25000"/>
                </a:prstClr>
              </a:solidFill>
              <a:latin typeface="Segoe UI" panose="020B0502040204020203" pitchFamily="34" charset="0"/>
              <a:cs typeface="Segoe UI" panose="020B0502040204020203" pitchFamily="34" charset="0"/>
            </a:endParaRPr>
          </a:p>
          <a:p>
            <a:r>
              <a:rPr lang="en-US" sz="2000" dirty="0">
                <a:solidFill>
                  <a:prstClr val="black">
                    <a:lumMod val="75000"/>
                    <a:lumOff val="25000"/>
                  </a:prstClr>
                </a:solidFill>
                <a:latin typeface="Calibri"/>
                <a:ea typeface="Calibri"/>
                <a:cs typeface="Calibri"/>
              </a:rPr>
              <a:t>This landing page is for an EEG-based emotion detection system that uses Roberts Similarity and PSO Feature Selection to analyze brain signals. The site's clean design highlights the platform's ability to combine neuroscience with machine learning for accurate emotion recognition.</a:t>
            </a:r>
            <a:endParaRPr lang="en-US" sz="2000" dirty="0">
              <a:solidFill>
                <a:prstClr val="black">
                  <a:lumMod val="75000"/>
                  <a:lumOff val="25000"/>
                </a:prstClr>
              </a:solidFill>
            </a:endParaRPr>
          </a:p>
          <a:p>
            <a:pPr marL="0" indent="0" algn="l">
              <a:lnSpc>
                <a:spcPts val="1800"/>
              </a:lnSpc>
              <a:spcAft>
                <a:spcPts val="600"/>
              </a:spcAft>
              <a:buNone/>
            </a:pPr>
            <a:endParaRPr lang="en-US" dirty="0">
              <a:solidFill>
                <a:prstClr val="black">
                  <a:lumMod val="75000"/>
                  <a:lumOff val="25000"/>
                </a:prstClr>
              </a:solidFill>
              <a:ea typeface="Calibri"/>
              <a:cs typeface="Calibri"/>
            </a:endParaRPr>
          </a:p>
        </p:txBody>
      </p:sp>
      <p:pic>
        <p:nvPicPr>
          <p:cNvPr id="10" name="Picture 9" descr="A screenshot of a computer&#10;&#10;AI-generated content may be incorrect.">
            <a:extLst>
              <a:ext uri="{FF2B5EF4-FFF2-40B4-BE49-F238E27FC236}">
                <a16:creationId xmlns:a16="http://schemas.microsoft.com/office/drawing/2014/main" id="{5CAAF77B-93F7-8427-E67D-17D4751BF99A}"/>
              </a:ext>
            </a:extLst>
          </p:cNvPr>
          <p:cNvPicPr>
            <a:picLocks noChangeAspect="1"/>
          </p:cNvPicPr>
          <p:nvPr/>
        </p:nvPicPr>
        <p:blipFill>
          <a:blip r:embed="rId2"/>
          <a:stretch>
            <a:fillRect/>
          </a:stretch>
        </p:blipFill>
        <p:spPr>
          <a:xfrm>
            <a:off x="354904" y="2511482"/>
            <a:ext cx="8235864" cy="4006215"/>
          </a:xfrm>
          <a:prstGeom prst="rect">
            <a:avLst/>
          </a:prstGeom>
        </p:spPr>
      </p:pic>
    </p:spTree>
    <p:extLst>
      <p:ext uri="{BB962C8B-B14F-4D97-AF65-F5344CB8AC3E}">
        <p14:creationId xmlns:p14="http://schemas.microsoft.com/office/powerpoint/2010/main" val="1416467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CEF32-8658-8E32-617C-CFC493EA57B9}"/>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8525E61A-0BCF-CB7B-5622-5D28B21FE2EA}"/>
              </a:ext>
            </a:extLst>
          </p:cNvPr>
          <p:cNvSpPr>
            <a:spLocks noGrp="1"/>
          </p:cNvSpPr>
          <p:nvPr>
            <p:ph type="title"/>
          </p:nvPr>
        </p:nvSpPr>
        <p:spPr>
          <a:xfrm>
            <a:off x="87313" y="292100"/>
            <a:ext cx="6599237" cy="431800"/>
          </a:xfrm>
        </p:spPr>
        <p:txBody>
          <a:bodyPr>
            <a:noAutofit/>
          </a:bodyPr>
          <a:lstStyle/>
          <a:p>
            <a:pPr>
              <a:defRPr/>
            </a:pPr>
            <a:r>
              <a:rPr lang="en-US" sz="3200" b="0" dirty="0">
                <a:effectLst>
                  <a:outerShdw blurRad="38100" dist="38100" dir="2700000" algn="tl">
                    <a:srgbClr val="000000"/>
                  </a:outerShdw>
                </a:effectLst>
                <a:ea typeface="+mj-lt"/>
                <a:cs typeface="+mj-lt"/>
              </a:rPr>
              <a:t>OUTPUT SCREENS</a:t>
            </a:r>
            <a:endParaRPr lang="en-US" dirty="0"/>
          </a:p>
        </p:txBody>
      </p:sp>
      <p:sp>
        <p:nvSpPr>
          <p:cNvPr id="2" name="TextBox 1">
            <a:extLst>
              <a:ext uri="{FF2B5EF4-FFF2-40B4-BE49-F238E27FC236}">
                <a16:creationId xmlns:a16="http://schemas.microsoft.com/office/drawing/2014/main" id="{F7A81787-AD0B-DCC7-BBD1-B158FCFD6147}"/>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F040A9FC-8AF6-E4FB-E144-47E0D715AD1E}"/>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5A84A86C-CC1A-CE60-AA32-C56B8185CCCE}"/>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43570916-5072-9874-B898-9F73E268C0FC}"/>
              </a:ext>
            </a:extLst>
          </p:cNvPr>
          <p:cNvSpPr>
            <a:spLocks noGrp="1"/>
          </p:cNvSpPr>
          <p:nvPr>
            <p:ph idx="1"/>
          </p:nvPr>
        </p:nvSpPr>
        <p:spPr>
          <a:xfrm>
            <a:off x="453325" y="718946"/>
            <a:ext cx="8237348" cy="5458017"/>
          </a:xfrm>
        </p:spPr>
        <p:txBody>
          <a:bodyPr/>
          <a:lstStyle/>
          <a:p>
            <a:pPr algn="just">
              <a:buNone/>
            </a:pPr>
            <a:endParaRPr lang="en-US" sz="2000" dirty="0">
              <a:solidFill>
                <a:srgbClr val="404040"/>
              </a:solidFill>
              <a:ea typeface="+mn-lt"/>
              <a:cs typeface="+mn-lt"/>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sp>
        <p:nvSpPr>
          <p:cNvPr id="9" name="TextBox 8">
            <a:extLst>
              <a:ext uri="{FF2B5EF4-FFF2-40B4-BE49-F238E27FC236}">
                <a16:creationId xmlns:a16="http://schemas.microsoft.com/office/drawing/2014/main" id="{EB6819DA-E6B2-9B42-0D3C-9404F24F0DE2}"/>
              </a:ext>
            </a:extLst>
          </p:cNvPr>
          <p:cNvSpPr txBox="1"/>
          <p:nvPr/>
        </p:nvSpPr>
        <p:spPr>
          <a:xfrm>
            <a:off x="353524" y="861159"/>
            <a:ext cx="8233774" cy="12497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prstClr val="black">
                    <a:lumMod val="75000"/>
                    <a:lumOff val="25000"/>
                  </a:prstClr>
                </a:solidFill>
                <a:latin typeface="Calibri"/>
                <a:ea typeface="Calibri"/>
                <a:cs typeface="Calibri"/>
              </a:rPr>
              <a:t>Register Page:</a:t>
            </a:r>
            <a:r>
              <a:rPr lang="en-US" sz="2000" dirty="0">
                <a:solidFill>
                  <a:prstClr val="black">
                    <a:lumMod val="75000"/>
                    <a:lumOff val="25000"/>
                  </a:prstClr>
                </a:solidFill>
                <a:latin typeface="Calibri"/>
                <a:ea typeface="Calibri"/>
                <a:cs typeface="Calibri"/>
              </a:rPr>
              <a:t> This page allows new users to sign up by entering personal details like name, age, email, and password. The form ensures secure and authenticated access to the prediction system.</a:t>
            </a:r>
            <a:endParaRPr lang="en-US" dirty="0">
              <a:solidFill>
                <a:prstClr val="black">
                  <a:lumMod val="75000"/>
                  <a:lumOff val="25000"/>
                </a:prstClr>
              </a:solidFill>
              <a:latin typeface="Calibri"/>
            </a:endParaRPr>
          </a:p>
          <a:p>
            <a:pPr marL="0" indent="0" algn="l">
              <a:lnSpc>
                <a:spcPts val="1800"/>
              </a:lnSpc>
              <a:spcAft>
                <a:spcPts val="600"/>
              </a:spcAft>
              <a:buNone/>
            </a:pPr>
            <a:endParaRPr lang="en-US" dirty="0">
              <a:solidFill>
                <a:prstClr val="black">
                  <a:lumMod val="75000"/>
                  <a:lumOff val="25000"/>
                </a:prstClr>
              </a:solidFill>
              <a:ea typeface="Calibri"/>
              <a:cs typeface="Calibri"/>
            </a:endParaRPr>
          </a:p>
        </p:txBody>
      </p:sp>
      <p:pic>
        <p:nvPicPr>
          <p:cNvPr id="5" name="Picture 4" descr="A screenshot of a login form&#10;&#10;AI-generated content may be incorrect.">
            <a:extLst>
              <a:ext uri="{FF2B5EF4-FFF2-40B4-BE49-F238E27FC236}">
                <a16:creationId xmlns:a16="http://schemas.microsoft.com/office/drawing/2014/main" id="{EB8D6D2A-8EB7-8EE9-B417-9CD7A1494668}"/>
              </a:ext>
            </a:extLst>
          </p:cNvPr>
          <p:cNvPicPr>
            <a:picLocks noChangeAspect="1"/>
          </p:cNvPicPr>
          <p:nvPr/>
        </p:nvPicPr>
        <p:blipFill>
          <a:blip r:embed="rId2"/>
          <a:stretch>
            <a:fillRect/>
          </a:stretch>
        </p:blipFill>
        <p:spPr>
          <a:xfrm>
            <a:off x="354903" y="1947724"/>
            <a:ext cx="8256742" cy="4236032"/>
          </a:xfrm>
          <a:prstGeom prst="rect">
            <a:avLst/>
          </a:prstGeom>
        </p:spPr>
      </p:pic>
    </p:spTree>
    <p:extLst>
      <p:ext uri="{BB962C8B-B14F-4D97-AF65-F5344CB8AC3E}">
        <p14:creationId xmlns:p14="http://schemas.microsoft.com/office/powerpoint/2010/main" val="346243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DECA3-8A1D-65A5-9DA0-CCFCBF34F870}"/>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6CB766EF-7170-646F-C87C-E1BFEF0F59D2}"/>
              </a:ext>
            </a:extLst>
          </p:cNvPr>
          <p:cNvSpPr>
            <a:spLocks noGrp="1"/>
          </p:cNvSpPr>
          <p:nvPr>
            <p:ph type="title"/>
          </p:nvPr>
        </p:nvSpPr>
        <p:spPr>
          <a:xfrm>
            <a:off x="87313" y="292100"/>
            <a:ext cx="6599237" cy="431800"/>
          </a:xfrm>
        </p:spPr>
        <p:txBody>
          <a:bodyPr>
            <a:noAutofit/>
          </a:bodyPr>
          <a:lstStyle/>
          <a:p>
            <a:pPr>
              <a:defRPr/>
            </a:pPr>
            <a:r>
              <a:rPr lang="en-US" sz="3200" b="0" dirty="0">
                <a:effectLst>
                  <a:outerShdw blurRad="38100" dist="38100" dir="2700000" algn="tl">
                    <a:srgbClr val="000000"/>
                  </a:outerShdw>
                </a:effectLst>
                <a:ea typeface="+mj-lt"/>
                <a:cs typeface="+mj-lt"/>
              </a:rPr>
              <a:t>OUTPUT SCREENS</a:t>
            </a:r>
            <a:endParaRPr lang="en-US" dirty="0"/>
          </a:p>
        </p:txBody>
      </p:sp>
      <p:sp>
        <p:nvSpPr>
          <p:cNvPr id="2" name="TextBox 1">
            <a:extLst>
              <a:ext uri="{FF2B5EF4-FFF2-40B4-BE49-F238E27FC236}">
                <a16:creationId xmlns:a16="http://schemas.microsoft.com/office/drawing/2014/main" id="{74764F56-70C1-755A-5DFC-A40769BBA77D}"/>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650B06A5-E4B7-967C-1473-2A45707F0FF4}"/>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3998CC62-B763-01A1-0075-7596533F67ED}"/>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AD0F2464-3C03-964C-E58F-9CF45846A5D5}"/>
              </a:ext>
            </a:extLst>
          </p:cNvPr>
          <p:cNvSpPr>
            <a:spLocks noGrp="1"/>
          </p:cNvSpPr>
          <p:nvPr>
            <p:ph idx="1"/>
          </p:nvPr>
        </p:nvSpPr>
        <p:spPr>
          <a:xfrm>
            <a:off x="453325" y="718946"/>
            <a:ext cx="8237348" cy="5458017"/>
          </a:xfrm>
        </p:spPr>
        <p:txBody>
          <a:bodyPr/>
          <a:lstStyle/>
          <a:p>
            <a:pPr algn="just">
              <a:buNone/>
            </a:pPr>
            <a:endParaRPr lang="en-US" sz="2000" dirty="0">
              <a:solidFill>
                <a:srgbClr val="404040"/>
              </a:solidFill>
              <a:ea typeface="+mn-lt"/>
              <a:cs typeface="+mn-lt"/>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sp>
        <p:nvSpPr>
          <p:cNvPr id="9" name="TextBox 8">
            <a:extLst>
              <a:ext uri="{FF2B5EF4-FFF2-40B4-BE49-F238E27FC236}">
                <a16:creationId xmlns:a16="http://schemas.microsoft.com/office/drawing/2014/main" id="{1317CDBC-65A8-29B2-9C80-85A3BD36BCBE}"/>
              </a:ext>
            </a:extLst>
          </p:cNvPr>
          <p:cNvSpPr txBox="1"/>
          <p:nvPr/>
        </p:nvSpPr>
        <p:spPr>
          <a:xfrm>
            <a:off x="353524" y="861159"/>
            <a:ext cx="8233774" cy="12497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b="1" dirty="0">
                <a:solidFill>
                  <a:prstClr val="black">
                    <a:lumMod val="75000"/>
                    <a:lumOff val="25000"/>
                  </a:prstClr>
                </a:solidFill>
                <a:latin typeface="Calibri"/>
                <a:ea typeface="Calibri"/>
                <a:cs typeface="Calibri"/>
              </a:rPr>
              <a:t>Login Page:</a:t>
            </a:r>
            <a:r>
              <a:rPr lang="en-US" sz="2000" dirty="0">
                <a:solidFill>
                  <a:prstClr val="black">
                    <a:lumMod val="75000"/>
                    <a:lumOff val="25000"/>
                  </a:prstClr>
                </a:solidFill>
                <a:latin typeface="Calibri"/>
                <a:ea typeface="Calibri"/>
                <a:cs typeface="Calibri"/>
              </a:rPr>
              <a:t> Registered users can securely log into the system using their email and password. This page validates user credentials before granting access to the prediction features.</a:t>
            </a:r>
            <a:endParaRPr lang="en-US" dirty="0">
              <a:solidFill>
                <a:prstClr val="black">
                  <a:lumMod val="75000"/>
                  <a:lumOff val="25000"/>
                </a:prstClr>
              </a:solidFill>
              <a:ea typeface="Calibri" panose="020F0502020204030204" pitchFamily="34" charset="0"/>
              <a:cs typeface="Calibri" panose="020F0502020204030204" pitchFamily="34" charset="0"/>
            </a:endParaRPr>
          </a:p>
          <a:p>
            <a:pPr marL="0" indent="0" algn="l">
              <a:lnSpc>
                <a:spcPts val="1800"/>
              </a:lnSpc>
              <a:spcAft>
                <a:spcPts val="600"/>
              </a:spcAft>
              <a:buNone/>
            </a:pPr>
            <a:endParaRPr lang="en-US" dirty="0">
              <a:solidFill>
                <a:prstClr val="black">
                  <a:lumMod val="75000"/>
                  <a:lumOff val="25000"/>
                </a:prstClr>
              </a:solidFill>
              <a:ea typeface="Calibri"/>
              <a:cs typeface="Calibri"/>
            </a:endParaRPr>
          </a:p>
        </p:txBody>
      </p:sp>
      <p:pic>
        <p:nvPicPr>
          <p:cNvPr id="6" name="Picture 5" descr="A screenshot of a login form&#10;&#10;AI-generated content may be incorrect.">
            <a:extLst>
              <a:ext uri="{FF2B5EF4-FFF2-40B4-BE49-F238E27FC236}">
                <a16:creationId xmlns:a16="http://schemas.microsoft.com/office/drawing/2014/main" id="{65833ED0-DF1C-20DC-B00F-62D3E91073F5}"/>
              </a:ext>
            </a:extLst>
          </p:cNvPr>
          <p:cNvPicPr>
            <a:picLocks noChangeAspect="1"/>
          </p:cNvPicPr>
          <p:nvPr/>
        </p:nvPicPr>
        <p:blipFill>
          <a:blip r:embed="rId2"/>
          <a:stretch>
            <a:fillRect/>
          </a:stretch>
        </p:blipFill>
        <p:spPr>
          <a:xfrm>
            <a:off x="448849" y="2113604"/>
            <a:ext cx="8246302" cy="4238298"/>
          </a:xfrm>
          <a:prstGeom prst="rect">
            <a:avLst/>
          </a:prstGeom>
        </p:spPr>
      </p:pic>
    </p:spTree>
    <p:extLst>
      <p:ext uri="{BB962C8B-B14F-4D97-AF65-F5344CB8AC3E}">
        <p14:creationId xmlns:p14="http://schemas.microsoft.com/office/powerpoint/2010/main" val="4068676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8C20-2CA1-8E01-78C8-02E38B47A772}"/>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8AA87C92-892A-C51C-CBBD-FD24A3C79CF5}"/>
              </a:ext>
            </a:extLst>
          </p:cNvPr>
          <p:cNvSpPr>
            <a:spLocks noGrp="1"/>
          </p:cNvSpPr>
          <p:nvPr>
            <p:ph type="title"/>
          </p:nvPr>
        </p:nvSpPr>
        <p:spPr>
          <a:xfrm>
            <a:off x="87313" y="292100"/>
            <a:ext cx="6599237" cy="431800"/>
          </a:xfrm>
        </p:spPr>
        <p:txBody>
          <a:bodyPr>
            <a:noAutofit/>
          </a:bodyPr>
          <a:lstStyle/>
          <a:p>
            <a:pPr>
              <a:defRPr/>
            </a:pPr>
            <a:r>
              <a:rPr lang="en-US" sz="3200" b="0" dirty="0">
                <a:effectLst>
                  <a:outerShdw blurRad="38100" dist="38100" dir="2700000" algn="tl">
                    <a:srgbClr val="000000"/>
                  </a:outerShdw>
                </a:effectLst>
                <a:ea typeface="+mj-lt"/>
                <a:cs typeface="+mj-lt"/>
              </a:rPr>
              <a:t>OUTPUT SCREENS</a:t>
            </a:r>
            <a:endParaRPr lang="en-US" dirty="0"/>
          </a:p>
        </p:txBody>
      </p:sp>
      <p:sp>
        <p:nvSpPr>
          <p:cNvPr id="2" name="TextBox 1">
            <a:extLst>
              <a:ext uri="{FF2B5EF4-FFF2-40B4-BE49-F238E27FC236}">
                <a16:creationId xmlns:a16="http://schemas.microsoft.com/office/drawing/2014/main" id="{B9A39F70-3727-582F-2950-2AA1DB699D23}"/>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54FB3264-BF37-71AA-5A4E-FBB6DCA3CA77}"/>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14107282-839C-4C60-625C-6B03DFEBE627}"/>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CAC8173E-2176-4630-7A79-4FC6B63A7E1C}"/>
              </a:ext>
            </a:extLst>
          </p:cNvPr>
          <p:cNvSpPr>
            <a:spLocks noGrp="1"/>
          </p:cNvSpPr>
          <p:nvPr>
            <p:ph idx="1"/>
          </p:nvPr>
        </p:nvSpPr>
        <p:spPr>
          <a:xfrm>
            <a:off x="453325" y="718946"/>
            <a:ext cx="8237348" cy="5458017"/>
          </a:xfrm>
        </p:spPr>
        <p:txBody>
          <a:bodyPr/>
          <a:lstStyle/>
          <a:p>
            <a:pPr algn="just">
              <a:buNone/>
            </a:pPr>
            <a:endParaRPr lang="en-US" sz="2000" dirty="0">
              <a:solidFill>
                <a:srgbClr val="404040"/>
              </a:solidFill>
              <a:ea typeface="+mn-lt"/>
              <a:cs typeface="+mn-lt"/>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sp>
        <p:nvSpPr>
          <p:cNvPr id="9" name="TextBox 8">
            <a:extLst>
              <a:ext uri="{FF2B5EF4-FFF2-40B4-BE49-F238E27FC236}">
                <a16:creationId xmlns:a16="http://schemas.microsoft.com/office/drawing/2014/main" id="{5C745F47-6671-0547-3AB3-D8A62B382414}"/>
              </a:ext>
            </a:extLst>
          </p:cNvPr>
          <p:cNvSpPr txBox="1"/>
          <p:nvPr/>
        </p:nvSpPr>
        <p:spPr>
          <a:xfrm>
            <a:off x="343086" y="850720"/>
            <a:ext cx="8244212" cy="14651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solidFill>
                  <a:prstClr val="black">
                    <a:lumMod val="75000"/>
                    <a:lumOff val="25000"/>
                  </a:prstClr>
                </a:solidFill>
                <a:latin typeface="Calibri"/>
                <a:ea typeface="Calibri"/>
                <a:cs typeface="Calibri"/>
              </a:rPr>
              <a:t>Dashboard: </a:t>
            </a:r>
            <a:r>
              <a:rPr lang="en-US" dirty="0">
                <a:solidFill>
                  <a:prstClr val="black">
                    <a:lumMod val="75000"/>
                    <a:lumOff val="25000"/>
                  </a:prstClr>
                </a:solidFill>
                <a:latin typeface="Calibri"/>
                <a:ea typeface="Calibri"/>
                <a:cs typeface="Calibri"/>
              </a:rPr>
              <a:t>Shows the logged-in Emotion Detect interface with user options like Home, Algorithm, Detection, and Logout. It confirms successful login and displays the system features for EEG-based emotion detection.</a:t>
            </a:r>
            <a:endParaRPr lang="en-US" b="1" dirty="0">
              <a:solidFill>
                <a:prstClr val="black">
                  <a:lumMod val="75000"/>
                  <a:lumOff val="25000"/>
                </a:prstClr>
              </a:solidFill>
              <a:latin typeface="Calibri"/>
              <a:ea typeface="Calibri"/>
              <a:cs typeface="Calibri"/>
            </a:endParaRPr>
          </a:p>
          <a:p>
            <a:pPr algn="just"/>
            <a:endParaRPr lang="en-US" sz="2000" dirty="0">
              <a:solidFill>
                <a:prstClr val="black">
                  <a:lumMod val="75000"/>
                  <a:lumOff val="25000"/>
                </a:prstClr>
              </a:solidFill>
              <a:latin typeface="Calibri"/>
              <a:ea typeface="Calibri"/>
              <a:cs typeface="Calibri"/>
            </a:endParaRPr>
          </a:p>
          <a:p>
            <a:pPr marL="0" indent="0" algn="l">
              <a:lnSpc>
                <a:spcPts val="1800"/>
              </a:lnSpc>
              <a:spcAft>
                <a:spcPts val="600"/>
              </a:spcAft>
              <a:buNone/>
            </a:pPr>
            <a:endParaRPr lang="en-US" dirty="0">
              <a:solidFill>
                <a:prstClr val="black">
                  <a:lumMod val="75000"/>
                  <a:lumOff val="25000"/>
                </a:prstClr>
              </a:solidFill>
              <a:ea typeface="Calibri"/>
              <a:cs typeface="Calibri"/>
            </a:endParaRPr>
          </a:p>
        </p:txBody>
      </p:sp>
      <p:pic>
        <p:nvPicPr>
          <p:cNvPr id="5" name="Picture 4" descr="A screenshot of a computer&#10;&#10;AI-generated content may be incorrect.">
            <a:extLst>
              <a:ext uri="{FF2B5EF4-FFF2-40B4-BE49-F238E27FC236}">
                <a16:creationId xmlns:a16="http://schemas.microsoft.com/office/drawing/2014/main" id="{4FD467C0-04B0-464F-60A6-61B3C8900427}"/>
              </a:ext>
            </a:extLst>
          </p:cNvPr>
          <p:cNvPicPr>
            <a:picLocks noChangeAspect="1"/>
          </p:cNvPicPr>
          <p:nvPr/>
        </p:nvPicPr>
        <p:blipFill>
          <a:blip r:embed="rId2"/>
          <a:stretch>
            <a:fillRect/>
          </a:stretch>
        </p:blipFill>
        <p:spPr>
          <a:xfrm>
            <a:off x="480164" y="1922739"/>
            <a:ext cx="7964466" cy="4390386"/>
          </a:xfrm>
          <a:prstGeom prst="rect">
            <a:avLst/>
          </a:prstGeom>
        </p:spPr>
      </p:pic>
    </p:spTree>
    <p:extLst>
      <p:ext uri="{BB962C8B-B14F-4D97-AF65-F5344CB8AC3E}">
        <p14:creationId xmlns:p14="http://schemas.microsoft.com/office/powerpoint/2010/main" val="2401591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CE285-2915-CC20-7D64-942ECBD0B8A5}"/>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881FC017-5824-8D11-09EC-8769CD5A685D}"/>
              </a:ext>
            </a:extLst>
          </p:cNvPr>
          <p:cNvSpPr>
            <a:spLocks noGrp="1"/>
          </p:cNvSpPr>
          <p:nvPr>
            <p:ph type="title"/>
          </p:nvPr>
        </p:nvSpPr>
        <p:spPr>
          <a:xfrm>
            <a:off x="87313" y="292100"/>
            <a:ext cx="6599237" cy="431800"/>
          </a:xfrm>
        </p:spPr>
        <p:txBody>
          <a:bodyPr>
            <a:noAutofit/>
          </a:bodyPr>
          <a:lstStyle/>
          <a:p>
            <a:pPr>
              <a:defRPr/>
            </a:pPr>
            <a:r>
              <a:rPr lang="en-US" sz="3200" b="0" dirty="0">
                <a:effectLst>
                  <a:outerShdw blurRad="38100" dist="38100" dir="2700000" algn="tl">
                    <a:srgbClr val="000000"/>
                  </a:outerShdw>
                </a:effectLst>
                <a:ea typeface="+mj-lt"/>
                <a:cs typeface="+mj-lt"/>
              </a:rPr>
              <a:t>OUTPUT SCREENS</a:t>
            </a:r>
            <a:endParaRPr lang="en-US" dirty="0"/>
          </a:p>
        </p:txBody>
      </p:sp>
      <p:sp>
        <p:nvSpPr>
          <p:cNvPr id="2" name="TextBox 1">
            <a:extLst>
              <a:ext uri="{FF2B5EF4-FFF2-40B4-BE49-F238E27FC236}">
                <a16:creationId xmlns:a16="http://schemas.microsoft.com/office/drawing/2014/main" id="{FF91A33D-984D-00BF-8311-7574FDBF4EEA}"/>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DA32F96D-60D1-9131-C967-71FA741146BB}"/>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06AEC40-C8ED-DEBB-B976-C603E3929C49}"/>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66053141-256B-5407-54FE-6D5B7508214A}"/>
              </a:ext>
            </a:extLst>
          </p:cNvPr>
          <p:cNvSpPr>
            <a:spLocks noGrp="1"/>
          </p:cNvSpPr>
          <p:nvPr>
            <p:ph idx="1"/>
          </p:nvPr>
        </p:nvSpPr>
        <p:spPr>
          <a:xfrm>
            <a:off x="453325" y="718946"/>
            <a:ext cx="8237348" cy="5458017"/>
          </a:xfrm>
        </p:spPr>
        <p:txBody>
          <a:bodyPr/>
          <a:lstStyle/>
          <a:p>
            <a:pPr algn="just">
              <a:buNone/>
            </a:pPr>
            <a:endParaRPr lang="en-US" sz="2000" dirty="0">
              <a:solidFill>
                <a:srgbClr val="404040"/>
              </a:solidFill>
              <a:ea typeface="+mn-lt"/>
              <a:cs typeface="+mn-lt"/>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sp>
        <p:nvSpPr>
          <p:cNvPr id="9" name="TextBox 8">
            <a:extLst>
              <a:ext uri="{FF2B5EF4-FFF2-40B4-BE49-F238E27FC236}">
                <a16:creationId xmlns:a16="http://schemas.microsoft.com/office/drawing/2014/main" id="{F9BFF1B9-303B-65FD-05E1-556C1AFEA3ED}"/>
              </a:ext>
            </a:extLst>
          </p:cNvPr>
          <p:cNvSpPr txBox="1"/>
          <p:nvPr/>
        </p:nvSpPr>
        <p:spPr>
          <a:xfrm>
            <a:off x="343086" y="850720"/>
            <a:ext cx="824421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b="1" dirty="0">
                <a:solidFill>
                  <a:prstClr val="black">
                    <a:lumMod val="75000"/>
                    <a:lumOff val="25000"/>
                  </a:prstClr>
                </a:solidFill>
                <a:latin typeface="Calibri"/>
                <a:ea typeface="Calibri"/>
                <a:cs typeface="Calibri"/>
              </a:rPr>
              <a:t>Algorithm</a:t>
            </a:r>
            <a:r>
              <a:rPr lang="en-US" sz="2000" dirty="0">
                <a:solidFill>
                  <a:prstClr val="black">
                    <a:lumMod val="75000"/>
                    <a:lumOff val="25000"/>
                  </a:prstClr>
                </a:solidFill>
                <a:latin typeface="Calibri"/>
                <a:ea typeface="Calibri"/>
                <a:cs typeface="Calibri"/>
              </a:rPr>
              <a:t>: Displays the performance evaluation of the </a:t>
            </a:r>
            <a:r>
              <a:rPr lang="en-US" sz="2000" err="1">
                <a:solidFill>
                  <a:prstClr val="black">
                    <a:lumMod val="75000"/>
                    <a:lumOff val="25000"/>
                  </a:prstClr>
                </a:solidFill>
                <a:latin typeface="Calibri"/>
                <a:ea typeface="Calibri"/>
                <a:cs typeface="Calibri"/>
              </a:rPr>
              <a:t>EmoDetect</a:t>
            </a:r>
            <a:r>
              <a:rPr lang="en-US" sz="2000" dirty="0">
                <a:solidFill>
                  <a:prstClr val="black">
                    <a:lumMod val="75000"/>
                    <a:lumOff val="25000"/>
                  </a:prstClr>
                </a:solidFill>
                <a:latin typeface="Calibri"/>
                <a:ea typeface="Calibri"/>
                <a:cs typeface="Calibri"/>
              </a:rPr>
              <a:t> emotion detection model. It shows a classification report with precision, recall, and F1-score for each emotion category.</a:t>
            </a:r>
            <a:endParaRPr lang="en-US" sz="2000" dirty="0">
              <a:solidFill>
                <a:prstClr val="black">
                  <a:lumMod val="75000"/>
                  <a:lumOff val="25000"/>
                </a:prstClr>
              </a:solidFill>
              <a:latin typeface="Calibri"/>
            </a:endParaRPr>
          </a:p>
        </p:txBody>
      </p:sp>
      <p:pic>
        <p:nvPicPr>
          <p:cNvPr id="8" name="Picture 7" descr="A screenshot of a computer&#10;&#10;AI-generated content may be incorrect.">
            <a:extLst>
              <a:ext uri="{FF2B5EF4-FFF2-40B4-BE49-F238E27FC236}">
                <a16:creationId xmlns:a16="http://schemas.microsoft.com/office/drawing/2014/main" id="{A5CA198A-7D1E-F0A6-8CC2-5D8E02A571F8}"/>
              </a:ext>
            </a:extLst>
          </p:cNvPr>
          <p:cNvPicPr>
            <a:picLocks noChangeAspect="1"/>
          </p:cNvPicPr>
          <p:nvPr/>
        </p:nvPicPr>
        <p:blipFill>
          <a:blip r:embed="rId2"/>
          <a:stretch>
            <a:fillRect/>
          </a:stretch>
        </p:blipFill>
        <p:spPr>
          <a:xfrm>
            <a:off x="751561" y="1844510"/>
            <a:ext cx="7421673" cy="4640788"/>
          </a:xfrm>
          <a:prstGeom prst="rect">
            <a:avLst/>
          </a:prstGeom>
        </p:spPr>
      </p:pic>
    </p:spTree>
    <p:extLst>
      <p:ext uri="{BB962C8B-B14F-4D97-AF65-F5344CB8AC3E}">
        <p14:creationId xmlns:p14="http://schemas.microsoft.com/office/powerpoint/2010/main" val="2930401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19B3A-E9E8-C10E-5D5E-44DEAEE5AA7B}"/>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88387A5C-BB49-6ED8-E9E2-8919C8994344}"/>
              </a:ext>
            </a:extLst>
          </p:cNvPr>
          <p:cNvSpPr>
            <a:spLocks noGrp="1"/>
          </p:cNvSpPr>
          <p:nvPr>
            <p:ph type="title"/>
          </p:nvPr>
        </p:nvSpPr>
        <p:spPr>
          <a:xfrm>
            <a:off x="87313" y="292100"/>
            <a:ext cx="6599237" cy="431800"/>
          </a:xfrm>
        </p:spPr>
        <p:txBody>
          <a:bodyPr>
            <a:noAutofit/>
          </a:bodyPr>
          <a:lstStyle/>
          <a:p>
            <a:pPr>
              <a:defRPr/>
            </a:pPr>
            <a:r>
              <a:rPr lang="en-US" sz="3200" b="0" dirty="0">
                <a:effectLst>
                  <a:outerShdw blurRad="38100" dist="38100" dir="2700000" algn="tl">
                    <a:srgbClr val="000000"/>
                  </a:outerShdw>
                </a:effectLst>
                <a:ea typeface="+mj-lt"/>
                <a:cs typeface="+mj-lt"/>
              </a:rPr>
              <a:t>OUTPUT SCREENS</a:t>
            </a:r>
            <a:endParaRPr lang="en-US" dirty="0"/>
          </a:p>
        </p:txBody>
      </p:sp>
      <p:sp>
        <p:nvSpPr>
          <p:cNvPr id="2" name="TextBox 1">
            <a:extLst>
              <a:ext uri="{FF2B5EF4-FFF2-40B4-BE49-F238E27FC236}">
                <a16:creationId xmlns:a16="http://schemas.microsoft.com/office/drawing/2014/main" id="{4F837D6A-33D5-26E3-E408-18CB1141A3AC}"/>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DE1C1BAF-6E3A-0171-FC91-3A71FDDDBFB3}"/>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2B615B3B-DF8C-27AD-53D0-BF42D0D2C26D}"/>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F9D053D2-A6B3-63F9-B85D-0694EBB80B15}"/>
              </a:ext>
            </a:extLst>
          </p:cNvPr>
          <p:cNvSpPr>
            <a:spLocks noGrp="1"/>
          </p:cNvSpPr>
          <p:nvPr>
            <p:ph idx="1"/>
          </p:nvPr>
        </p:nvSpPr>
        <p:spPr>
          <a:xfrm>
            <a:off x="453325" y="718946"/>
            <a:ext cx="8237348" cy="5458017"/>
          </a:xfrm>
        </p:spPr>
        <p:txBody>
          <a:bodyPr/>
          <a:lstStyle/>
          <a:p>
            <a:pPr algn="just">
              <a:buNone/>
            </a:pPr>
            <a:endParaRPr lang="en-US" sz="2000" dirty="0">
              <a:solidFill>
                <a:srgbClr val="404040"/>
              </a:solidFill>
              <a:ea typeface="+mn-lt"/>
              <a:cs typeface="+mn-lt"/>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sp>
        <p:nvSpPr>
          <p:cNvPr id="9" name="TextBox 8">
            <a:extLst>
              <a:ext uri="{FF2B5EF4-FFF2-40B4-BE49-F238E27FC236}">
                <a16:creationId xmlns:a16="http://schemas.microsoft.com/office/drawing/2014/main" id="{8CDB9C8F-E604-9A5F-D219-B14363AA8281}"/>
              </a:ext>
            </a:extLst>
          </p:cNvPr>
          <p:cNvSpPr txBox="1"/>
          <p:nvPr/>
        </p:nvSpPr>
        <p:spPr>
          <a:xfrm>
            <a:off x="343086" y="850720"/>
            <a:ext cx="824421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b="1" dirty="0">
                <a:solidFill>
                  <a:prstClr val="black">
                    <a:lumMod val="75000"/>
                    <a:lumOff val="25000"/>
                  </a:prstClr>
                </a:solidFill>
                <a:latin typeface="Calibri"/>
                <a:ea typeface="Calibri"/>
                <a:cs typeface="Calibri"/>
              </a:rPr>
              <a:t>Prediction Page:</a:t>
            </a:r>
            <a:r>
              <a:rPr lang="en-US" sz="2000" dirty="0">
                <a:solidFill>
                  <a:prstClr val="black">
                    <a:lumMod val="75000"/>
                    <a:lumOff val="25000"/>
                  </a:prstClr>
                </a:solidFill>
                <a:latin typeface="Calibri"/>
                <a:ea typeface="Calibri"/>
                <a:cs typeface="Calibri"/>
              </a:rPr>
              <a:t> Allows users to enter EEG feature values (Entropy, Statistical, and FFT) to analyze and detect emotions. The system processes these inputs and displays the predicted emotion along with a confidence percentage.</a:t>
            </a:r>
            <a:endParaRPr lang="en-US" dirty="0">
              <a:solidFill>
                <a:prstClr val="black">
                  <a:lumMod val="75000"/>
                  <a:lumOff val="25000"/>
                </a:prstClr>
              </a:solidFill>
            </a:endParaRPr>
          </a:p>
          <a:p>
            <a:pPr algn="just"/>
            <a:endParaRPr lang="en-US" sz="2000" dirty="0">
              <a:solidFill>
                <a:prstClr val="black">
                  <a:lumMod val="75000"/>
                  <a:lumOff val="25000"/>
                </a:prstClr>
              </a:solidFill>
              <a:latin typeface="Calibri"/>
              <a:ea typeface="Calibri"/>
              <a:cs typeface="Calibri"/>
            </a:endParaRPr>
          </a:p>
        </p:txBody>
      </p:sp>
      <p:pic>
        <p:nvPicPr>
          <p:cNvPr id="5" name="Picture 4" descr="A screenshot of a computer&#10;&#10;AI-generated content may be incorrect.">
            <a:extLst>
              <a:ext uri="{FF2B5EF4-FFF2-40B4-BE49-F238E27FC236}">
                <a16:creationId xmlns:a16="http://schemas.microsoft.com/office/drawing/2014/main" id="{FB2733EF-D502-AEB5-F12B-18F5C39E3B9B}"/>
              </a:ext>
            </a:extLst>
          </p:cNvPr>
          <p:cNvPicPr>
            <a:picLocks noChangeAspect="1"/>
          </p:cNvPicPr>
          <p:nvPr/>
        </p:nvPicPr>
        <p:blipFill>
          <a:blip r:embed="rId2"/>
          <a:stretch>
            <a:fillRect/>
          </a:stretch>
        </p:blipFill>
        <p:spPr>
          <a:xfrm>
            <a:off x="344466" y="2020665"/>
            <a:ext cx="8340247" cy="4163218"/>
          </a:xfrm>
          <a:prstGeom prst="rect">
            <a:avLst/>
          </a:prstGeom>
        </p:spPr>
      </p:pic>
    </p:spTree>
    <p:extLst>
      <p:ext uri="{BB962C8B-B14F-4D97-AF65-F5344CB8AC3E}">
        <p14:creationId xmlns:p14="http://schemas.microsoft.com/office/powerpoint/2010/main" val="783042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14170-D456-DD97-353A-AD9027D87501}"/>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30EA5AFE-E213-CB21-1351-455EFFE243D2}"/>
              </a:ext>
            </a:extLst>
          </p:cNvPr>
          <p:cNvSpPr>
            <a:spLocks noGrp="1"/>
          </p:cNvSpPr>
          <p:nvPr>
            <p:ph type="title"/>
          </p:nvPr>
        </p:nvSpPr>
        <p:spPr>
          <a:xfrm>
            <a:off x="87313" y="292100"/>
            <a:ext cx="6599237" cy="431800"/>
          </a:xfrm>
        </p:spPr>
        <p:txBody>
          <a:bodyPr>
            <a:noAutofit/>
          </a:bodyPr>
          <a:lstStyle/>
          <a:p>
            <a:pPr>
              <a:defRPr/>
            </a:pPr>
            <a:r>
              <a:rPr lang="en-US" sz="3200" b="0" dirty="0">
                <a:effectLst>
                  <a:outerShdw blurRad="38100" dist="38100" dir="2700000" algn="tl">
                    <a:srgbClr val="000000"/>
                  </a:outerShdw>
                </a:effectLst>
                <a:ea typeface="+mj-lt"/>
                <a:cs typeface="+mj-lt"/>
              </a:rPr>
              <a:t>OUTPUT SCREENS</a:t>
            </a:r>
            <a:endParaRPr lang="en-US" dirty="0"/>
          </a:p>
        </p:txBody>
      </p:sp>
      <p:sp>
        <p:nvSpPr>
          <p:cNvPr id="2" name="TextBox 1">
            <a:extLst>
              <a:ext uri="{FF2B5EF4-FFF2-40B4-BE49-F238E27FC236}">
                <a16:creationId xmlns:a16="http://schemas.microsoft.com/office/drawing/2014/main" id="{B75B8A55-3993-24D6-3A43-0D21E0C70A71}"/>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8CFFCD40-452D-1613-6B6E-99E8E302BB76}"/>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BBC330C4-96FD-91AE-3C69-8757BCD62E71}"/>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3C063710-6427-77D3-B430-B1E2293B2019}"/>
              </a:ext>
            </a:extLst>
          </p:cNvPr>
          <p:cNvSpPr>
            <a:spLocks noGrp="1"/>
          </p:cNvSpPr>
          <p:nvPr>
            <p:ph idx="1"/>
          </p:nvPr>
        </p:nvSpPr>
        <p:spPr>
          <a:xfrm>
            <a:off x="453325" y="718946"/>
            <a:ext cx="8237348" cy="5458017"/>
          </a:xfrm>
        </p:spPr>
        <p:txBody>
          <a:bodyPr/>
          <a:lstStyle/>
          <a:p>
            <a:pPr algn="just">
              <a:buNone/>
            </a:pPr>
            <a:endParaRPr lang="en-US" sz="2000" dirty="0">
              <a:solidFill>
                <a:srgbClr val="404040"/>
              </a:solidFill>
              <a:ea typeface="+mn-lt"/>
              <a:cs typeface="+mn-lt"/>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pic>
        <p:nvPicPr>
          <p:cNvPr id="6" name="Picture 5" descr="A screenshot of a computer&#10;&#10;AI-generated content may be incorrect.">
            <a:extLst>
              <a:ext uri="{FF2B5EF4-FFF2-40B4-BE49-F238E27FC236}">
                <a16:creationId xmlns:a16="http://schemas.microsoft.com/office/drawing/2014/main" id="{25976146-98DF-65A6-4F1B-1E53F873B50E}"/>
              </a:ext>
            </a:extLst>
          </p:cNvPr>
          <p:cNvPicPr>
            <a:picLocks noChangeAspect="1"/>
          </p:cNvPicPr>
          <p:nvPr/>
        </p:nvPicPr>
        <p:blipFill>
          <a:blip r:embed="rId2"/>
          <a:stretch>
            <a:fillRect/>
          </a:stretch>
        </p:blipFill>
        <p:spPr>
          <a:xfrm>
            <a:off x="594986" y="1254950"/>
            <a:ext cx="7954027" cy="4483799"/>
          </a:xfrm>
          <a:prstGeom prst="rect">
            <a:avLst/>
          </a:prstGeom>
        </p:spPr>
      </p:pic>
    </p:spTree>
    <p:extLst>
      <p:ext uri="{BB962C8B-B14F-4D97-AF65-F5344CB8AC3E}">
        <p14:creationId xmlns:p14="http://schemas.microsoft.com/office/powerpoint/2010/main" val="775559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B3B08-99C2-DEDF-BBBA-3F67C6F9950A}"/>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BBFC04E4-70A3-6C6A-0FA2-3C11CCE6E987}"/>
              </a:ext>
            </a:extLst>
          </p:cNvPr>
          <p:cNvSpPr>
            <a:spLocks noGrp="1"/>
          </p:cNvSpPr>
          <p:nvPr>
            <p:ph type="title"/>
          </p:nvPr>
        </p:nvSpPr>
        <p:spPr>
          <a:xfrm>
            <a:off x="87313" y="292100"/>
            <a:ext cx="6599237" cy="431800"/>
          </a:xfrm>
        </p:spPr>
        <p:txBody>
          <a:bodyPr>
            <a:noAutofit/>
          </a:bodyPr>
          <a:lstStyle/>
          <a:p>
            <a:pPr>
              <a:defRPr/>
            </a:pPr>
            <a:r>
              <a:rPr lang="en-US" sz="3200" b="0" dirty="0">
                <a:effectLst>
                  <a:outerShdw blurRad="38100" dist="38100" dir="2700000" algn="tl">
                    <a:srgbClr val="000000"/>
                  </a:outerShdw>
                </a:effectLst>
                <a:ea typeface="+mj-lt"/>
                <a:cs typeface="+mj-lt"/>
              </a:rPr>
              <a:t>OUTPUT SCREENS</a:t>
            </a:r>
            <a:endParaRPr lang="en-US" dirty="0"/>
          </a:p>
        </p:txBody>
      </p:sp>
      <p:sp>
        <p:nvSpPr>
          <p:cNvPr id="2" name="TextBox 1">
            <a:extLst>
              <a:ext uri="{FF2B5EF4-FFF2-40B4-BE49-F238E27FC236}">
                <a16:creationId xmlns:a16="http://schemas.microsoft.com/office/drawing/2014/main" id="{588C75C2-265D-2435-9DA2-A852E575E2ED}"/>
              </a:ext>
            </a:extLst>
          </p:cNvPr>
          <p:cNvSpPr txBox="1"/>
          <p:nvPr/>
        </p:nvSpPr>
        <p:spPr>
          <a:xfrm>
            <a:off x="355600" y="1203158"/>
            <a:ext cx="3073400" cy="396574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1C3D9A52-5644-D9E0-8DE3-E62590E3A1D5}"/>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3B1DC4F5-05A3-BE76-66F7-B97D6FDD4195}"/>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22B59B9A-275F-D361-D3FB-37E74B082456}"/>
              </a:ext>
            </a:extLst>
          </p:cNvPr>
          <p:cNvSpPr>
            <a:spLocks noGrp="1"/>
          </p:cNvSpPr>
          <p:nvPr>
            <p:ph idx="1"/>
          </p:nvPr>
        </p:nvSpPr>
        <p:spPr>
          <a:xfrm>
            <a:off x="453325" y="718946"/>
            <a:ext cx="8237348" cy="5458017"/>
          </a:xfrm>
        </p:spPr>
        <p:txBody>
          <a:bodyPr/>
          <a:lstStyle/>
          <a:p>
            <a:pPr algn="just">
              <a:buNone/>
            </a:pPr>
            <a:endParaRPr lang="en-US" sz="2000" dirty="0">
              <a:solidFill>
                <a:srgbClr val="404040"/>
              </a:solidFill>
              <a:ea typeface="+mn-lt"/>
              <a:cs typeface="+mn-lt"/>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sp>
        <p:nvSpPr>
          <p:cNvPr id="9" name="TextBox 8">
            <a:extLst>
              <a:ext uri="{FF2B5EF4-FFF2-40B4-BE49-F238E27FC236}">
                <a16:creationId xmlns:a16="http://schemas.microsoft.com/office/drawing/2014/main" id="{1C4C12FB-2B6D-FC53-708E-5D7B9F426B16}"/>
              </a:ext>
            </a:extLst>
          </p:cNvPr>
          <p:cNvSpPr txBox="1"/>
          <p:nvPr/>
        </p:nvSpPr>
        <p:spPr>
          <a:xfrm>
            <a:off x="343086" y="850720"/>
            <a:ext cx="824421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sz="2000" dirty="0">
              <a:solidFill>
                <a:prstClr val="black">
                  <a:lumMod val="75000"/>
                  <a:lumOff val="25000"/>
                </a:prstClr>
              </a:solidFill>
              <a:ea typeface="Calibri"/>
              <a:cs typeface="Calibri"/>
            </a:endParaRPr>
          </a:p>
        </p:txBody>
      </p:sp>
      <p:pic>
        <p:nvPicPr>
          <p:cNvPr id="5" name="Picture 4" descr="A screenshot of a computer&#10;&#10;AI-generated content may be incorrect.">
            <a:extLst>
              <a:ext uri="{FF2B5EF4-FFF2-40B4-BE49-F238E27FC236}">
                <a16:creationId xmlns:a16="http://schemas.microsoft.com/office/drawing/2014/main" id="{649DA70D-4301-EBD0-8609-BE7C4593FE29}"/>
              </a:ext>
            </a:extLst>
          </p:cNvPr>
          <p:cNvPicPr>
            <a:picLocks noChangeAspect="1"/>
          </p:cNvPicPr>
          <p:nvPr/>
        </p:nvPicPr>
        <p:blipFill>
          <a:blip r:embed="rId2"/>
          <a:stretch>
            <a:fillRect/>
          </a:stretch>
        </p:blipFill>
        <p:spPr>
          <a:xfrm>
            <a:off x="354904" y="1254949"/>
            <a:ext cx="8256741" cy="4692567"/>
          </a:xfrm>
          <a:prstGeom prst="rect">
            <a:avLst/>
          </a:prstGeom>
        </p:spPr>
      </p:pic>
    </p:spTree>
    <p:extLst>
      <p:ext uri="{BB962C8B-B14F-4D97-AF65-F5344CB8AC3E}">
        <p14:creationId xmlns:p14="http://schemas.microsoft.com/office/powerpoint/2010/main" val="1922925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A3036-C343-B9C9-3FD6-524F410CAE26}"/>
            </a:ext>
          </a:extLst>
        </p:cNvPr>
        <p:cNvGrpSpPr/>
        <p:nvPr/>
      </p:nvGrpSpPr>
      <p:grpSpPr>
        <a:xfrm>
          <a:off x="0" y="0"/>
          <a:ext cx="0" cy="0"/>
          <a:chOff x="0" y="0"/>
          <a:chExt cx="0" cy="0"/>
        </a:xfrm>
      </p:grpSpPr>
      <p:sp>
        <p:nvSpPr>
          <p:cNvPr id="16386" name="Title 2">
            <a:extLst>
              <a:ext uri="{FF2B5EF4-FFF2-40B4-BE49-F238E27FC236}">
                <a16:creationId xmlns:a16="http://schemas.microsoft.com/office/drawing/2014/main" id="{466A29F5-308C-739E-16A6-CCAFC8D4F041}"/>
              </a:ext>
            </a:extLst>
          </p:cNvPr>
          <p:cNvSpPr>
            <a:spLocks noGrp="1"/>
          </p:cNvSpPr>
          <p:nvPr>
            <p:ph type="title"/>
          </p:nvPr>
        </p:nvSpPr>
        <p:spPr>
          <a:xfrm>
            <a:off x="87313" y="292100"/>
            <a:ext cx="6599237" cy="431800"/>
          </a:xfrm>
        </p:spPr>
        <p:txBody>
          <a:bodyPr>
            <a:noAutofit/>
          </a:bodyPr>
          <a:lstStyle/>
          <a:p>
            <a:pPr>
              <a:defRPr/>
            </a:pPr>
            <a:r>
              <a:rPr lang="en-US" sz="3200" b="0" dirty="0">
                <a:effectLst>
                  <a:outerShdw blurRad="38100" dist="38100" dir="2700000" algn="tl">
                    <a:srgbClr val="000000"/>
                  </a:outerShdw>
                </a:effectLst>
                <a:ea typeface="Calibri"/>
                <a:cs typeface="Calibri"/>
              </a:rPr>
              <a:t>LITERATURE SURVEY</a:t>
            </a:r>
          </a:p>
        </p:txBody>
      </p:sp>
      <p:sp>
        <p:nvSpPr>
          <p:cNvPr id="3" name="TextBox 2">
            <a:extLst>
              <a:ext uri="{FF2B5EF4-FFF2-40B4-BE49-F238E27FC236}">
                <a16:creationId xmlns:a16="http://schemas.microsoft.com/office/drawing/2014/main" id="{59A4F220-5D30-7684-809A-6601865A61BD}"/>
              </a:ext>
            </a:extLst>
          </p:cNvPr>
          <p:cNvSpPr txBox="1"/>
          <p:nvPr/>
        </p:nvSpPr>
        <p:spPr>
          <a:xfrm>
            <a:off x="355600" y="1203158"/>
            <a:ext cx="3073400" cy="31973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B4916C2-B7C3-CED6-427F-139BCAD0173A}"/>
              </a:ext>
            </a:extLst>
          </p:cNvPr>
          <p:cNvSpPr txBox="1"/>
          <p:nvPr/>
        </p:nvSpPr>
        <p:spPr>
          <a:xfrm>
            <a:off x="241300" y="1203158"/>
            <a:ext cx="3187700" cy="341329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10">
            <a:extLst>
              <a:ext uri="{FF2B5EF4-FFF2-40B4-BE49-F238E27FC236}">
                <a16:creationId xmlns:a16="http://schemas.microsoft.com/office/drawing/2014/main" id="{2E1AB2E4-CFCC-79FA-125A-06D90562AB63}"/>
              </a:ext>
            </a:extLst>
          </p:cNvPr>
          <p:cNvSpPr>
            <a:spLocks noGrp="1"/>
          </p:cNvSpPr>
          <p:nvPr>
            <p:ph idx="1"/>
          </p:nvPr>
        </p:nvSpPr>
        <p:spPr>
          <a:xfrm>
            <a:off x="453325" y="718946"/>
            <a:ext cx="8237348" cy="5458017"/>
          </a:xfrm>
        </p:spPr>
        <p:txBody>
          <a:bodyPr/>
          <a:lstStyle/>
          <a:p>
            <a:pPr algn="just">
              <a:buNone/>
            </a:pPr>
            <a:endParaRPr lang="en-US" sz="2000" dirty="0">
              <a:solidFill>
                <a:srgbClr val="404040"/>
              </a:solidFill>
              <a:ea typeface="+mn-lt"/>
              <a:cs typeface="+mn-lt"/>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buNone/>
            </a:pPr>
            <a:endParaRPr lang="en-US" sz="2000" dirty="0">
              <a:solidFill>
                <a:srgbClr val="404040"/>
              </a:solidFill>
              <a:ea typeface="Calibri"/>
              <a:cs typeface="Calibri"/>
            </a:endParaRPr>
          </a:p>
          <a:p>
            <a:pPr algn="just">
              <a:lnSpc>
                <a:spcPts val="1800"/>
              </a:lnSpc>
              <a:spcBef>
                <a:spcPct val="0"/>
              </a:spcBef>
              <a:spcAft>
                <a:spcPts val="600"/>
              </a:spcAft>
              <a:buNone/>
            </a:pPr>
            <a:endParaRPr lang="en-US" sz="2000" dirty="0">
              <a:solidFill>
                <a:srgbClr val="404040"/>
              </a:solidFill>
              <a:ea typeface="Calibri"/>
              <a:cs typeface="Calibri"/>
            </a:endParaRPr>
          </a:p>
          <a:p>
            <a:pPr marL="285750" indent="-285750" algn="just">
              <a:lnSpc>
                <a:spcPts val="1800"/>
              </a:lnSpc>
              <a:spcBef>
                <a:spcPct val="0"/>
              </a:spcBef>
              <a:spcAft>
                <a:spcPts val="600"/>
              </a:spcAft>
            </a:pPr>
            <a:endParaRPr lang="en-US" sz="2000" dirty="0">
              <a:solidFill>
                <a:srgbClr val="404040"/>
              </a:solidFill>
              <a:ea typeface="Calibri"/>
              <a:cs typeface="Calibri"/>
            </a:endParaRPr>
          </a:p>
        </p:txBody>
      </p:sp>
      <p:sp>
        <p:nvSpPr>
          <p:cNvPr id="9" name="TextBox 8">
            <a:extLst>
              <a:ext uri="{FF2B5EF4-FFF2-40B4-BE49-F238E27FC236}">
                <a16:creationId xmlns:a16="http://schemas.microsoft.com/office/drawing/2014/main" id="{2801FEB9-24BE-27A5-C816-CB8560F30C6F}"/>
              </a:ext>
            </a:extLst>
          </p:cNvPr>
          <p:cNvSpPr txBox="1"/>
          <p:nvPr/>
        </p:nvSpPr>
        <p:spPr>
          <a:xfrm>
            <a:off x="343086" y="850720"/>
            <a:ext cx="824421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sz="2000" dirty="0">
              <a:solidFill>
                <a:prstClr val="black">
                  <a:lumMod val="75000"/>
                  <a:lumOff val="25000"/>
                </a:prstClr>
              </a:solidFill>
              <a:ea typeface="Calibri"/>
              <a:cs typeface="Calibri"/>
            </a:endParaRPr>
          </a:p>
        </p:txBody>
      </p:sp>
      <p:graphicFrame>
        <p:nvGraphicFramePr>
          <p:cNvPr id="8" name="Table 7">
            <a:extLst>
              <a:ext uri="{FF2B5EF4-FFF2-40B4-BE49-F238E27FC236}">
                <a16:creationId xmlns:a16="http://schemas.microsoft.com/office/drawing/2014/main" id="{3E7149F2-E98A-AA0A-4103-7711214C5E49}"/>
              </a:ext>
            </a:extLst>
          </p:cNvPr>
          <p:cNvGraphicFramePr>
            <a:graphicFrameLocks noGrp="1"/>
          </p:cNvGraphicFramePr>
          <p:nvPr>
            <p:extLst>
              <p:ext uri="{D42A27DB-BD31-4B8C-83A1-F6EECF244321}">
                <p14:modId xmlns:p14="http://schemas.microsoft.com/office/powerpoint/2010/main" val="2320580042"/>
              </p:ext>
            </p:extLst>
          </p:nvPr>
        </p:nvGraphicFramePr>
        <p:xfrm>
          <a:off x="459287" y="1054274"/>
          <a:ext cx="8230379" cy="5267465"/>
        </p:xfrm>
        <a:graphic>
          <a:graphicData uri="http://schemas.openxmlformats.org/drawingml/2006/table">
            <a:tbl>
              <a:tblPr firstRow="1" bandRow="1">
                <a:tableStyleId>{5C22544A-7EE6-4342-B048-85BDC9FD1C3A}</a:tableStyleId>
              </a:tblPr>
              <a:tblGrid>
                <a:gridCol w="490257">
                  <a:extLst>
                    <a:ext uri="{9D8B030D-6E8A-4147-A177-3AD203B41FA5}">
                      <a16:colId xmlns:a16="http://schemas.microsoft.com/office/drawing/2014/main" val="929232196"/>
                    </a:ext>
                  </a:extLst>
                </a:gridCol>
                <a:gridCol w="2801894">
                  <a:extLst>
                    <a:ext uri="{9D8B030D-6E8A-4147-A177-3AD203B41FA5}">
                      <a16:colId xmlns:a16="http://schemas.microsoft.com/office/drawing/2014/main" val="2270589846"/>
                    </a:ext>
                  </a:extLst>
                </a:gridCol>
                <a:gridCol w="1646077">
                  <a:extLst>
                    <a:ext uri="{9D8B030D-6E8A-4147-A177-3AD203B41FA5}">
                      <a16:colId xmlns:a16="http://schemas.microsoft.com/office/drawing/2014/main" val="4208443294"/>
                    </a:ext>
                  </a:extLst>
                </a:gridCol>
                <a:gridCol w="778509">
                  <a:extLst>
                    <a:ext uri="{9D8B030D-6E8A-4147-A177-3AD203B41FA5}">
                      <a16:colId xmlns:a16="http://schemas.microsoft.com/office/drawing/2014/main" val="329188665"/>
                    </a:ext>
                  </a:extLst>
                </a:gridCol>
                <a:gridCol w="2513642">
                  <a:extLst>
                    <a:ext uri="{9D8B030D-6E8A-4147-A177-3AD203B41FA5}">
                      <a16:colId xmlns:a16="http://schemas.microsoft.com/office/drawing/2014/main" val="2247943080"/>
                    </a:ext>
                  </a:extLst>
                </a:gridCol>
              </a:tblGrid>
              <a:tr h="726547">
                <a:tc>
                  <a:txBody>
                    <a:bodyPr/>
                    <a:lstStyle/>
                    <a:p>
                      <a:pPr lvl="0">
                        <a:buNone/>
                      </a:pPr>
                      <a:r>
                        <a:rPr lang="en-US" sz="1350" b="0" i="0" u="none" strike="noStrike" noProof="0" dirty="0">
                          <a:latin typeface="Calibri"/>
                        </a:rPr>
                        <a:t> </a:t>
                      </a:r>
                      <a:r>
                        <a:rPr lang="en-US" sz="1350" b="0" i="0" u="none" strike="noStrike" noProof="0" dirty="0"/>
                        <a:t>Sr No</a:t>
                      </a:r>
                      <a:endParaRPr lang="en-US" dirty="0"/>
                    </a:p>
                  </a:txBody>
                  <a:tcPr/>
                </a:tc>
                <a:tc>
                  <a:txBody>
                    <a:bodyPr/>
                    <a:lstStyle/>
                    <a:p>
                      <a:pPr lvl="0">
                        <a:buNone/>
                      </a:pPr>
                      <a:r>
                        <a:rPr lang="en-US" sz="1350" b="0" i="0" u="none" strike="noStrike" noProof="0" dirty="0">
                          <a:latin typeface="Calibri"/>
                        </a:rPr>
                        <a:t>Title</a:t>
                      </a:r>
                      <a:endParaRPr lang="en-US" dirty="0"/>
                    </a:p>
                  </a:txBody>
                  <a:tcPr/>
                </a:tc>
                <a:tc>
                  <a:txBody>
                    <a:bodyPr/>
                    <a:lstStyle/>
                    <a:p>
                      <a:pPr lvl="0">
                        <a:buNone/>
                      </a:pPr>
                      <a:r>
                        <a:rPr lang="en-US" sz="1350" b="0" i="0" u="none" strike="noStrike" noProof="0" dirty="0">
                          <a:latin typeface="Calibri"/>
                        </a:rPr>
                        <a:t>Author(s)</a:t>
                      </a:r>
                      <a:endParaRPr lang="en-US" dirty="0"/>
                    </a:p>
                  </a:txBody>
                  <a:tcPr/>
                </a:tc>
                <a:tc>
                  <a:txBody>
                    <a:bodyPr/>
                    <a:lstStyle/>
                    <a:p>
                      <a:pPr lvl="0">
                        <a:buNone/>
                      </a:pPr>
                      <a:r>
                        <a:rPr lang="en-US" sz="1350" b="0" i="0" u="none" strike="noStrike" noProof="0" dirty="0">
                          <a:latin typeface="Calibri"/>
                        </a:rPr>
                        <a:t>Year</a:t>
                      </a:r>
                      <a:endParaRPr lang="en-US" dirty="0"/>
                    </a:p>
                  </a:txBody>
                  <a:tcPr/>
                </a:tc>
                <a:tc>
                  <a:txBody>
                    <a:bodyPr/>
                    <a:lstStyle/>
                    <a:p>
                      <a:pPr lvl="0">
                        <a:buNone/>
                      </a:pPr>
                      <a:r>
                        <a:rPr lang="en-US" sz="1350" b="0" i="0" u="none" strike="noStrike" noProof="0" dirty="0">
                          <a:latin typeface="Calibri"/>
                        </a:rPr>
                        <a:t>Outcome </a:t>
                      </a:r>
                      <a:endParaRPr lang="en-US" dirty="0"/>
                    </a:p>
                  </a:txBody>
                  <a:tcPr/>
                </a:tc>
                <a:extLst>
                  <a:ext uri="{0D108BD9-81ED-4DB2-BD59-A6C34878D82A}">
                    <a16:rowId xmlns:a16="http://schemas.microsoft.com/office/drawing/2014/main" val="4281862592"/>
                  </a:ext>
                </a:extLst>
              </a:tr>
              <a:tr h="782435">
                <a:tc>
                  <a:txBody>
                    <a:bodyPr/>
                    <a:lstStyle/>
                    <a:p>
                      <a:pPr lvl="0">
                        <a:buNone/>
                      </a:pPr>
                      <a:r>
                        <a:rPr lang="en-US" sz="1350" b="0" i="0" u="none" strike="noStrike" noProof="0" dirty="0"/>
                        <a:t>1.</a:t>
                      </a:r>
                    </a:p>
                  </a:txBody>
                  <a:tcPr/>
                </a:tc>
                <a:tc>
                  <a:txBody>
                    <a:bodyPr/>
                    <a:lstStyle/>
                    <a:p>
                      <a:pPr lvl="0">
                        <a:buNone/>
                      </a:pPr>
                      <a:r>
                        <a:rPr lang="en-US" sz="1350" b="0" i="0" u="none" strike="noStrike" noProof="0" dirty="0"/>
                        <a:t>Lightweight Building of an Electroencephalogram-Based Emotion Detection System </a:t>
                      </a:r>
                      <a:endParaRPr lang="en-US" dirty="0"/>
                    </a:p>
                  </a:txBody>
                  <a:tcPr/>
                </a:tc>
                <a:tc>
                  <a:txBody>
                    <a:bodyPr/>
                    <a:lstStyle/>
                    <a:p>
                      <a:pPr lvl="0">
                        <a:buNone/>
                      </a:pPr>
                      <a:r>
                        <a:rPr lang="en-US" sz="1350" b="0" i="0" u="none" strike="noStrike" noProof="0" dirty="0"/>
                        <a:t>Al-</a:t>
                      </a:r>
                      <a:r>
                        <a:rPr lang="en-US" sz="1350" b="0" i="0" u="none" strike="noStrike" noProof="0" err="1"/>
                        <a:t>Nafjan</a:t>
                      </a:r>
                      <a:r>
                        <a:rPr lang="en-US" sz="1350" b="0" i="0" u="none" strike="noStrike" noProof="0" dirty="0"/>
                        <a:t>, A., Alharthi, K., &amp; Kurdi, H.</a:t>
                      </a:r>
                      <a:endParaRPr lang="en-US" dirty="0"/>
                    </a:p>
                  </a:txBody>
                  <a:tcPr/>
                </a:tc>
                <a:tc>
                  <a:txBody>
                    <a:bodyPr/>
                    <a:lstStyle/>
                    <a:p>
                      <a:pPr lvl="0">
                        <a:buNone/>
                      </a:pPr>
                      <a:r>
                        <a:rPr lang="en-US" sz="1350" b="0" i="0" u="none" strike="noStrike" noProof="0" dirty="0">
                          <a:latin typeface="Calibri"/>
                        </a:rPr>
                        <a:t>2020</a:t>
                      </a:r>
                    </a:p>
                  </a:txBody>
                  <a:tcPr/>
                </a:tc>
                <a:tc>
                  <a:txBody>
                    <a:bodyPr/>
                    <a:lstStyle/>
                    <a:p>
                      <a:pPr lvl="0">
                        <a:buNone/>
                      </a:pPr>
                      <a:r>
                        <a:rPr lang="en-US" sz="1350" b="0" i="0" u="none" strike="noStrike" noProof="0" dirty="0"/>
                        <a:t>84.62% accuracy with 60 EEG samples</a:t>
                      </a:r>
                      <a:endParaRPr lang="en-US" dirty="0"/>
                    </a:p>
                  </a:txBody>
                  <a:tcPr/>
                </a:tc>
                <a:extLst>
                  <a:ext uri="{0D108BD9-81ED-4DB2-BD59-A6C34878D82A}">
                    <a16:rowId xmlns:a16="http://schemas.microsoft.com/office/drawing/2014/main" val="1023974806"/>
                  </a:ext>
                </a:extLst>
              </a:tr>
              <a:tr h="936128">
                <a:tc>
                  <a:txBody>
                    <a:bodyPr/>
                    <a:lstStyle/>
                    <a:p>
                      <a:r>
                        <a:rPr lang="en-US" dirty="0"/>
                        <a:t>2.</a:t>
                      </a:r>
                    </a:p>
                    <a:p>
                      <a:pPr lvl="0">
                        <a:buNone/>
                      </a:pPr>
                      <a:endParaRPr lang="en-US" dirty="0"/>
                    </a:p>
                  </a:txBody>
                  <a:tcPr/>
                </a:tc>
                <a:tc>
                  <a:txBody>
                    <a:bodyPr/>
                    <a:lstStyle/>
                    <a:p>
                      <a:pPr lvl="0">
                        <a:buNone/>
                      </a:pPr>
                      <a:r>
                        <a:rPr lang="en-US" sz="1350" b="0" i="0" u="none" strike="noStrike" noProof="0">
                          <a:latin typeface="Calibri"/>
                        </a:rPr>
                        <a:t>EEG-Based Emotion Recognition by Exploiting Fused Network Entropy Measures of Complex Networks across Subjects </a:t>
                      </a:r>
                      <a:endParaRPr lang="en-US"/>
                    </a:p>
                  </a:txBody>
                  <a:tcPr/>
                </a:tc>
                <a:tc>
                  <a:txBody>
                    <a:bodyPr/>
                    <a:lstStyle/>
                    <a:p>
                      <a:pPr lvl="0">
                        <a:buNone/>
                      </a:pPr>
                      <a:r>
                        <a:rPr lang="en-US" sz="1350" b="0" i="0" u="none" strike="noStrike" noProof="0" dirty="0">
                          <a:latin typeface="Calibri"/>
                        </a:rPr>
                        <a:t>Yao, L., Wang, M., Lu, Y., Li, H., &amp; Zhang, X.</a:t>
                      </a:r>
                    </a:p>
                    <a:p>
                      <a:pPr lvl="0">
                        <a:buNone/>
                      </a:pPr>
                      <a:r>
                        <a:rPr lang="en-US" sz="1350" b="0" i="0" u="none" strike="noStrike" noProof="0" dirty="0"/>
                        <a:t>Akter, S., </a:t>
                      </a:r>
                      <a:r>
                        <a:rPr lang="en-US" sz="1350" b="0" i="0" u="none" strike="noStrike" noProof="0" dirty="0" err="1"/>
                        <a:t>Prodhan</a:t>
                      </a:r>
                      <a:r>
                        <a:rPr lang="en-US" sz="1350" b="0" i="0" u="none" strike="noStrike" noProof="0" dirty="0"/>
                        <a:t>, R.</a:t>
                      </a:r>
                      <a:endParaRPr lang="en-US" dirty="0"/>
                    </a:p>
                  </a:txBody>
                  <a:tcPr/>
                </a:tc>
                <a:tc>
                  <a:txBody>
                    <a:bodyPr/>
                    <a:lstStyle/>
                    <a:p>
                      <a:r>
                        <a:rPr lang="en-US" dirty="0"/>
                        <a:t>2021</a:t>
                      </a:r>
                    </a:p>
                    <a:p>
                      <a:pPr lvl="0">
                        <a:buNone/>
                      </a:pPr>
                      <a:endParaRPr lang="en-US" dirty="0"/>
                    </a:p>
                  </a:txBody>
                  <a:tcPr/>
                </a:tc>
                <a:tc>
                  <a:txBody>
                    <a:bodyPr/>
                    <a:lstStyle/>
                    <a:p>
                      <a:pPr lvl="0">
                        <a:buNone/>
                      </a:pPr>
                      <a:r>
                        <a:rPr lang="en-US" sz="1350" b="0" i="0" u="none" strike="noStrike" noProof="0" dirty="0">
                          <a:latin typeface="Calibri"/>
                        </a:rPr>
                        <a:t>87.26% accuracy on SEED dataset</a:t>
                      </a:r>
                      <a:endParaRPr lang="en-US" dirty="0"/>
                    </a:p>
                  </a:txBody>
                  <a:tcPr/>
                </a:tc>
                <a:extLst>
                  <a:ext uri="{0D108BD9-81ED-4DB2-BD59-A6C34878D82A}">
                    <a16:rowId xmlns:a16="http://schemas.microsoft.com/office/drawing/2014/main" val="258844920"/>
                  </a:ext>
                </a:extLst>
              </a:tr>
              <a:tr h="936128">
                <a:tc>
                  <a:txBody>
                    <a:bodyPr/>
                    <a:lstStyle/>
                    <a:p>
                      <a:r>
                        <a:rPr lang="en-US" dirty="0"/>
                        <a:t>3.</a:t>
                      </a:r>
                    </a:p>
                    <a:p>
                      <a:pPr lvl="0">
                        <a:buNone/>
                      </a:pPr>
                      <a:endParaRPr lang="en-US" dirty="0"/>
                    </a:p>
                    <a:p>
                      <a:pPr lvl="0">
                        <a:buNone/>
                      </a:pPr>
                      <a:endParaRPr lang="en-US" dirty="0"/>
                    </a:p>
                    <a:p>
                      <a:pPr lvl="0">
                        <a:buNone/>
                      </a:pPr>
                      <a:endParaRPr lang="en-US" dirty="0"/>
                    </a:p>
                  </a:txBody>
                  <a:tcPr/>
                </a:tc>
                <a:tc>
                  <a:txBody>
                    <a:bodyPr/>
                    <a:lstStyle/>
                    <a:p>
                      <a:pPr lvl="0">
                        <a:buNone/>
                      </a:pPr>
                      <a:r>
                        <a:rPr lang="en-US" sz="1350" b="0" i="0" u="none" strike="noStrike" noProof="0">
                          <a:latin typeface="Calibri"/>
                        </a:rPr>
                        <a:t>M1M2: Deep-Learning-Based Real-Time Emotion Recognition from Neural Activity </a:t>
                      </a:r>
                      <a:endParaRPr lang="en-US"/>
                    </a:p>
                  </a:txBody>
                  <a:tcPr/>
                </a:tc>
                <a:tc>
                  <a:txBody>
                    <a:bodyPr/>
                    <a:lstStyle/>
                    <a:p>
                      <a:pPr lvl="0">
                        <a:buNone/>
                      </a:pPr>
                      <a:r>
                        <a:rPr lang="en-US" sz="1350" b="0" i="0" u="none" strike="noStrike" noProof="0" dirty="0">
                          <a:latin typeface="Calibri"/>
                        </a:rPr>
                        <a:t>A., Pias, T. S., Eisenberg, D., &amp; Fernandez, J. F.</a:t>
                      </a:r>
                      <a:endParaRPr lang="en-US" dirty="0"/>
                    </a:p>
                  </a:txBody>
                  <a:tcPr/>
                </a:tc>
                <a:tc>
                  <a:txBody>
                    <a:bodyPr/>
                    <a:lstStyle/>
                    <a:p>
                      <a:r>
                        <a:rPr lang="en-US" dirty="0"/>
                        <a:t>2022</a:t>
                      </a:r>
                    </a:p>
                  </a:txBody>
                  <a:tcPr/>
                </a:tc>
                <a:tc>
                  <a:txBody>
                    <a:bodyPr/>
                    <a:lstStyle/>
                    <a:p>
                      <a:pPr lvl="0">
                        <a:buNone/>
                      </a:pPr>
                      <a:r>
                        <a:rPr lang="en-US" sz="1350" b="0" i="0" u="none" strike="noStrike" noProof="0" dirty="0">
                          <a:latin typeface="Calibri"/>
                        </a:rPr>
                        <a:t>99.22% accuracy with 2s EEG data</a:t>
                      </a:r>
                      <a:endParaRPr lang="en-US" dirty="0"/>
                    </a:p>
                  </a:txBody>
                  <a:tcPr/>
                </a:tc>
                <a:extLst>
                  <a:ext uri="{0D108BD9-81ED-4DB2-BD59-A6C34878D82A}">
                    <a16:rowId xmlns:a16="http://schemas.microsoft.com/office/drawing/2014/main" val="2820553406"/>
                  </a:ext>
                </a:extLst>
              </a:tr>
              <a:tr h="740518">
                <a:tc>
                  <a:txBody>
                    <a:bodyPr/>
                    <a:lstStyle/>
                    <a:p>
                      <a:r>
                        <a:rPr lang="en-US" dirty="0"/>
                        <a:t>4.</a:t>
                      </a:r>
                    </a:p>
                  </a:txBody>
                  <a:tcPr/>
                </a:tc>
                <a:tc>
                  <a:txBody>
                    <a:bodyPr/>
                    <a:lstStyle/>
                    <a:p>
                      <a:pPr lvl="0">
                        <a:buNone/>
                      </a:pPr>
                      <a:r>
                        <a:rPr lang="en-US" sz="1350" b="0" i="0" u="none" strike="noStrike" noProof="0">
                          <a:latin typeface="Calibri"/>
                        </a:rPr>
                        <a:t>EEG Emotion Recognition Using Fusion Model of Graph Convolutional Neural Networks and LSTM </a:t>
                      </a:r>
                      <a:endParaRPr lang="en-US"/>
                    </a:p>
                  </a:txBody>
                  <a:tcPr/>
                </a:tc>
                <a:tc>
                  <a:txBody>
                    <a:bodyPr/>
                    <a:lstStyle/>
                    <a:p>
                      <a:pPr lvl="0">
                        <a:buNone/>
                      </a:pPr>
                      <a:r>
                        <a:rPr lang="en-US" sz="1350" b="0" i="0" u="none" strike="noStrike" noProof="0" dirty="0">
                          <a:latin typeface="Calibri"/>
                        </a:rPr>
                        <a:t>Yin, Y., Zheng, X., Hu, B., Zhang, Y., &amp; Cui, X.</a:t>
                      </a:r>
                      <a:endParaRPr lang="en-US" dirty="0"/>
                    </a:p>
                  </a:txBody>
                  <a:tcPr/>
                </a:tc>
                <a:tc>
                  <a:txBody>
                    <a:bodyPr/>
                    <a:lstStyle/>
                    <a:p>
                      <a:r>
                        <a:rPr lang="en-US" dirty="0"/>
                        <a:t>2021</a:t>
                      </a:r>
                    </a:p>
                  </a:txBody>
                  <a:tcPr/>
                </a:tc>
                <a:tc>
                  <a:txBody>
                    <a:bodyPr/>
                    <a:lstStyle/>
                    <a:p>
                      <a:pPr lvl="0">
                        <a:buNone/>
                      </a:pPr>
                      <a:r>
                        <a:rPr lang="en-US" sz="1350" b="0" i="0" u="none" strike="noStrike" noProof="0" dirty="0">
                          <a:latin typeface="Calibri"/>
                        </a:rPr>
                        <a:t>Enhanced spatial-temporal classification</a:t>
                      </a:r>
                      <a:endParaRPr lang="en-US" dirty="0"/>
                    </a:p>
                  </a:txBody>
                  <a:tcPr/>
                </a:tc>
                <a:extLst>
                  <a:ext uri="{0D108BD9-81ED-4DB2-BD59-A6C34878D82A}">
                    <a16:rowId xmlns:a16="http://schemas.microsoft.com/office/drawing/2014/main" val="1418494592"/>
                  </a:ext>
                </a:extLst>
              </a:tr>
              <a:tr h="1145709">
                <a:tc>
                  <a:txBody>
                    <a:bodyPr/>
                    <a:lstStyle/>
                    <a:p>
                      <a:r>
                        <a:rPr lang="en-US" dirty="0"/>
                        <a:t>5.</a:t>
                      </a:r>
                    </a:p>
                  </a:txBody>
                  <a:tcPr/>
                </a:tc>
                <a:tc>
                  <a:txBody>
                    <a:bodyPr/>
                    <a:lstStyle/>
                    <a:p>
                      <a:pPr lvl="0">
                        <a:buNone/>
                      </a:pPr>
                      <a:r>
                        <a:rPr lang="en-US" sz="1350" b="0" i="0" u="none" strike="noStrike" noProof="0" dirty="0">
                          <a:latin typeface="Calibri"/>
                        </a:rPr>
                        <a:t>Semi-Skipping Layered Gated Unit and Efficient Network: Hybrid Deep Feature Selection Method for Edge Computing in EEG-Based Emotion Classification</a:t>
                      </a:r>
                      <a:endParaRPr lang="en-US" dirty="0"/>
                    </a:p>
                  </a:txBody>
                  <a:tcPr/>
                </a:tc>
                <a:tc>
                  <a:txBody>
                    <a:bodyPr/>
                    <a:lstStyle/>
                    <a:p>
                      <a:pPr lvl="0">
                        <a:buNone/>
                      </a:pPr>
                      <a:r>
                        <a:rPr lang="en-US" sz="1350" b="0" i="0" u="none" strike="noStrike" noProof="0" dirty="0">
                          <a:latin typeface="Calibri"/>
                        </a:rPr>
                        <a:t>Asghar, M. A., Khan, M. J., Shahid, H., </a:t>
                      </a:r>
                      <a:r>
                        <a:rPr lang="en-US" sz="1350" b="0" i="0" u="none" strike="noStrike" noProof="0" err="1">
                          <a:latin typeface="Calibri"/>
                        </a:rPr>
                        <a:t>Shorfuzzaman</a:t>
                      </a:r>
                      <a:r>
                        <a:rPr lang="en-US" sz="1350" b="0" i="0" u="none" strike="noStrike" noProof="0" dirty="0">
                          <a:latin typeface="Calibri"/>
                        </a:rPr>
                        <a:t>, M., Xiong, N. N., &amp; Mehmood, R. M.</a:t>
                      </a:r>
                      <a:endParaRPr lang="en-US" dirty="0"/>
                    </a:p>
                  </a:txBody>
                  <a:tcPr/>
                </a:tc>
                <a:tc>
                  <a:txBody>
                    <a:bodyPr/>
                    <a:lstStyle/>
                    <a:p>
                      <a:r>
                        <a:rPr lang="en-US" dirty="0"/>
                        <a:t>2021</a:t>
                      </a:r>
                    </a:p>
                  </a:txBody>
                  <a:tcPr/>
                </a:tc>
                <a:tc>
                  <a:txBody>
                    <a:bodyPr/>
                    <a:lstStyle/>
                    <a:p>
                      <a:pPr lvl="0">
                        <a:buNone/>
                      </a:pPr>
                      <a:r>
                        <a:rPr lang="en-US" sz="1350" b="0" i="0" u="none" strike="noStrike" noProof="0" dirty="0">
                          <a:latin typeface="Calibri"/>
                        </a:rPr>
                        <a:t>Improved accuracy and efficiency</a:t>
                      </a:r>
                      <a:endParaRPr lang="en-US" dirty="0"/>
                    </a:p>
                  </a:txBody>
                  <a:tcPr/>
                </a:tc>
                <a:extLst>
                  <a:ext uri="{0D108BD9-81ED-4DB2-BD59-A6C34878D82A}">
                    <a16:rowId xmlns:a16="http://schemas.microsoft.com/office/drawing/2014/main" val="388733636"/>
                  </a:ext>
                </a:extLst>
              </a:tr>
            </a:tbl>
          </a:graphicData>
        </a:graphic>
      </p:graphicFrame>
    </p:spTree>
    <p:extLst>
      <p:ext uri="{BB962C8B-B14F-4D97-AF65-F5344CB8AC3E}">
        <p14:creationId xmlns:p14="http://schemas.microsoft.com/office/powerpoint/2010/main" val="37361902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8894528F-310D-6CD0-30BE-D42D717A5C5D}"/>
              </a:ext>
            </a:extLst>
          </p:cNvPr>
          <p:cNvSpPr txBox="1">
            <a:spLocks noChangeArrowheads="1"/>
          </p:cNvSpPr>
          <p:nvPr/>
        </p:nvSpPr>
        <p:spPr>
          <a:xfrm>
            <a:off x="222250" y="222250"/>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   REFERENCES</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25603" name="Content Placeholder 2">
            <a:extLst>
              <a:ext uri="{FF2B5EF4-FFF2-40B4-BE49-F238E27FC236}">
                <a16:creationId xmlns:a16="http://schemas.microsoft.com/office/drawing/2014/main" id="{C7552F21-9824-89AF-CD4A-C3E84B891567}"/>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5604" name="Text Box 2">
            <a:extLst>
              <a:ext uri="{FF2B5EF4-FFF2-40B4-BE49-F238E27FC236}">
                <a16:creationId xmlns:a16="http://schemas.microsoft.com/office/drawing/2014/main" id="{A0CCC9BA-C41E-4D5E-D598-7EEE48C7326F}"/>
              </a:ext>
            </a:extLst>
          </p:cNvPr>
          <p:cNvSpPr txBox="1">
            <a:spLocks noChangeArrowheads="1"/>
          </p:cNvSpPr>
          <p:nvPr/>
        </p:nvSpPr>
        <p:spPr bwMode="auto">
          <a:xfrm>
            <a:off x="457200" y="738188"/>
            <a:ext cx="7980363"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285750" lvl="0" indent="-285750" algn="just">
              <a:buFont typeface="Arial" panose="020B0604020202020204" pitchFamily="34" charset="0"/>
              <a:buChar char="•"/>
            </a:pPr>
            <a:r>
              <a:rPr lang="en-IN" sz="1600" dirty="0"/>
              <a:t>Al-</a:t>
            </a:r>
            <a:r>
              <a:rPr lang="en-IN" sz="1600" dirty="0" err="1"/>
              <a:t>Nafjan</a:t>
            </a:r>
            <a:r>
              <a:rPr lang="en-IN" sz="1600" dirty="0"/>
              <a:t>, A., </a:t>
            </a:r>
            <a:r>
              <a:rPr lang="en-IN" sz="1600" dirty="0" err="1"/>
              <a:t>Alharthi</a:t>
            </a:r>
            <a:r>
              <a:rPr lang="en-IN" sz="1600" dirty="0"/>
              <a:t>, K., &amp; </a:t>
            </a:r>
            <a:r>
              <a:rPr lang="en-IN" sz="1600" dirty="0" err="1"/>
              <a:t>Kurdi</a:t>
            </a:r>
            <a:r>
              <a:rPr lang="en-IN" sz="1600" dirty="0"/>
              <a:t>, H. (2020). Lightweight Building of an Electroencephalogram-Based Emotion Detection System. </a:t>
            </a:r>
            <a:r>
              <a:rPr lang="en-IN" sz="1600" i="1" dirty="0"/>
              <a:t>Brain Sciences</a:t>
            </a:r>
            <a:r>
              <a:rPr lang="en-IN" sz="1600" dirty="0"/>
              <a:t>, 10(11), 781. MDPI. </a:t>
            </a:r>
          </a:p>
          <a:p>
            <a:pPr marL="285750" lvl="0" indent="-285750" algn="just">
              <a:buFont typeface="Arial" panose="020B0604020202020204" pitchFamily="34" charset="0"/>
              <a:buChar char="•"/>
            </a:pPr>
            <a:r>
              <a:rPr lang="en-IN" sz="1600" dirty="0"/>
              <a:t>Yao, L., Wang, M., Lu, Y., Li, H., &amp; Zhang, X. (2021). EEG-Based Emotion Recognition by Exploiting Fused Network Entropy Measures of Complex Networks across Subjects. </a:t>
            </a:r>
            <a:r>
              <a:rPr lang="en-IN" sz="1600" i="1" dirty="0"/>
              <a:t>Entropy</a:t>
            </a:r>
            <a:r>
              <a:rPr lang="en-IN" sz="1600" dirty="0"/>
              <a:t>, 23(8), 984. MDPI+1. </a:t>
            </a:r>
          </a:p>
          <a:p>
            <a:pPr marL="285750" lvl="0" indent="-285750" algn="just">
              <a:buFont typeface="Arial" panose="020B0604020202020204" pitchFamily="34" charset="0"/>
              <a:buChar char="•"/>
            </a:pPr>
            <a:r>
              <a:rPr lang="en-IN" sz="1600" dirty="0" err="1"/>
              <a:t>Akter</a:t>
            </a:r>
            <a:r>
              <a:rPr lang="en-IN" sz="1600" dirty="0"/>
              <a:t>, S., </a:t>
            </a:r>
            <a:r>
              <a:rPr lang="en-IN" sz="1600" dirty="0" err="1"/>
              <a:t>Prodhan</a:t>
            </a:r>
            <a:r>
              <a:rPr lang="en-IN" sz="1600" dirty="0"/>
              <a:t>, R. A., </a:t>
            </a:r>
            <a:r>
              <a:rPr lang="en-IN" sz="1600" dirty="0" err="1"/>
              <a:t>Pias</a:t>
            </a:r>
            <a:r>
              <a:rPr lang="en-IN" sz="1600" dirty="0"/>
              <a:t>, T. S., Eisenberg, D., &amp; Fernandez, J. F. (2022). M1M2: Deep-Learning-Based Real-Time Emotion Recognition from Neural Activity. </a:t>
            </a:r>
            <a:r>
              <a:rPr lang="en-IN" sz="1600" i="1" dirty="0"/>
              <a:t>Sensors</a:t>
            </a:r>
            <a:r>
              <a:rPr lang="en-IN" sz="1600" dirty="0"/>
              <a:t>, 22(21), 8467. MDPI. </a:t>
            </a:r>
          </a:p>
          <a:p>
            <a:pPr marL="285750" lvl="0" indent="-285750" algn="just">
              <a:buFont typeface="Arial" panose="020B0604020202020204" pitchFamily="34" charset="0"/>
              <a:buChar char="•"/>
            </a:pPr>
            <a:r>
              <a:rPr lang="en-IN" sz="1600" dirty="0"/>
              <a:t>Yin, Y., </a:t>
            </a:r>
            <a:r>
              <a:rPr lang="en-IN" sz="1600" dirty="0" err="1"/>
              <a:t>Zheng</a:t>
            </a:r>
            <a:r>
              <a:rPr lang="en-IN" sz="1600" dirty="0"/>
              <a:t>, X., Hu, B., Zhang, Y., &amp; Cui, X. (2021). EEG Emotion Recognition Using Fusion Model of Graph Convolutional Neural Networks and LSTM. </a:t>
            </a:r>
            <a:r>
              <a:rPr lang="en-IN" sz="1600" i="1" dirty="0"/>
              <a:t>Applied Soft Computing</a:t>
            </a:r>
            <a:r>
              <a:rPr lang="en-IN" sz="1600" dirty="0"/>
              <a:t>, 100, 106954. MDPI. </a:t>
            </a:r>
          </a:p>
          <a:p>
            <a:pPr marL="285750" lvl="0" indent="-285750" algn="just">
              <a:buFont typeface="Arial" panose="020B0604020202020204" pitchFamily="34" charset="0"/>
              <a:buChar char="•"/>
            </a:pPr>
            <a:r>
              <a:rPr lang="en-IN" sz="1600" dirty="0" err="1"/>
              <a:t>Asghar</a:t>
            </a:r>
            <a:r>
              <a:rPr lang="en-IN" sz="1600" dirty="0"/>
              <a:t>, M. A., Khan, M. J., </a:t>
            </a:r>
            <a:r>
              <a:rPr lang="en-IN" sz="1600" dirty="0" err="1"/>
              <a:t>Shahid</a:t>
            </a:r>
            <a:r>
              <a:rPr lang="en-IN" sz="1600" dirty="0"/>
              <a:t>, H., </a:t>
            </a:r>
            <a:r>
              <a:rPr lang="en-IN" sz="1600" dirty="0" err="1"/>
              <a:t>Shorfuzzaman</a:t>
            </a:r>
            <a:r>
              <a:rPr lang="en-IN" sz="1600" dirty="0"/>
              <a:t>, M., </a:t>
            </a:r>
            <a:r>
              <a:rPr lang="en-IN" sz="1600" dirty="0" err="1"/>
              <a:t>Xiong</a:t>
            </a:r>
            <a:r>
              <a:rPr lang="en-IN" sz="1600" dirty="0"/>
              <a:t>, N. N., &amp; </a:t>
            </a:r>
            <a:r>
              <a:rPr lang="en-IN" sz="1600" dirty="0" err="1"/>
              <a:t>Mehmood</a:t>
            </a:r>
            <a:r>
              <a:rPr lang="en-IN" sz="1600" dirty="0"/>
              <a:t>, R. M. (2021). Semi-Skipping Layered Gated Unit and Efficient Network: Hybrid Deep Feature Selection Method for Edge Computing in EEG-Based Emotion Classification. </a:t>
            </a:r>
            <a:r>
              <a:rPr lang="en-IN" sz="1600" i="1" dirty="0"/>
              <a:t>IEEE Access</a:t>
            </a:r>
            <a:r>
              <a:rPr lang="en-IN" sz="1600" dirty="0"/>
              <a:t>, 9, 13378–13389. </a:t>
            </a:r>
          </a:p>
          <a:p>
            <a:pPr marL="285750" lvl="0" indent="-285750" algn="just">
              <a:buFont typeface="Arial" panose="020B0604020202020204" pitchFamily="34" charset="0"/>
              <a:buChar char="•"/>
            </a:pPr>
            <a:r>
              <a:rPr lang="en-IN" sz="1600" dirty="0"/>
              <a:t>Cheng, J., Chen, M., Li, C., Liu, Y., Song, R., Liu, A., &amp; Chen, X. (2021). Emotion Recognition from Multi-Channel EEG via Deep Forest. </a:t>
            </a:r>
            <a:r>
              <a:rPr lang="en-IN" sz="1600" i="1" dirty="0"/>
              <a:t>IEEE Journal of Biomedical and Health Informatics</a:t>
            </a:r>
            <a:r>
              <a:rPr lang="en-IN" sz="1600" dirty="0"/>
              <a:t>, 25, 453–464. </a:t>
            </a:r>
          </a:p>
          <a:p>
            <a:pPr marL="285750" lvl="0" indent="-285750" algn="just">
              <a:buFont typeface="Arial" panose="020B0604020202020204" pitchFamily="34" charset="0"/>
              <a:buChar char="•"/>
            </a:pPr>
            <a:r>
              <a:rPr lang="en-IN" sz="1600" dirty="0"/>
              <a:t>Zhang, X., Du, T., &amp; Zhang, Z. (2021). EEG Emotion Recognition Based on Channel Attention for E-Healthcare Applications. In </a:t>
            </a:r>
            <a:r>
              <a:rPr lang="en-IN" sz="1600" i="1" dirty="0"/>
              <a:t>Transactions on Petri Nets and Other Models of Concurrency X</a:t>
            </a:r>
            <a:r>
              <a:rPr lang="en-IN" sz="1600" dirty="0"/>
              <a:t> (pp. 159–169). Springer. </a:t>
            </a:r>
          </a:p>
          <a:p>
            <a:pPr marL="285750" lvl="0" indent="-285750" algn="just">
              <a:buFont typeface="Arial" panose="020B0604020202020204" pitchFamily="34" charset="0"/>
              <a:buChar char="•"/>
            </a:pPr>
            <a:r>
              <a:rPr lang="en-IN" sz="1600" dirty="0"/>
              <a:t>Liu, Y., &amp; Fu, Y. (2021). Emotion Recognition by Deeply Learned Multi-Channel Textual and EEG Features. </a:t>
            </a:r>
            <a:r>
              <a:rPr lang="en-IN" sz="1600" i="1" dirty="0"/>
              <a:t>Future Generation Computer Systems</a:t>
            </a:r>
            <a:r>
              <a:rPr lang="en-IN" sz="1600" dirty="0"/>
              <a:t>, 119, 1–6. MDPI.</a:t>
            </a:r>
          </a:p>
          <a:p>
            <a:endParaRPr lang="en-US" altLang="en-US" dirty="0"/>
          </a:p>
          <a:p>
            <a:pPr>
              <a:buFont typeface="Arial" panose="020B0604020202020204" pitchFamily="34" charset="0"/>
              <a:buChar char="•"/>
            </a:pPr>
            <a:endParaRPr lang="en-US" altLang="en-US" dirty="0"/>
          </a:p>
          <a:p>
            <a:pPr>
              <a:buFont typeface="Arial" panose="020B0604020202020204" pitchFamily="34" charset="0"/>
              <a:buChar char="•"/>
            </a:pPr>
            <a:endParaRPr lang="en-US" altLang="en-US" dirty="0"/>
          </a:p>
          <a:p>
            <a:pPr>
              <a:buFont typeface="Arial" panose="020B0604020202020204" pitchFamily="34" charset="0"/>
              <a:buChar char="•"/>
            </a:pPr>
            <a:endParaRPr lang="en-US" altLang="en-US" dirty="0"/>
          </a:p>
          <a:p>
            <a:pPr>
              <a:buFont typeface="Arial" panose="020B0604020202020204" pitchFamily="34" charset="0"/>
              <a:buChar char="•"/>
            </a:pPr>
            <a:endParaRPr lang="en-US" altLang="en-US" dirty="0"/>
          </a:p>
          <a:p>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
            <a:extLst>
              <a:ext uri="{FF2B5EF4-FFF2-40B4-BE49-F238E27FC236}">
                <a16:creationId xmlns:a16="http://schemas.microsoft.com/office/drawing/2014/main" id="{B5C7D1D4-E789-A84E-495B-A91781164F96}"/>
              </a:ext>
            </a:extLst>
          </p:cNvPr>
          <p:cNvSpPr txBox="1">
            <a:spLocks noChangeArrowheads="1"/>
          </p:cNvSpPr>
          <p:nvPr/>
        </p:nvSpPr>
        <p:spPr bwMode="auto">
          <a:xfrm>
            <a:off x="2330450" y="3429000"/>
            <a:ext cx="53689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ts val="1800"/>
              </a:lnSpc>
              <a:spcAft>
                <a:spcPts val="600"/>
              </a:spcAft>
            </a:pPr>
            <a:r>
              <a:rPr lang="en-US" altLang="en-US" sz="6600">
                <a:solidFill>
                  <a:srgbClr val="40404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{0C51EE48-20D2-439F-8E19-9D316DCB9B08}tf16411177</Template>
  <TotalTime>2751</TotalTime>
  <Words>2593</Words>
  <Application>Microsoft Office PowerPoint</Application>
  <PresentationFormat>On-screen Show (4:3)</PresentationFormat>
  <Paragraphs>320</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Century Gothic</vt:lpstr>
      <vt:lpstr>Segoe UI</vt:lpstr>
      <vt:lpstr>Times New Roman</vt:lpstr>
      <vt:lpstr>Wingdings</vt:lpstr>
      <vt:lpstr>Get Started with 3D</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vt:lpstr>
      <vt:lpstr>PowerPoint Presentation</vt:lpstr>
      <vt:lpstr>MODULES </vt:lpstr>
      <vt:lpstr>MODULES </vt:lpstr>
      <vt:lpstr> MODULES </vt:lpstr>
      <vt:lpstr> MODULES </vt:lpstr>
      <vt:lpstr>UML DIAGRAMS</vt:lpstr>
      <vt:lpstr>UML DIAGRAMS</vt:lpstr>
      <vt:lpstr>UML DIAGRAMS</vt:lpstr>
      <vt:lpstr>UML DIAGRAMS</vt:lpstr>
      <vt:lpstr>UML DIAGRAMS</vt:lpstr>
      <vt:lpstr>UML DIAGRAMS</vt:lpstr>
      <vt:lpstr>PowerPoint Presentation</vt:lpstr>
      <vt:lpstr>PROJECT IMPLEMENTATION</vt:lpstr>
      <vt:lpstr>PROJECT IMPLEMENTATION</vt:lpstr>
      <vt:lpstr>PROJECT IMPLEMENTATION</vt:lpstr>
      <vt:lpstr>OUTPUT SCREENS</vt:lpstr>
      <vt:lpstr>OUTPUT SCREENS</vt:lpstr>
      <vt:lpstr>OUTPUT SCREENS</vt:lpstr>
      <vt:lpstr>OUTPUT SCREENS</vt:lpstr>
      <vt:lpstr>OUTPUT SCREENS</vt:lpstr>
      <vt:lpstr>OUTPUT SCREENS</vt:lpstr>
      <vt:lpstr>OUTPUT SCREENS</vt:lpstr>
      <vt:lpstr>OUTPUT SCREENS</vt:lpstr>
      <vt:lpstr>LITERATURE SURVEY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SVCE</dc:creator>
  <cp:lastModifiedBy>deepthi reddy</cp:lastModifiedBy>
  <cp:revision>1013</cp:revision>
  <cp:lastPrinted>2020-07-22T06:23:00Z</cp:lastPrinted>
  <dcterms:created xsi:type="dcterms:W3CDTF">2020-07-20T09:57:00Z</dcterms:created>
  <dcterms:modified xsi:type="dcterms:W3CDTF">2026-03-31T03:47:52Z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1033-11.2.0.10132</vt:lpwstr>
  </property>
</Properties>
</file>